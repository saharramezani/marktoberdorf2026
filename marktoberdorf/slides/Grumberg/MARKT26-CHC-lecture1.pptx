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8" r:id="rId1"/>
    <p:sldMasterId id="2147483690" r:id="rId2"/>
  </p:sldMasterIdLst>
  <p:notesMasterIdLst>
    <p:notesMasterId r:id="rId30"/>
  </p:notesMasterIdLst>
  <p:sldIdLst>
    <p:sldId id="343" r:id="rId3"/>
    <p:sldId id="973" r:id="rId4"/>
    <p:sldId id="982" r:id="rId5"/>
    <p:sldId id="314" r:id="rId6"/>
    <p:sldId id="283" r:id="rId7"/>
    <p:sldId id="284" r:id="rId8"/>
    <p:sldId id="285" r:id="rId9"/>
    <p:sldId id="974" r:id="rId10"/>
    <p:sldId id="311" r:id="rId11"/>
    <p:sldId id="312" r:id="rId12"/>
    <p:sldId id="889" r:id="rId13"/>
    <p:sldId id="294" r:id="rId14"/>
    <p:sldId id="313" r:id="rId15"/>
    <p:sldId id="975" r:id="rId16"/>
    <p:sldId id="976" r:id="rId17"/>
    <p:sldId id="302" r:id="rId18"/>
    <p:sldId id="303" r:id="rId19"/>
    <p:sldId id="304" r:id="rId20"/>
    <p:sldId id="306" r:id="rId21"/>
    <p:sldId id="272" r:id="rId22"/>
    <p:sldId id="985" r:id="rId23"/>
    <p:sldId id="986" r:id="rId24"/>
    <p:sldId id="987" r:id="rId25"/>
    <p:sldId id="977" r:id="rId26"/>
    <p:sldId id="978" r:id="rId27"/>
    <p:sldId id="979" r:id="rId28"/>
    <p:sldId id="9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886573-EFDC-481F-B176-F478E7A76EFD}">
          <p14:sldIdLst>
            <p14:sldId id="343"/>
            <p14:sldId id="973"/>
            <p14:sldId id="982"/>
            <p14:sldId id="314"/>
            <p14:sldId id="283"/>
            <p14:sldId id="284"/>
            <p14:sldId id="285"/>
            <p14:sldId id="974"/>
            <p14:sldId id="311"/>
            <p14:sldId id="312"/>
            <p14:sldId id="889"/>
            <p14:sldId id="294"/>
            <p14:sldId id="313"/>
            <p14:sldId id="975"/>
            <p14:sldId id="976"/>
            <p14:sldId id="302"/>
            <p14:sldId id="303"/>
            <p14:sldId id="304"/>
            <p14:sldId id="306"/>
            <p14:sldId id="272"/>
            <p14:sldId id="985"/>
            <p14:sldId id="986"/>
            <p14:sldId id="987"/>
            <p14:sldId id="977"/>
            <p14:sldId id="978"/>
            <p14:sldId id="979"/>
            <p14:sldId id="9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B307A7"/>
    <a:srgbClr val="EAB200"/>
    <a:srgbClr val="D3501B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010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393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625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914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22BF3-8149-44B9-9744-C614AF96F9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672A8-944D-454C-B36A-F4D10AF28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77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89C7-73A0-893F-32C7-867D8D6B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3333A-9E97-AFE3-0D35-6DC2A4098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5441E-9ECA-C0EC-E7E6-406D6F948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minutes. The whole talk is about one object: the invariant. Three eras, three answers to who supplies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794C3-BE9B-A642-8962-291580D3E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656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linger. The point is only: one road restricts the problem, the other keeps it and buys a better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Another example: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.   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"The predicate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,…,</m:t>
                    </m:r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are uninterpreted, but the constraint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𝜑</m:t>
                    </m:r>
                  </m:oMath>
                </a14:m>
                <a:r>
                  <a:rPr lang="en-US" dirty="0"/>
                  <a:t> already has a meaning. That meaning is provided by a background theory."</a:t>
                </a:r>
                <a:endParaRPr lang="en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Another example: </a:t>
                </a:r>
                <a:r>
                  <a:rPr lang="en-US" sz="1200" b="0" i="0">
                    <a:latin typeface="Cambria Math" panose="02040503050406030204" pitchFamily="18" charset="0"/>
                  </a:rPr>
                  <a:t>∀𝑥,𝑦,𝑧.   𝑝_3 </a:t>
                </a:r>
                <a:r>
                  <a:rPr lang="en-US" sz="1200" i="0">
                    <a:latin typeface="Cambria Math" panose="02040503050406030204" pitchFamily="18" charset="0"/>
                  </a:rPr>
                  <a:t>(𝑥,𝑧)→𝑥≤𝑧</a:t>
                </a:r>
                <a:endParaRPr lang="en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1996EB-4D3B-4D61-B2C3-26962135A0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462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derivation corresponds to an execution of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1996EB-4D3B-4D61-B2C3-26962135A0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123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75DB-018D-EA5D-BBC6-F649F6BD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3E3A8-72B1-EC9C-BA5D-4CF6D1373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D2C43-F4E1-72F5-69C4-6BA63717B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F1178-46A3-FFAE-5FB5-AD7C1FD97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1996EB-4D3B-4D61-B2C3-26962135A0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543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At any given time, the algorithm </a:t>
                </a:r>
                <a:r>
                  <a:rPr lang="en-US" b="0" i="0">
                    <a:latin typeface="Cambria Math" panose="02040503050406030204" pitchFamily="18" charset="0"/>
                  </a:rPr>
                  <a:t>𝐿^∗</a:t>
                </a:r>
                <a:r>
                  <a:rPr lang="en-US" dirty="0"/>
                  <a:t> has information about a finite collection of words of </a:t>
                </a:r>
                <a:r>
                  <a:rPr lang="en-US" b="0" i="0">
                    <a:latin typeface="Cambria Math" panose="02040503050406030204" pitchFamily="18" charset="0"/>
                  </a:rPr>
                  <a:t>Σ</a:t>
                </a:r>
                <a:r>
                  <a:rPr lang="en-US" dirty="0"/>
                  <a:t>, classifying</a:t>
                </a:r>
                <a:r>
                  <a:rPr lang="en-US" baseline="0" dirty="0"/>
                  <a:t> them as members or nonmembers of the unknown regular set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𝑈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This information is organized into an </a:t>
                </a:r>
                <a:r>
                  <a:rPr lang="en-US" i="1" dirty="0"/>
                  <a:t>observation table</a:t>
                </a:r>
                <a:r>
                  <a:rPr lang="en-US" i="0" dirty="0"/>
                  <a:t>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C4281-C310-453B-8AEC-2AB1771BB4A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16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wrong spec makes 'verified' meaningless. Say this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proper has ended. This is an appendix — drop it entirely if you are short of time. Nothing earlier depends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65DD-5CDB-A14C-B891-FE82D8E43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C0BE-9C70-AB41-A52B-E6776717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6A16-3576-1343-A38E-A78D03BE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4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65DD-5CDB-A14C-B891-FE82D8E437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GB" dirty="0"/>
              <a:t>Click to edit Subsection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C0BE-9C70-AB41-A52B-E6776717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5EE5C-2C7B-C443-918D-BD4E0D70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/>
              <a:t>Chapter 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6A16-3576-1343-A38E-A78D03BE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5136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3879-14EB-974D-89E7-40CAD847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8CDA-532D-0B43-8C9E-8EEF920A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46E4-8C49-324E-8448-B31C52B0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4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2AD8-B8CA-9649-8CF1-1B184F5F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8C325-CE1F-0948-BD6F-C86336678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8F37F-6DDF-7347-BFE7-8C96CBAB5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1F288-355C-124B-9A9D-731CB853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0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A1E6-003D-F042-9995-612D70A1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34635-6191-634F-BC79-803827D18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4B411-B241-8B4D-8296-9EABF10D2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90EC6-F0D6-C149-B2E9-4D4092FA2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31D69-486C-B94B-9E64-773D9A1EB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B8901-F3BC-D443-90F9-213AA1E1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9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A247-9709-9449-899C-52091553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B38A8-2811-7D4A-9C67-C5063C13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8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96654-735D-E340-A169-6C2C723A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5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2576-0DAE-AD46-85F1-FCF8D73E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32E9D-848A-004B-8B9C-460388BB1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29AF2-1356-B848-A4A2-FD955B20A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8058F-FF27-0147-AADD-0CC162E3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2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FC22-EBEF-4040-BAE8-F896AC29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8CAF8-5D2E-7845-83F6-BCF242744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F1D4A-0A2F-B849-8921-07BD41191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B3800-E015-2640-AF3D-93D08D0D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94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te for the Lecturer">
    <p:bg>
      <p:bgPr>
        <a:solidFill>
          <a:srgbClr val="FFFF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3879-14EB-974D-89E7-40CAD847A2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Note for the Lecturer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8CDA-532D-0B43-8C9E-8EEF920A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46E4-8C49-324E-8448-B31C52B0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4186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885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90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95F8C-516E-D84E-9AA4-655AE85D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7DA8A-7C69-7346-A2C6-C58069E40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0D813-4D44-1C4A-AE6A-0D2173F5F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6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6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99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7" Type="http://schemas.openxmlformats.org/officeDocument/2006/relationships/image" Target="NULL"/><Relationship Id="rId12" Type="http://schemas.openxmlformats.org/officeDocument/2006/relationships/image" Target="NUL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NULL"/><Relationship Id="rId12" Type="http://schemas.openxmlformats.org/officeDocument/2006/relationships/image" Target="NUL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NULL"/><Relationship Id="rId12" Type="http://schemas.openxmlformats.org/officeDocument/2006/relationships/image" Target="NUL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5" Type="http://schemas.openxmlformats.org/officeDocument/2006/relationships/image" Target="../media/image6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579B-689D-531B-23A2-8ADEBA05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858;p16">
            <a:extLst>
              <a:ext uri="{FF2B5EF4-FFF2-40B4-BE49-F238E27FC236}">
                <a16:creationId xmlns:a16="http://schemas.microsoft.com/office/drawing/2014/main" id="{8F74E3E5-7B9E-731C-915C-0BF37C1EEBCE}"/>
              </a:ext>
            </a:extLst>
          </p:cNvPr>
          <p:cNvSpPr txBox="1">
            <a:spLocks/>
          </p:cNvSpPr>
          <p:nvPr/>
        </p:nvSpPr>
        <p:spPr>
          <a:xfrm>
            <a:off x="914399" y="1518407"/>
            <a:ext cx="7970293" cy="240244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1" i="0" u="none" strike="noStrike" kern="1200" cap="none" spc="0" normalizeH="0" baseline="0" noProof="0" dirty="0">
                <a:solidFill>
                  <a:srgbClr val="156082"/>
                </a:solidFill>
                <a:effectLst/>
                <a:uLnTx/>
                <a:uFillTx/>
                <a:latin typeface="Dosis" pitchFamily="2" charset="0"/>
                <a:ea typeface="+mj-ea"/>
                <a:cs typeface="+mj-cs"/>
              </a:rPr>
              <a:t>Constrained Horn Clauses and their Applications</a:t>
            </a:r>
            <a:endParaRPr kumimoji="0" lang="en-GB" sz="4400" b="0" i="0" u="none" strike="noStrike" kern="1200" cap="none" spc="0" normalizeH="0" baseline="0" noProof="0" dirty="0">
              <a:solidFill>
                <a:srgbClr val="AA8F6A"/>
              </a:solidFill>
              <a:effectLst/>
              <a:uLnTx/>
              <a:uFillTx/>
              <a:latin typeface="Dosis" pitchFamily="2" charset="0"/>
              <a:ea typeface="+mj-ea"/>
              <a:cs typeface="+mj-cs"/>
            </a:endParaRPr>
          </a:p>
        </p:txBody>
      </p:sp>
      <p:sp>
        <p:nvSpPr>
          <p:cNvPr id="5" name="Google Shape;3859;p16">
            <a:extLst>
              <a:ext uri="{FF2B5EF4-FFF2-40B4-BE49-F238E27FC236}">
                <a16:creationId xmlns:a16="http://schemas.microsoft.com/office/drawing/2014/main" id="{F4D872B1-E14F-7B92-AF36-0C2330A4351F}"/>
              </a:ext>
            </a:extLst>
          </p:cNvPr>
          <p:cNvSpPr txBox="1">
            <a:spLocks/>
          </p:cNvSpPr>
          <p:nvPr/>
        </p:nvSpPr>
        <p:spPr>
          <a:xfrm>
            <a:off x="914400" y="4228559"/>
            <a:ext cx="7218727" cy="104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972A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Orna Grumberg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dirty="0">
                <a:solidFill>
                  <a:srgbClr val="0972A0"/>
                </a:solidFill>
                <a:latin typeface="Dosis" pitchFamily="2" charset="0"/>
              </a:rPr>
              <a:t>Technion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972A0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30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48F6-F32D-CD7F-4858-CB5B4B50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A98D-4077-8711-7423-D5630CFFB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GB" dirty="0"/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rom Program Verification to Constrained Horn Clauses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24D21-DA05-97A1-674D-0995A37CE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498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2A7D6-9972-77CF-BA03-1BB8D206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D1A8A5-A36B-EBFB-A2F8-BABCA4D8841A}"/>
              </a:ext>
            </a:extLst>
          </p:cNvPr>
          <p:cNvSpPr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Who Finds the Invariant?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926448-CCFF-EB52-4098-ED5E3D600B20}"/>
              </a:ext>
            </a:extLst>
          </p:cNvPr>
          <p:cNvSpPr/>
          <p:nvPr/>
        </p:nvSpPr>
        <p:spPr>
          <a:xfrm>
            <a:off x="841248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0A5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Floyd (1967)  →  Constrained Horn Clauses  →  LLMs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460AB6-8291-6ED9-EEDA-0A3EC340C5F8}"/>
              </a:ext>
            </a:extLst>
          </p:cNvPr>
          <p:cNvSpPr/>
          <p:nvPr/>
        </p:nvSpPr>
        <p:spPr>
          <a:xfrm>
            <a:off x="987552" y="3977640"/>
            <a:ext cx="8046720" cy="0"/>
          </a:xfrm>
          <a:prstGeom prst="line">
            <a:avLst/>
          </a:prstGeom>
          <a:noFill/>
          <a:ln w="25400">
            <a:solidFill>
              <a:srgbClr val="3A40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E2A6E98-BFEB-CF58-42E8-10ECC395A107}"/>
              </a:ext>
            </a:extLst>
          </p:cNvPr>
          <p:cNvSpPr/>
          <p:nvPr/>
        </p:nvSpPr>
        <p:spPr>
          <a:xfrm>
            <a:off x="914400" y="3904488"/>
            <a:ext cx="155448" cy="155448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949FDA-521B-CB69-DEF6-2392CD4E0EFF}"/>
              </a:ext>
            </a:extLst>
          </p:cNvPr>
          <p:cNvSpPr/>
          <p:nvPr/>
        </p:nvSpPr>
        <p:spPr>
          <a:xfrm>
            <a:off x="822960" y="4114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1967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6FC17C-86A5-E957-1E9E-924E773DA1B7}"/>
              </a:ext>
            </a:extLst>
          </p:cNvPr>
          <p:cNvSpPr/>
          <p:nvPr/>
        </p:nvSpPr>
        <p:spPr>
          <a:xfrm>
            <a:off x="822960" y="4434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8AE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human writes it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86D737C-6854-5647-F640-77FD747DF029}"/>
              </a:ext>
            </a:extLst>
          </p:cNvPr>
          <p:cNvSpPr/>
          <p:nvPr/>
        </p:nvSpPr>
        <p:spPr>
          <a:xfrm>
            <a:off x="4937760" y="3904488"/>
            <a:ext cx="155448" cy="155448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15F055A-67E8-EC9A-9979-B10D41B73F55}"/>
              </a:ext>
            </a:extLst>
          </p:cNvPr>
          <p:cNvSpPr/>
          <p:nvPr/>
        </p:nvSpPr>
        <p:spPr>
          <a:xfrm>
            <a:off x="4846320" y="4114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76D3D6-402C-8C19-3300-0E3412B87CFF}"/>
              </a:ext>
            </a:extLst>
          </p:cNvPr>
          <p:cNvSpPr/>
          <p:nvPr/>
        </p:nvSpPr>
        <p:spPr>
          <a:xfrm>
            <a:off x="4846320" y="4434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8AE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solver finds it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77CA5FF-A1B9-E87B-C174-694AD036AD63}"/>
              </a:ext>
            </a:extLst>
          </p:cNvPr>
          <p:cNvSpPr/>
          <p:nvPr/>
        </p:nvSpPr>
        <p:spPr>
          <a:xfrm>
            <a:off x="8961120" y="3904488"/>
            <a:ext cx="155448" cy="155448"/>
          </a:xfrm>
          <a:prstGeom prst="ellipse">
            <a:avLst/>
          </a:prstGeom>
          <a:solidFill>
            <a:srgbClr val="5F648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7EE51BF-C302-944D-DBBC-DB39F3B39B7F}"/>
              </a:ext>
            </a:extLst>
          </p:cNvPr>
          <p:cNvSpPr/>
          <p:nvPr/>
        </p:nvSpPr>
        <p:spPr>
          <a:xfrm>
            <a:off x="8869680" y="4114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6CE41D7-AF29-FC4A-5D40-66EE6BA4A6EC}"/>
              </a:ext>
            </a:extLst>
          </p:cNvPr>
          <p:cNvSpPr/>
          <p:nvPr/>
        </p:nvSpPr>
        <p:spPr>
          <a:xfrm>
            <a:off x="8869680" y="4434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8AE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more guesser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4D02833-F14D-3356-F52A-886E86FB4CAB}"/>
              </a:ext>
            </a:extLst>
          </p:cNvPr>
          <p:cNvSpPr/>
          <p:nvPr/>
        </p:nvSpPr>
        <p:spPr>
          <a:xfrm>
            <a:off x="841248" y="53492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0C356A3-EC5F-45A2-65E8-B334891E79C4}"/>
              </a:ext>
            </a:extLst>
          </p:cNvPr>
          <p:cNvSpPr/>
          <p:nvPr/>
        </p:nvSpPr>
        <p:spPr>
          <a:xfrm>
            <a:off x="841248" y="57150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84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399D-2793-249C-E2CE-DF876BA33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76D100BC-E58E-03A5-8355-94FDC9A0D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Program Verification 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8A74562E-99CD-BC02-8647-A5CB5D92B8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dirty="0"/>
              <a:t>Given</a:t>
            </a:r>
            <a:r>
              <a:rPr lang="en-US" altLang="en-US" sz="2400" dirty="0"/>
              <a:t> </a:t>
            </a:r>
          </a:p>
          <a:p>
            <a:pPr eaLnBrk="1" hangingPunct="1"/>
            <a:r>
              <a:rPr lang="en-US" altLang="en-US" sz="2400" dirty="0"/>
              <a:t>a </a:t>
            </a:r>
            <a:r>
              <a:rPr lang="en-US" altLang="en-US" sz="2400" dirty="0">
                <a:solidFill>
                  <a:schemeClr val="accent6"/>
                </a:solidFill>
              </a:rPr>
              <a:t>program</a:t>
            </a:r>
            <a:r>
              <a:rPr lang="en-US" altLang="en-US" sz="2400" dirty="0"/>
              <a:t> and </a:t>
            </a:r>
          </a:p>
          <a:p>
            <a:pPr eaLnBrk="1" hangingPunct="1"/>
            <a:r>
              <a:rPr lang="en-US" altLang="en-US" sz="2400" dirty="0"/>
              <a:t>a formal </a:t>
            </a:r>
            <a:r>
              <a:rPr lang="en-US" altLang="en-US" sz="2400" dirty="0">
                <a:solidFill>
                  <a:schemeClr val="accent6"/>
                </a:solidFill>
              </a:rPr>
              <a:t>specification – a logical formula</a:t>
            </a:r>
          </a:p>
          <a:p>
            <a:pPr eaLnBrk="1" hangingPunct="1">
              <a:buFontTx/>
              <a:buNone/>
            </a:pPr>
            <a:r>
              <a:rPr lang="en-US" altLang="en-US" b="1" dirty="0"/>
              <a:t>does the program satisfy the specification?</a:t>
            </a:r>
          </a:p>
          <a:p>
            <a:pPr eaLnBrk="1" hangingPunct="1"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                     Not decidable!</a:t>
            </a:r>
          </a:p>
          <a:p>
            <a:pPr eaLnBrk="1" hangingPunct="1">
              <a:buFontTx/>
              <a:buNone/>
            </a:pPr>
            <a:endParaRPr lang="en-US" altLang="en-US" b="1" dirty="0">
              <a:solidFill>
                <a:srgbClr val="FF0000"/>
              </a:solidFill>
            </a:endParaRPr>
          </a:p>
          <a:p>
            <a:r>
              <a:rPr lang="en-US" altLang="en-US" dirty="0">
                <a:solidFill>
                  <a:schemeClr val="accent6"/>
                </a:solidFill>
              </a:rPr>
              <a:t>Floyd, Hoare </a:t>
            </a:r>
            <a:r>
              <a:rPr lang="en-US" altLang="en-US" dirty="0"/>
              <a:t>(late 1960’s) suggested </a:t>
            </a:r>
            <a:r>
              <a:rPr lang="en-US" altLang="en-US" dirty="0">
                <a:solidFill>
                  <a:srgbClr val="FF0000"/>
                </a:solidFill>
              </a:rPr>
              <a:t>methods </a:t>
            </a:r>
            <a:r>
              <a:rPr lang="en-US" altLang="en-US" dirty="0"/>
              <a:t>to verify </a:t>
            </a:r>
            <a:br>
              <a:rPr lang="en-US" altLang="en-US" dirty="0"/>
            </a:br>
            <a:r>
              <a:rPr lang="en-US" altLang="en-US" dirty="0"/>
              <a:t>input-output specifications</a:t>
            </a:r>
          </a:p>
          <a:p>
            <a:pPr eaLnBrk="1" hangingPunct="1">
              <a:buFontTx/>
              <a:buNone/>
            </a:pPr>
            <a:endParaRPr lang="en-US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2E2C110-0DD3-D96B-71A5-985C61E1935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38199" y="6176963"/>
            <a:ext cx="10141040" cy="544513"/>
          </a:xfrm>
          <a:prstGeom prst="rect">
            <a:avLst/>
          </a:prstGeom>
        </p:spPr>
        <p:txBody>
          <a:bodyPr/>
          <a:lstStyle/>
          <a:p>
            <a:r>
              <a:rPr lang="en-US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Undecidable does not mean hopeless — no method is automatic, complete and always terminating.</a:t>
            </a:r>
            <a:endParaRPr lang="en-US" b="1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F9B07BE3-AED7-1A73-8F11-AABF01F8D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7887DA-AEFB-444B-91CC-19AC675E1F2C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8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2208-B6D2-4A07-9376-EAFEF360A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0632-51EA-4FEC-218D-CD41C198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44CA4-5CD8-4BF8-6A51-55E2B69A6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8707628" y="4043676"/>
            <a:ext cx="1409350" cy="1306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CEF020-CC88-D46D-7DBF-5C88B896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2283197" y="2046817"/>
            <a:ext cx="1306677" cy="1138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CBCC5F-0CE4-E999-CAAA-16DE29C56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8707628" y="1878908"/>
            <a:ext cx="1280583" cy="1306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3204FB-5BA6-E12A-9153-D6E0F7130F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2283197" y="4038178"/>
            <a:ext cx="1306677" cy="130667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8644AD-6547-EF1A-A837-5C3077D418D5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967291" y="3714215"/>
            <a:ext cx="109802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29960AF-0449-E2C6-5484-1EC88E6B34EE}"/>
              </a:ext>
            </a:extLst>
          </p:cNvPr>
          <p:cNvSpPr txBox="1"/>
          <p:nvPr/>
        </p:nvSpPr>
        <p:spPr>
          <a:xfrm>
            <a:off x="2318498" y="317824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Program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51E2AC-6157-1D83-78FA-1D4FDB2A9514}"/>
              </a:ext>
            </a:extLst>
          </p:cNvPr>
          <p:cNvSpPr txBox="1"/>
          <p:nvPr/>
        </p:nvSpPr>
        <p:spPr>
          <a:xfrm>
            <a:off x="2075022" y="534485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Specification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1F2DA7-9048-154F-E6D9-3D9612737850}"/>
              </a:ext>
            </a:extLst>
          </p:cNvPr>
          <p:cNvSpPr txBox="1"/>
          <p:nvPr/>
        </p:nvSpPr>
        <p:spPr>
          <a:xfrm>
            <a:off x="8987823" y="3184759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Safe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CF49AB-9D7F-BDFA-33F5-106F4DA42DDD}"/>
              </a:ext>
            </a:extLst>
          </p:cNvPr>
          <p:cNvSpPr txBox="1"/>
          <p:nvPr/>
        </p:nvSpPr>
        <p:spPr>
          <a:xfrm>
            <a:off x="8954473" y="5346592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Buggy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A15194A-ADD1-1B85-3BB6-C1630E7A46EB}"/>
              </a:ext>
            </a:extLst>
          </p:cNvPr>
          <p:cNvSpPr/>
          <p:nvPr/>
        </p:nvSpPr>
        <p:spPr>
          <a:xfrm>
            <a:off x="5065319" y="3124943"/>
            <a:ext cx="2052320" cy="117854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Formal Verifier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D6490AE-5644-B475-E259-0FFC94B66A5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89874" y="2616201"/>
            <a:ext cx="377417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E84F3F3-E31F-AF1B-FBC6-DDE916B05F6A}"/>
              </a:ext>
            </a:extLst>
          </p:cNvPr>
          <p:cNvCxnSpPr>
            <a:cxnSpLocks/>
          </p:cNvCxnSpPr>
          <p:nvPr/>
        </p:nvCxnSpPr>
        <p:spPr>
          <a:xfrm>
            <a:off x="3967291" y="2601913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5F03066-DD94-0032-EE24-06485AE08574}"/>
              </a:ext>
            </a:extLst>
          </p:cNvPr>
          <p:cNvCxnSpPr>
            <a:cxnSpLocks/>
          </p:cNvCxnSpPr>
          <p:nvPr/>
        </p:nvCxnSpPr>
        <p:spPr>
          <a:xfrm>
            <a:off x="3967291" y="3714215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21825B6-E556-1C34-9EDA-75BC93D8835A}"/>
              </a:ext>
            </a:extLst>
          </p:cNvPr>
          <p:cNvCxnSpPr>
            <a:cxnSpLocks/>
          </p:cNvCxnSpPr>
          <p:nvPr/>
        </p:nvCxnSpPr>
        <p:spPr>
          <a:xfrm>
            <a:off x="3589874" y="4827588"/>
            <a:ext cx="377417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1C3942E-21FB-04FA-1292-D07CA47C63E7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7117639" y="3714215"/>
            <a:ext cx="110137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959D7B8-C97B-3A76-8088-694F93E4C082}"/>
              </a:ext>
            </a:extLst>
          </p:cNvPr>
          <p:cNvCxnSpPr>
            <a:cxnSpLocks/>
          </p:cNvCxnSpPr>
          <p:nvPr/>
        </p:nvCxnSpPr>
        <p:spPr>
          <a:xfrm>
            <a:off x="8206313" y="2590697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8DD6152-63C1-5C89-1C13-830A4C54DF97}"/>
              </a:ext>
            </a:extLst>
          </p:cNvPr>
          <p:cNvCxnSpPr>
            <a:cxnSpLocks/>
          </p:cNvCxnSpPr>
          <p:nvPr/>
        </p:nvCxnSpPr>
        <p:spPr>
          <a:xfrm>
            <a:off x="8206313" y="3714215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47A73E5-6B51-0B7C-DCB3-76216614FA95}"/>
              </a:ext>
            </a:extLst>
          </p:cNvPr>
          <p:cNvCxnSpPr>
            <a:cxnSpLocks/>
          </p:cNvCxnSpPr>
          <p:nvPr/>
        </p:nvCxnSpPr>
        <p:spPr>
          <a:xfrm flipV="1">
            <a:off x="8193088" y="2590697"/>
            <a:ext cx="376370" cy="169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97211B2-4DB6-E6BE-16E0-69CA102B5F6F}"/>
              </a:ext>
            </a:extLst>
          </p:cNvPr>
          <p:cNvCxnSpPr>
            <a:cxnSpLocks/>
          </p:cNvCxnSpPr>
          <p:nvPr/>
        </p:nvCxnSpPr>
        <p:spPr>
          <a:xfrm>
            <a:off x="8196263" y="4841876"/>
            <a:ext cx="373195" cy="1052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96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1E9A-D7E2-07FF-F97A-E8594EE73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04CED-9AA5-43F8-A144-F82DFFE5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An Example of Verification Problem 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0349A-1B1C-D47E-EB3C-2593D774F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2566203" y="5856684"/>
            <a:ext cx="582219" cy="507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C34E13-AEB5-9C0A-4047-78964B700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r="15450"/>
          <a:stretch>
            <a:fillRect/>
          </a:stretch>
        </p:blipFill>
        <p:spPr>
          <a:xfrm>
            <a:off x="7588923" y="4493988"/>
            <a:ext cx="400396" cy="5829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CD3DA-A0F7-BFEF-F742-42B2C9461315}"/>
                  </a:ext>
                </a:extLst>
              </p:cNvPr>
              <p:cNvSpPr txBox="1"/>
              <p:nvPr/>
            </p:nvSpPr>
            <p:spPr>
              <a:xfrm>
                <a:off x="6618156" y="3346676"/>
                <a:ext cx="3552332" cy="919401"/>
              </a:xfrm>
              <a:prstGeom prst="roundRect">
                <a:avLst/>
              </a:prstGeom>
              <a:solidFill>
                <a:srgbClr val="EFEAD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Pre: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x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Post: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CD3DA-A0F7-BFEF-F742-42B2C9461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156" y="3346676"/>
                <a:ext cx="3552332" cy="919401"/>
              </a:xfrm>
              <a:prstGeom prst="roundRect">
                <a:avLst/>
              </a:prstGeom>
              <a:blipFill>
                <a:blip r:embed="rId4"/>
                <a:stretch>
                  <a:fillRect l="-1375" t="-1987" b="-7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CF157D4-C3FC-7D81-C8FE-3DA40BF5E439}"/>
              </a:ext>
            </a:extLst>
          </p:cNvPr>
          <p:cNvSpPr txBox="1"/>
          <p:nvPr/>
        </p:nvSpPr>
        <p:spPr>
          <a:xfrm>
            <a:off x="6228033" y="1690688"/>
            <a:ext cx="43979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Input-output specification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holds at the beginning, then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holds at the end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FF0000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5FDD3-FF27-E4E3-426D-0A13AD013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002" y="1990641"/>
            <a:ext cx="3314244" cy="38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8A2E-D8D3-166B-0C5D-027FD0CC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88BD-C6AC-262F-B371-3D3ADB02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(Floyd method)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E677B6-79F3-9CD8-0B74-C8445D5EBF7F}"/>
                  </a:ext>
                </a:extLst>
              </p:cNvPr>
              <p:cNvSpPr txBox="1"/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≔0 ;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2E8E3E-8FE2-A61A-E432-7C11C709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blipFill>
                <a:blip r:embed="rId4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BFC4A0-1848-4D1F-6867-63461B2B8C0E}"/>
                  </a:ext>
                </a:extLst>
              </p:cNvPr>
              <p:cNvSpPr txBox="1"/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?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6FD77F-45C8-E8DF-2483-82D367E12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blipFill>
                <a:blip r:embed="rId5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C0F115-C4ED-F716-B2DE-5BDFF2C09ADA}"/>
                  </a:ext>
                </a:extLst>
              </p:cNvPr>
              <p:cNvSpPr txBox="1"/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EEFA0E-B985-A457-354D-3F2552329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blipFill>
                <a:blip r:embed="rId6"/>
                <a:stretch>
                  <a:fillRect r="-1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F02E76-BC34-E757-4A14-08804A22F39E}"/>
                  </a:ext>
                </a:extLst>
              </p:cNvPr>
              <p:cNvSpPr txBox="1"/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eturn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F02E76-BC34-E757-4A14-08804A22F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blipFill>
                <a:blip r:embed="rId7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0E9E7-1320-B681-7147-D2AE4DE472E2}"/>
                  </a:ext>
                </a:extLst>
              </p:cNvPr>
              <p:cNvSpPr txBox="1"/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𝐞𝐧𝐭𝐫𝐲</m:t>
                    </m:r>
                  </m:oMath>
                </a14:m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E5F8AC-A3AE-AB95-50F0-1E57DB97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blipFill>
                <a:blip r:embed="rId9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16429F-6D76-406F-CED1-E34192583381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8985978" y="1568559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529766-8EC4-AE0D-CEC6-8BA9A174349B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985978" y="2602380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7577F4-7469-CCDA-EC9B-9D18DD3FC0E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69318" y="3636201"/>
            <a:ext cx="1216660" cy="5950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F49511-4D84-7697-B646-8EFDF25E51EE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8985978" y="3636201"/>
            <a:ext cx="828490" cy="177951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FE35F9-0B56-1A42-1594-49448FC9FEAC}"/>
                  </a:ext>
                </a:extLst>
              </p:cNvPr>
              <p:cNvSpPr txBox="1"/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𝑡𝑟𝑢𝑒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BFAA74-8B93-9AB8-A875-9144DBA2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/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𝑓𝑎𝑙𝑠𝑒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55DE7-1229-0723-D5E8-F995207BC417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408381" y="4622808"/>
            <a:ext cx="32661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800809A-58CB-DBD8-A468-D7D4FBBBD94D}"/>
              </a:ext>
            </a:extLst>
          </p:cNvPr>
          <p:cNvCxnSpPr>
            <a:cxnSpLocks/>
          </p:cNvCxnSpPr>
          <p:nvPr/>
        </p:nvCxnSpPr>
        <p:spPr>
          <a:xfrm flipV="1">
            <a:off x="6416846" y="3414864"/>
            <a:ext cx="0" cy="121526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979B96-F9CB-4445-0492-5584983AFE55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408381" y="3414864"/>
            <a:ext cx="1724884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40453B6-33EF-805C-116F-BBA36147C5C8}"/>
              </a:ext>
            </a:extLst>
          </p:cNvPr>
          <p:cNvSpPr txBox="1"/>
          <p:nvPr/>
        </p:nvSpPr>
        <p:spPr>
          <a:xfrm>
            <a:off x="7800000" y="6000000"/>
            <a:ext cx="3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Control Flow Graph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FD03F2-678B-7DCE-E4D9-ADCC65988009}"/>
              </a:ext>
            </a:extLst>
          </p:cNvPr>
          <p:cNvCxnSpPr>
            <a:cxnSpLocks/>
          </p:cNvCxnSpPr>
          <p:nvPr/>
        </p:nvCxnSpPr>
        <p:spPr>
          <a:xfrm>
            <a:off x="2948513" y="3198229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116D00-DF97-515C-96B5-36F5A90E86CA}"/>
              </a:ext>
            </a:extLst>
          </p:cNvPr>
          <p:cNvCxnSpPr>
            <a:cxnSpLocks/>
          </p:cNvCxnSpPr>
          <p:nvPr/>
        </p:nvCxnSpPr>
        <p:spPr>
          <a:xfrm>
            <a:off x="2948513" y="4227348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0DF7074-63DD-2D03-60E9-0AEB12523452}"/>
              </a:ext>
            </a:extLst>
          </p:cNvPr>
          <p:cNvSpPr txBox="1"/>
          <p:nvPr/>
        </p:nvSpPr>
        <p:spPr>
          <a:xfrm>
            <a:off x="9895205" y="1194543"/>
            <a:ext cx="129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Pre::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 &gt;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5353C7-CC26-9D22-95E7-1223C91926AD}"/>
              </a:ext>
            </a:extLst>
          </p:cNvPr>
          <p:cNvSpPr txBox="1"/>
          <p:nvPr/>
        </p:nvSpPr>
        <p:spPr>
          <a:xfrm>
            <a:off x="9870908" y="3136739"/>
            <a:ext cx="194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Inv:: ??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102AD2-1934-6789-647E-10549F8C6807}"/>
              </a:ext>
            </a:extLst>
          </p:cNvPr>
          <p:cNvSpPr txBox="1"/>
          <p:nvPr/>
        </p:nvSpPr>
        <p:spPr>
          <a:xfrm>
            <a:off x="10961225" y="5456704"/>
            <a:ext cx="1179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Post::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a*b &lt;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31851D-7910-8803-7613-AD553857F53F}"/>
              </a:ext>
            </a:extLst>
          </p:cNvPr>
          <p:cNvCxnSpPr>
            <a:cxnSpLocks/>
          </p:cNvCxnSpPr>
          <p:nvPr/>
        </p:nvCxnSpPr>
        <p:spPr>
          <a:xfrm>
            <a:off x="2948513" y="2187415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F44E2C-3067-B377-F236-C9FDC4917BF2}"/>
              </a:ext>
            </a:extLst>
          </p:cNvPr>
          <p:cNvSpPr txBox="1"/>
          <p:nvPr/>
        </p:nvSpPr>
        <p:spPr>
          <a:xfrm>
            <a:off x="2296797" y="2011711"/>
            <a:ext cx="585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4C0E21-8796-A661-85CC-2D81644331F9}"/>
              </a:ext>
            </a:extLst>
          </p:cNvPr>
          <p:cNvSpPr txBox="1"/>
          <p:nvPr/>
        </p:nvSpPr>
        <p:spPr>
          <a:xfrm>
            <a:off x="2220686" y="4053452"/>
            <a:ext cx="76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A46DF2-3E1B-9026-1E9D-387DBD15EE88}"/>
              </a:ext>
            </a:extLst>
          </p:cNvPr>
          <p:cNvSpPr txBox="1"/>
          <p:nvPr/>
        </p:nvSpPr>
        <p:spPr>
          <a:xfrm>
            <a:off x="2362664" y="2984895"/>
            <a:ext cx="585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140075E-09A8-C5EC-C9C7-177A23B66B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9002" y="1990641"/>
            <a:ext cx="3314244" cy="38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0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E753-3133-20BF-A34A-FCDB383D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CD87-3BCC-0473-493A-664DBAE21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(Floyd method)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DD3DFC-6BBF-9F1F-8F5C-E7F8D9A8D14B}"/>
                  </a:ext>
                </a:extLst>
              </p:cNvPr>
              <p:cNvSpPr txBox="1"/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≔0 ;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2E8E3E-8FE2-A61A-E432-7C11C709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blipFill>
                <a:blip r:embed="rId4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93DCD1-C5C9-3896-88E1-DC3C3A722F66}"/>
                  </a:ext>
                </a:extLst>
              </p:cNvPr>
              <p:cNvSpPr txBox="1"/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?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6FD77F-45C8-E8DF-2483-82D367E12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blipFill>
                <a:blip r:embed="rId5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3F6F86-D83A-E678-3CC9-C994CD58B729}"/>
                  </a:ext>
                </a:extLst>
              </p:cNvPr>
              <p:cNvSpPr txBox="1"/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EEFA0E-B985-A457-354D-3F2552329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blipFill>
                <a:blip r:embed="rId6"/>
                <a:stretch>
                  <a:fillRect r="-1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CC9874-FC14-685F-771F-42DBC418C41C}"/>
                  </a:ext>
                </a:extLst>
              </p:cNvPr>
              <p:cNvSpPr txBox="1"/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eturn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FFF4C-3843-9E57-B195-53DEE455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blipFill>
                <a:blip r:embed="rId7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93824E-0684-79C6-5CC9-72C645C53330}"/>
                  </a:ext>
                </a:extLst>
              </p:cNvPr>
              <p:cNvSpPr txBox="1"/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𝐞𝐧𝐭𝐫𝐲</m:t>
                    </m:r>
                  </m:oMath>
                </a14:m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E5F8AC-A3AE-AB95-50F0-1E57DB97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blipFill>
                <a:blip r:embed="rId9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654DB4-BBB4-9D57-4C87-C492F03058F0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8985978" y="1568559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AAB773-5A1B-6939-ED71-7D03F277558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985978" y="2602380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3AD9F7-AF38-576F-0955-F6BBAB0802B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69318" y="3636201"/>
            <a:ext cx="1216660" cy="5950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7AA8B8-6AC5-488C-9632-2310126ED25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8985978" y="3636201"/>
            <a:ext cx="828490" cy="177951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DDB24F-4AFC-55EC-0EE3-CD6A2EAD1F9B}"/>
                  </a:ext>
                </a:extLst>
              </p:cNvPr>
              <p:cNvSpPr txBox="1"/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𝑡𝑟𝑢𝑒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BFAA74-8B93-9AB8-A875-9144DBA2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41A475-1B5C-022E-348D-8E0209FF947C}"/>
                  </a:ext>
                </a:extLst>
              </p:cNvPr>
              <p:cNvSpPr txBox="1"/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𝑓𝑎𝑙𝑠𝑒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2BC208-142F-142D-9C41-7D75BAC19EB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408381" y="4622808"/>
            <a:ext cx="32661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E90E3BD-CCB0-D441-E216-92C3B3F46B54}"/>
              </a:ext>
            </a:extLst>
          </p:cNvPr>
          <p:cNvCxnSpPr>
            <a:cxnSpLocks/>
          </p:cNvCxnSpPr>
          <p:nvPr/>
        </p:nvCxnSpPr>
        <p:spPr>
          <a:xfrm flipV="1">
            <a:off x="6416846" y="3414864"/>
            <a:ext cx="0" cy="121526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597BBFF-2E96-866C-2940-38ED64C83709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408381" y="3414864"/>
            <a:ext cx="1724884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1A7EB94-28B0-1931-95DB-B2CCA8CC821B}"/>
              </a:ext>
            </a:extLst>
          </p:cNvPr>
          <p:cNvSpPr txBox="1"/>
          <p:nvPr/>
        </p:nvSpPr>
        <p:spPr>
          <a:xfrm>
            <a:off x="7800000" y="6000000"/>
            <a:ext cx="3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Control Flow Graph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4BB578-9C9A-2331-AFD6-DAE075D49DFB}"/>
              </a:ext>
            </a:extLst>
          </p:cNvPr>
          <p:cNvSpPr txBox="1"/>
          <p:nvPr/>
        </p:nvSpPr>
        <p:spPr>
          <a:xfrm>
            <a:off x="9895205" y="1194543"/>
            <a:ext cx="129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Pre::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x &gt;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67AD8D-B36A-C9E4-780B-FEA4636122A4}"/>
              </a:ext>
            </a:extLst>
          </p:cNvPr>
          <p:cNvSpPr txBox="1"/>
          <p:nvPr/>
        </p:nvSpPr>
        <p:spPr>
          <a:xfrm>
            <a:off x="9870908" y="3136739"/>
            <a:ext cx="194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Inv::</a:t>
            </a:r>
            <a:r>
              <a:rPr lang="en-US" b="1" dirty="0">
                <a:solidFill>
                  <a:srgbClr val="0000FF"/>
                </a:solidFill>
                <a:latin typeface="Calibri" panose="020F0502020204030204"/>
              </a:rPr>
              <a:t> ??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B65883-5013-04E7-2898-13A5C00DD6FD}"/>
              </a:ext>
            </a:extLst>
          </p:cNvPr>
          <p:cNvSpPr txBox="1"/>
          <p:nvPr/>
        </p:nvSpPr>
        <p:spPr>
          <a:xfrm>
            <a:off x="10961225" y="5456704"/>
            <a:ext cx="1179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Post::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a*b &lt;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2A4C3-BE76-5B7F-4297-5D90B3075574}"/>
              </a:ext>
            </a:extLst>
          </p:cNvPr>
          <p:cNvSpPr txBox="1"/>
          <p:nvPr/>
        </p:nvSpPr>
        <p:spPr>
          <a:xfrm>
            <a:off x="902528" y="1563875"/>
            <a:ext cx="54578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prove: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Initiation: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 ( a=0  b=0 )  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Inv(x, 0, 0)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Consecution: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Inv(x, a, b)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a &lt; x</a:t>
            </a:r>
            <a:r>
              <a:rPr lang="en-US" sz="2000" dirty="0">
                <a:solidFill>
                  <a:srgbClr val="000000"/>
                </a:solidFill>
                <a:sym typeface="Symbol" panose="05050102010706020507" pitchFamily="18" charset="2"/>
              </a:rPr>
              <a:t>  a’ = a+1  b’=b-1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                                      </a:t>
            </a:r>
            <a:r>
              <a:rPr lang="en-US" sz="2000" b="1" dirty="0">
                <a:solidFill>
                  <a:srgbClr val="0000FF"/>
                </a:solidFill>
                <a:latin typeface="Calibri" panose="020F0502020204030204"/>
                <a:sym typeface="Symbol" panose="05050102010706020507" pitchFamily="18" charset="2"/>
              </a:rPr>
              <a:t>Inv(x, a’, b’)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sym typeface="Symbol" panose="05050102010706020507" pitchFamily="18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Safety: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(a &lt; x) 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Post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9C2B017E-DB81-5553-23F5-030A0163276B}"/>
              </a:ext>
            </a:extLst>
          </p:cNvPr>
          <p:cNvSpPr/>
          <p:nvPr/>
        </p:nvSpPr>
        <p:spPr>
          <a:xfrm>
            <a:off x="3020993" y="403599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D703C5-8569-623D-C011-1F003198DD68}"/>
                  </a:ext>
                </a:extLst>
              </p:cNvPr>
              <p:cNvSpPr txBox="1"/>
              <p:nvPr/>
            </p:nvSpPr>
            <p:spPr>
              <a:xfrm>
                <a:off x="1090160" y="5014404"/>
                <a:ext cx="5270246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program satisfies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 Pre, Post 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Inv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an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inductive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invariant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It holds whenever the program execution reaches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sub>
                    </m:sSub>
                  </m:oMath>
                </a14:m>
                <a:b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40D49E-BD91-E8DA-FBC4-F09910320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160" y="5014404"/>
                <a:ext cx="5270246" cy="1292662"/>
              </a:xfrm>
              <a:prstGeom prst="rect">
                <a:avLst/>
              </a:prstGeom>
              <a:blipFill>
                <a:blip r:embed="rId14"/>
                <a:stretch>
                  <a:fillRect l="-1042" t="-377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679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7D53-021E-189E-A30D-B58E7259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1E6A-C9CE-F8D7-03BA-07827B7A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(Floyd method)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D027BF-A9AD-A5AF-ECFE-AC770C58E0B2}"/>
                  </a:ext>
                </a:extLst>
              </p:cNvPr>
              <p:cNvSpPr txBox="1"/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≔0 ;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2E8E3E-8FE2-A61A-E432-7C11C709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blipFill>
                <a:blip r:embed="rId4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8AB4BE-58B8-D27C-676F-6FDAF2961C12}"/>
                  </a:ext>
                </a:extLst>
              </p:cNvPr>
              <p:cNvSpPr txBox="1"/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?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6FD77F-45C8-E8DF-2483-82D367E12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blipFill>
                <a:blip r:embed="rId5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AD7A58-5B12-383B-6DB2-14E24784142B}"/>
                  </a:ext>
                </a:extLst>
              </p:cNvPr>
              <p:cNvSpPr txBox="1"/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EEFA0E-B985-A457-354D-3F2552329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blipFill>
                <a:blip r:embed="rId6"/>
                <a:stretch>
                  <a:fillRect r="-1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273150-FFE4-FD48-2E13-6A7A0B6B9C80}"/>
                  </a:ext>
                </a:extLst>
              </p:cNvPr>
              <p:cNvSpPr txBox="1"/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eturn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FFF4C-3843-9E57-B195-53DEE455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blipFill>
                <a:blip r:embed="rId7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5BF8E0-53ED-3305-7FF9-198A65B9D1F8}"/>
                  </a:ext>
                </a:extLst>
              </p:cNvPr>
              <p:cNvSpPr txBox="1"/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𝐞𝐧𝐭𝐫𝐲</m:t>
                    </m:r>
                  </m:oMath>
                </a14:m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E5F8AC-A3AE-AB95-50F0-1E57DB97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blipFill>
                <a:blip r:embed="rId9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96FC1-0A1F-B3E2-17C3-86FEB3D5126F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8985978" y="1568559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65ACA0-CFD6-4FEB-F19D-47DD0E00F4E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985978" y="2602380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3EF830-57CA-BEE2-4B65-4AFE4F6A07B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69318" y="3636201"/>
            <a:ext cx="1216660" cy="5950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C3EAE0-98BA-22A3-EDE2-8F319B1C66C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8985978" y="3636201"/>
            <a:ext cx="828490" cy="177951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594DFA-547B-7B1C-85EF-EA06878E2DC6}"/>
                  </a:ext>
                </a:extLst>
              </p:cNvPr>
              <p:cNvSpPr txBox="1"/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𝑡𝑟𝑢𝑒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BFAA74-8B93-9AB8-A875-9144DBA2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89A4C2-E552-21F6-DA51-448785896E7E}"/>
                  </a:ext>
                </a:extLst>
              </p:cNvPr>
              <p:cNvSpPr txBox="1"/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𝑓𝑎𝑙𝑠𝑒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8E4B15A-1FE2-6195-62C0-A31505DA95D3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408381" y="4622808"/>
            <a:ext cx="32661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EDF29B9-9496-FDE0-202D-28DD5522E7BA}"/>
              </a:ext>
            </a:extLst>
          </p:cNvPr>
          <p:cNvCxnSpPr>
            <a:cxnSpLocks/>
          </p:cNvCxnSpPr>
          <p:nvPr/>
        </p:nvCxnSpPr>
        <p:spPr>
          <a:xfrm flipV="1">
            <a:off x="6416846" y="3414864"/>
            <a:ext cx="0" cy="121526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C05B367-8F7F-0867-6390-5DACACB6E203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408381" y="3414864"/>
            <a:ext cx="1724884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6703A8B-254D-1A1B-8F83-9C25E1FB18B5}"/>
              </a:ext>
            </a:extLst>
          </p:cNvPr>
          <p:cNvSpPr txBox="1"/>
          <p:nvPr/>
        </p:nvSpPr>
        <p:spPr>
          <a:xfrm>
            <a:off x="7800000" y="6000000"/>
            <a:ext cx="3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Control Flow Graph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FB77F8-CBC6-6536-C09B-67770F8DCE33}"/>
              </a:ext>
            </a:extLst>
          </p:cNvPr>
          <p:cNvSpPr txBox="1"/>
          <p:nvPr/>
        </p:nvSpPr>
        <p:spPr>
          <a:xfrm>
            <a:off x="9895205" y="1194543"/>
            <a:ext cx="129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Pre::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x &gt;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975C12-05D4-1522-2056-4C7A8D41D236}"/>
              </a:ext>
            </a:extLst>
          </p:cNvPr>
          <p:cNvSpPr txBox="1"/>
          <p:nvPr/>
        </p:nvSpPr>
        <p:spPr>
          <a:xfrm>
            <a:off x="9870908" y="3136739"/>
            <a:ext cx="194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Inv::</a:t>
            </a:r>
            <a:r>
              <a:rPr lang="en-US" b="1" dirty="0">
                <a:solidFill>
                  <a:srgbClr val="0000FF"/>
                </a:solidFill>
                <a:latin typeface="Calibri" panose="020F0502020204030204"/>
              </a:rPr>
              <a:t> ??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124130-ED32-1A8D-1D5B-FA7C08D202D9}"/>
              </a:ext>
            </a:extLst>
          </p:cNvPr>
          <p:cNvSpPr txBox="1"/>
          <p:nvPr/>
        </p:nvSpPr>
        <p:spPr>
          <a:xfrm>
            <a:off x="10961225" y="5456704"/>
            <a:ext cx="1179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Post::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a*b &lt;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2675A-D596-CA53-0AD1-EE404C180EAA}"/>
              </a:ext>
            </a:extLst>
          </p:cNvPr>
          <p:cNvSpPr txBox="1"/>
          <p:nvPr/>
        </p:nvSpPr>
        <p:spPr>
          <a:xfrm>
            <a:off x="902528" y="1563875"/>
            <a:ext cx="54578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prove: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Initiation: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 ( a=0  b=0 )  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Inv(x, 0, 0)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Consecution: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Inv(x, a, b)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a &lt; x</a:t>
            </a:r>
            <a:r>
              <a:rPr lang="en-US" sz="2000" dirty="0">
                <a:solidFill>
                  <a:srgbClr val="000000"/>
                </a:solidFill>
                <a:sym typeface="Symbol" panose="05050102010706020507" pitchFamily="18" charset="2"/>
              </a:rPr>
              <a:t>  a’ = a+1  b’=b+1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                                      </a:t>
            </a:r>
            <a:r>
              <a:rPr lang="en-US" sz="2000" b="1" dirty="0">
                <a:solidFill>
                  <a:srgbClr val="0000FF"/>
                </a:solidFill>
                <a:latin typeface="Calibri" panose="020F0502020204030204"/>
                <a:sym typeface="Symbol" panose="05050102010706020507" pitchFamily="18" charset="2"/>
              </a:rPr>
              <a:t>Inv(x, a’, b’)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sym typeface="Symbol" panose="05050102010706020507" pitchFamily="18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Safety: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(a &lt; x) 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Post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72E37-933D-48AF-75BB-AD28BD68301F}"/>
              </a:ext>
            </a:extLst>
          </p:cNvPr>
          <p:cNvSpPr txBox="1"/>
          <p:nvPr/>
        </p:nvSpPr>
        <p:spPr>
          <a:xfrm>
            <a:off x="892038" y="4525960"/>
            <a:ext cx="5552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schemeClr val="accent4"/>
                </a:solidFill>
                <a:latin typeface="Calibri" panose="020F0502020204030204"/>
              </a:rPr>
              <a:t>Is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2800" i="0" u="none" strike="noStrike" kern="1200" cap="none" spc="0" normalizeH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a+b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=0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 a good </a:t>
            </a:r>
            <a:r>
              <a:rPr lang="en-US" sz="2800" dirty="0" err="1">
                <a:solidFill>
                  <a:schemeClr val="accent4"/>
                </a:solidFill>
                <a:latin typeface="Calibri" panose="020F0502020204030204"/>
              </a:rPr>
              <a:t>i</a:t>
            </a:r>
            <a:r>
              <a:rPr kumimoji="0" lang="en-US" sz="2800" i="0" u="none" strike="noStrike" kern="1200" cap="none" spc="0" normalizeH="0" baseline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nductive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 invariant?</a:t>
            </a:r>
          </a:p>
        </p:txBody>
      </p:sp>
    </p:spTree>
    <p:extLst>
      <p:ext uri="{BB962C8B-B14F-4D97-AF65-F5344CB8AC3E}">
        <p14:creationId xmlns:p14="http://schemas.microsoft.com/office/powerpoint/2010/main" val="91954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D8D7E-F93F-E17C-3AB1-116267A81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D7DE-E209-F496-9ECB-B9ED1982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(Floyd method)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A312CB-DD9A-7E80-3C90-E6DED71152AA}"/>
                  </a:ext>
                </a:extLst>
              </p:cNvPr>
              <p:cNvSpPr txBox="1"/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≔0 ;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2E8E3E-8FE2-A61A-E432-7C11C709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blipFill>
                <a:blip r:embed="rId4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C13851-403B-D819-5395-E19E92B194BF}"/>
                  </a:ext>
                </a:extLst>
              </p:cNvPr>
              <p:cNvSpPr txBox="1"/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?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6FD77F-45C8-E8DF-2483-82D367E12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blipFill>
                <a:blip r:embed="rId5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FD0251-6A22-CA63-7BDD-8F29DAFAB9B9}"/>
                  </a:ext>
                </a:extLst>
              </p:cNvPr>
              <p:cNvSpPr txBox="1"/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EEFA0E-B985-A457-354D-3F2552329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blipFill>
                <a:blip r:embed="rId6"/>
                <a:stretch>
                  <a:fillRect r="-1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EED302-9069-8492-8DE2-3F6CB06385B7}"/>
                  </a:ext>
                </a:extLst>
              </p:cNvPr>
              <p:cNvSpPr txBox="1"/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eturn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FFF4C-3843-9E57-B195-53DEE455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blipFill>
                <a:blip r:embed="rId7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B27C9C-427C-6184-1941-E6137CD921E7}"/>
                  </a:ext>
                </a:extLst>
              </p:cNvPr>
              <p:cNvSpPr txBox="1"/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𝐞𝐧𝐭𝐫𝐲</m:t>
                    </m:r>
                  </m:oMath>
                </a14:m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E5F8AC-A3AE-AB95-50F0-1E57DB97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blipFill>
                <a:blip r:embed="rId9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5B3309-2C55-FB9B-A9F8-ADFFE50AA0EE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8985978" y="1568559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A0EDD6C-2C5E-722E-2539-E5F4B72A16E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985978" y="2602380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B74781-2D63-9ABE-B21A-039850D7419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69318" y="3636201"/>
            <a:ext cx="1216660" cy="5950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8D2DF4-43B3-E8A3-E2F8-FF755EE5C342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8985978" y="3636201"/>
            <a:ext cx="828490" cy="177951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9C0255-8953-341F-5C00-5FBE26C1DAF4}"/>
                  </a:ext>
                </a:extLst>
              </p:cNvPr>
              <p:cNvSpPr txBox="1"/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𝑡𝑟𝑢𝑒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BFAA74-8B93-9AB8-A875-9144DBA2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FF209B-BD74-0460-B0B2-1D4F3C2CBC0A}"/>
                  </a:ext>
                </a:extLst>
              </p:cNvPr>
              <p:cNvSpPr txBox="1"/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𝑓𝑎𝑙𝑠𝑒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8666DAC-1BC0-1C6D-2CC4-F4FA9E4EB4E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408381" y="4622808"/>
            <a:ext cx="32661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2DCACE-DA1F-DB76-46AE-D997F9C224D4}"/>
              </a:ext>
            </a:extLst>
          </p:cNvPr>
          <p:cNvCxnSpPr>
            <a:cxnSpLocks/>
          </p:cNvCxnSpPr>
          <p:nvPr/>
        </p:nvCxnSpPr>
        <p:spPr>
          <a:xfrm flipV="1">
            <a:off x="6416846" y="3414864"/>
            <a:ext cx="0" cy="121526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E3D6297-2AD2-AFB5-3B64-4616BA4EE86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408381" y="3414864"/>
            <a:ext cx="1724884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4E7BE2D-4071-AA8B-7060-D0B65798D86D}"/>
              </a:ext>
            </a:extLst>
          </p:cNvPr>
          <p:cNvSpPr txBox="1"/>
          <p:nvPr/>
        </p:nvSpPr>
        <p:spPr>
          <a:xfrm>
            <a:off x="7800000" y="6000000"/>
            <a:ext cx="3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Control Flow Graph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928E4C-CEF4-4002-F715-52AA7D0E7B0B}"/>
              </a:ext>
            </a:extLst>
          </p:cNvPr>
          <p:cNvSpPr txBox="1"/>
          <p:nvPr/>
        </p:nvSpPr>
        <p:spPr>
          <a:xfrm>
            <a:off x="9895205" y="1194543"/>
            <a:ext cx="129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Pre::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x &gt;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901F3C-6948-6A31-78AF-F7C8C2C10916}"/>
              </a:ext>
            </a:extLst>
          </p:cNvPr>
          <p:cNvSpPr txBox="1"/>
          <p:nvPr/>
        </p:nvSpPr>
        <p:spPr>
          <a:xfrm>
            <a:off x="9870908" y="3136739"/>
            <a:ext cx="194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Inv::</a:t>
            </a:r>
            <a:r>
              <a:rPr lang="en-US" b="1" dirty="0">
                <a:solidFill>
                  <a:srgbClr val="0000FF"/>
                </a:solidFill>
                <a:latin typeface="Calibri" panose="020F0502020204030204"/>
              </a:rPr>
              <a:t> ??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F743CF-A34A-C978-8B32-207422C192CF}"/>
              </a:ext>
            </a:extLst>
          </p:cNvPr>
          <p:cNvSpPr txBox="1"/>
          <p:nvPr/>
        </p:nvSpPr>
        <p:spPr>
          <a:xfrm>
            <a:off x="10961225" y="5456704"/>
            <a:ext cx="1179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Post::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a*b &lt;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A31627-A72A-0B6C-C9E9-3DD60AB5DF15}"/>
                  </a:ext>
                </a:extLst>
              </p:cNvPr>
              <p:cNvSpPr txBox="1"/>
              <p:nvPr/>
            </p:nvSpPr>
            <p:spPr>
              <a:xfrm>
                <a:off x="902528" y="1578305"/>
                <a:ext cx="5552563" cy="4585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2400" dirty="0">
                    <a:solidFill>
                      <a:schemeClr val="accent4"/>
                    </a:solidFill>
                    <a:latin typeface="Calibri" panose="020F0502020204030204"/>
                  </a:rPr>
                  <a:t>Is</a:t>
                </a:r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US" sz="2400" i="0" u="none" strike="noStrike" kern="1200" cap="none" spc="0" normalizeH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US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a+b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=0</a:t>
                </a:r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 a good </a:t>
                </a:r>
                <a:r>
                  <a:rPr lang="en-US" sz="2400" dirty="0" err="1">
                    <a:solidFill>
                      <a:schemeClr val="accent4"/>
                    </a:solidFill>
                    <a:latin typeface="Calibri" panose="020F0502020204030204"/>
                  </a:rPr>
                  <a:t>i</a:t>
                </a:r>
                <a:r>
                  <a:rPr kumimoji="0" lang="en-US" sz="240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nductive</a:t>
                </a:r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 invariant?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2800" dirty="0">
                  <a:solidFill>
                    <a:schemeClr val="accent4"/>
                  </a:solidFill>
                  <a:latin typeface="Calibri" panose="020F0502020204030204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NO!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2400" dirty="0">
                    <a:latin typeface="Calibri" panose="020F0502020204030204"/>
                  </a:rPr>
                  <a:t>When initially </a:t>
                </a:r>
                <a:r>
                  <a:rPr lang="en-US" sz="2400" dirty="0">
                    <a:solidFill>
                      <a:srgbClr val="FF0000"/>
                    </a:solidFill>
                    <a:latin typeface="Calibri" panose="020F0502020204030204"/>
                  </a:rPr>
                  <a:t>x=-5 </a:t>
                </a:r>
                <a:r>
                  <a:rPr lang="en-US" sz="2400" dirty="0">
                    <a:latin typeface="Calibri" panose="020F0502020204030204"/>
                  </a:rPr>
                  <a:t>then the loop </a:t>
                </a:r>
                <a:r>
                  <a:rPr lang="en-US" sz="2400" dirty="0">
                    <a:solidFill>
                      <a:srgbClr val="FF0000"/>
                    </a:solidFill>
                    <a:latin typeface="Calibri" panose="020F0502020204030204"/>
                  </a:rPr>
                  <a:t>terminates immediately </a:t>
                </a:r>
                <a:r>
                  <a:rPr lang="en-US" sz="2400" dirty="0">
                    <a:latin typeface="Calibri" panose="020F0502020204030204"/>
                  </a:rPr>
                  <a:t>with </a:t>
                </a:r>
                <a:r>
                  <a:rPr lang="en-US" sz="2400" dirty="0">
                    <a:solidFill>
                      <a:srgbClr val="FF0000"/>
                    </a:solidFill>
                    <a:latin typeface="Calibri" panose="020F0502020204030204"/>
                  </a:rPr>
                  <a:t>a=b=0</a:t>
                </a:r>
                <a:r>
                  <a:rPr lang="en-US" sz="2400" dirty="0">
                    <a:latin typeface="Calibri" panose="020F0502020204030204"/>
                  </a:rPr>
                  <a:t>. Now, </a:t>
                </a:r>
                <a:r>
                  <a:rPr lang="en-US" sz="2400" dirty="0">
                    <a:solidFill>
                      <a:srgbClr val="0000FF"/>
                    </a:solidFill>
                    <a:latin typeface="Calibri" panose="020F0502020204030204"/>
                  </a:rPr>
                  <a:t>a*b=0</a:t>
                </a:r>
                <a:r>
                  <a:rPr lang="en-US" sz="2400" dirty="0">
                    <a:latin typeface="Calibri" panose="020F0502020204030204"/>
                  </a:rPr>
                  <a:t>, not  </a:t>
                </a:r>
                <a:r>
                  <a:rPr lang="en-US" sz="2400" dirty="0">
                    <a:solidFill>
                      <a:srgbClr val="0000FF"/>
                    </a:solidFill>
                    <a:latin typeface="Calibri" panose="020F0502020204030204"/>
                  </a:rPr>
                  <a:t>a*b&lt;0</a:t>
                </a:r>
                <a:r>
                  <a:rPr lang="en-US" sz="2400" dirty="0">
                    <a:latin typeface="Calibri" panose="020F0502020204030204"/>
                  </a:rPr>
                  <a:t> as needed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2800" dirty="0">
                  <a:latin typeface="Calibri" panose="020F0502020204030204"/>
                </a:endParaRPr>
              </a:p>
              <a:p>
                <a:pPr lvl="0">
                  <a:defRPr/>
                </a:pPr>
                <a:r>
                  <a:rPr lang="en-US" sz="2400" b="1" dirty="0">
                    <a:solidFill>
                      <a:srgbClr val="000000"/>
                    </a:solidFill>
                  </a:rPr>
                  <a:t>A correct invariant:</a:t>
                </a:r>
                <a:r>
                  <a:rPr lang="en-US" sz="2400" b="1" dirty="0">
                    <a:solidFill>
                      <a:srgbClr val="92278F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2800" dirty="0">
                  <a:latin typeface="Calibri" panose="020F0502020204030204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2800" dirty="0">
                  <a:latin typeface="Calibri" panose="020F0502020204030204"/>
                </a:endParaRPr>
              </a:p>
              <a:p>
                <a:pPr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32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libri" panose="020F0502020204030204"/>
                  </a:rPr>
                  <a:t>Finding invariant is hard!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A31627-A72A-0B6C-C9E9-3DD60AB5D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528" y="1578305"/>
                <a:ext cx="5552563" cy="4585871"/>
              </a:xfrm>
              <a:prstGeom prst="rect">
                <a:avLst/>
              </a:prstGeom>
              <a:blipFill>
                <a:blip r:embed="rId13"/>
                <a:stretch>
                  <a:fillRect l="-2195" t="-1064" b="-34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07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BAE3-755A-A185-CB12-C2309ADF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1CB23-4F6F-F442-9051-E0E1ED5AD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82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</a:rPr>
              <a:t>Let the machine find the invariant for us</a:t>
            </a:r>
          </a:p>
          <a:p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checking, symbolic verification, and Constrained Horn Clauses</a:t>
            </a:r>
            <a:endParaRPr lang="en-US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0DBBB-7C9E-76A1-7C64-8E200280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1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E0A5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make it automatic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3931920"/>
          </a:xfrm>
          <a:prstGeom prst="roundRect">
            <a:avLst>
              <a:gd name="adj" fmla="val 1395"/>
            </a:avLst>
          </a:prstGeom>
          <a:solidFill>
            <a:srgbClr val="F0F1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Restrict until decidable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checking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(Clarke, Emerson, Sifakis, early 1980s)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finite-state model + temporal-logic property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answers yes, or no with a counterexample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But programs are not finite state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29400" y="1798115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Keep programs — hand it to a solver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29400" y="22860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program and the specification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symbolically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as logical formulas.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Reduce verification to: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 this formula satisfiable?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Let </a:t>
            </a:r>
            <a:r>
              <a:rPr lang="en-US" sz="2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solvers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SAT  →  SMT  →  CHCs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0A5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 becomes the unknown that the solver is asked to find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4278-5E7C-FE0D-ADD2-71C60F66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FEF7-F727-CAD6-78AD-09531CC6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Back to Program Verification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21320-6793-0AA8-1804-FCCC1037A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8707628" y="4043676"/>
            <a:ext cx="1409350" cy="1306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E09EB4-F35F-D439-91A8-0D0F04C2E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2283197" y="2046817"/>
            <a:ext cx="1306677" cy="1138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0FC222-3AEE-C28B-D4A9-D9B31387B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8707628" y="1878908"/>
            <a:ext cx="1280583" cy="1306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B89651-C88F-B870-CBC1-16331FAB0A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2283197" y="4038178"/>
            <a:ext cx="1306677" cy="130667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683221-F727-BF25-6B81-01F5B2ECD232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967291" y="3714215"/>
            <a:ext cx="109802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C9487E7-AF1A-0993-7145-69C5181A8B59}"/>
              </a:ext>
            </a:extLst>
          </p:cNvPr>
          <p:cNvSpPr txBox="1"/>
          <p:nvPr/>
        </p:nvSpPr>
        <p:spPr>
          <a:xfrm>
            <a:off x="2318498" y="317824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Program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02D0F7-C119-EDAB-C2BC-3379F0E12D89}"/>
              </a:ext>
            </a:extLst>
          </p:cNvPr>
          <p:cNvSpPr txBox="1"/>
          <p:nvPr/>
        </p:nvSpPr>
        <p:spPr>
          <a:xfrm>
            <a:off x="2075022" y="534485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Specification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1AFDAA-42AF-7EB9-6A2C-F75707900094}"/>
              </a:ext>
            </a:extLst>
          </p:cNvPr>
          <p:cNvSpPr txBox="1"/>
          <p:nvPr/>
        </p:nvSpPr>
        <p:spPr>
          <a:xfrm>
            <a:off x="8987823" y="3184759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Safe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3B9B6D-0A88-CC9B-D074-FC144BDFC2DA}"/>
              </a:ext>
            </a:extLst>
          </p:cNvPr>
          <p:cNvSpPr txBox="1"/>
          <p:nvPr/>
        </p:nvSpPr>
        <p:spPr>
          <a:xfrm>
            <a:off x="8954473" y="5346592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Buggy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4A56E01-8305-9BD2-3E60-B04F142E93CD}"/>
              </a:ext>
            </a:extLst>
          </p:cNvPr>
          <p:cNvSpPr/>
          <p:nvPr/>
        </p:nvSpPr>
        <p:spPr>
          <a:xfrm>
            <a:off x="5065319" y="3124943"/>
            <a:ext cx="2052320" cy="117854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Formal Verifier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37A82E-F98E-0AA6-3900-D33D5662AC1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89874" y="2616201"/>
            <a:ext cx="377417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14678CE-6ADF-00DB-BF34-B1F61920E5F4}"/>
              </a:ext>
            </a:extLst>
          </p:cNvPr>
          <p:cNvCxnSpPr>
            <a:cxnSpLocks/>
          </p:cNvCxnSpPr>
          <p:nvPr/>
        </p:nvCxnSpPr>
        <p:spPr>
          <a:xfrm>
            <a:off x="3967291" y="2601913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CC97D06-BBC9-2764-B532-9EA9532FA62E}"/>
              </a:ext>
            </a:extLst>
          </p:cNvPr>
          <p:cNvCxnSpPr>
            <a:cxnSpLocks/>
          </p:cNvCxnSpPr>
          <p:nvPr/>
        </p:nvCxnSpPr>
        <p:spPr>
          <a:xfrm>
            <a:off x="3967291" y="3714215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C4CF4E1-24A9-E411-F564-FC02149CCDB2}"/>
              </a:ext>
            </a:extLst>
          </p:cNvPr>
          <p:cNvCxnSpPr>
            <a:cxnSpLocks/>
          </p:cNvCxnSpPr>
          <p:nvPr/>
        </p:nvCxnSpPr>
        <p:spPr>
          <a:xfrm>
            <a:off x="3589874" y="4827588"/>
            <a:ext cx="377417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8056662-3152-58DF-C9CD-8CC5B2CE62D6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7117639" y="3714215"/>
            <a:ext cx="110137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264B0DF-4B1B-EAF6-7F2F-164F0072E14E}"/>
              </a:ext>
            </a:extLst>
          </p:cNvPr>
          <p:cNvCxnSpPr>
            <a:cxnSpLocks/>
          </p:cNvCxnSpPr>
          <p:nvPr/>
        </p:nvCxnSpPr>
        <p:spPr>
          <a:xfrm>
            <a:off x="8206313" y="2590697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C5B5588-9D43-2A83-8CCE-681388592FA2}"/>
              </a:ext>
            </a:extLst>
          </p:cNvPr>
          <p:cNvCxnSpPr>
            <a:cxnSpLocks/>
          </p:cNvCxnSpPr>
          <p:nvPr/>
        </p:nvCxnSpPr>
        <p:spPr>
          <a:xfrm>
            <a:off x="8206313" y="3714215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9DF57E1-69AD-E5CF-FBF6-4A8872F30BAC}"/>
              </a:ext>
            </a:extLst>
          </p:cNvPr>
          <p:cNvCxnSpPr>
            <a:cxnSpLocks/>
          </p:cNvCxnSpPr>
          <p:nvPr/>
        </p:nvCxnSpPr>
        <p:spPr>
          <a:xfrm flipV="1">
            <a:off x="8193088" y="2590697"/>
            <a:ext cx="376370" cy="169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1D3A75-72D9-33FC-3E9E-DF0FE1086202}"/>
              </a:ext>
            </a:extLst>
          </p:cNvPr>
          <p:cNvCxnSpPr>
            <a:cxnSpLocks/>
          </p:cNvCxnSpPr>
          <p:nvPr/>
        </p:nvCxnSpPr>
        <p:spPr>
          <a:xfrm>
            <a:off x="8196263" y="4841876"/>
            <a:ext cx="373195" cy="1052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78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DDF2C-5540-1EEC-2D8D-F6698952C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D245D043-2B6C-12D1-EF10-D0DB58433575}"/>
              </a:ext>
            </a:extLst>
          </p:cNvPr>
          <p:cNvSpPr txBox="1"/>
          <p:nvPr/>
        </p:nvSpPr>
        <p:spPr>
          <a:xfrm>
            <a:off x="4720638" y="4340936"/>
            <a:ext cx="2615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Set of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Constrained Horn Clauses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 (CHCs)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2294EA-0C7A-66B5-36E1-A839D5275053}"/>
              </a:ext>
            </a:extLst>
          </p:cNvPr>
          <p:cNvCxnSpPr>
            <a:cxnSpLocks/>
          </p:cNvCxnSpPr>
          <p:nvPr/>
        </p:nvCxnSpPr>
        <p:spPr>
          <a:xfrm flipH="1" flipV="1">
            <a:off x="6024032" y="4309836"/>
            <a:ext cx="531" cy="112939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D0AD270-5C93-C500-B13B-CE3D53E7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via CHCs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1B6C3-64DF-C416-04AB-610D07B8D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10359947" y="4042686"/>
            <a:ext cx="1409350" cy="1306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6EB25F-F451-1F96-E403-D0B082000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630878" y="2053167"/>
            <a:ext cx="1306677" cy="1138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083272-EC7E-9CED-9C6F-BC4F3C50C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10359947" y="1877918"/>
            <a:ext cx="1280583" cy="1306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17B37D-7707-D741-0BA3-B6C8C1C30A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630878" y="4044528"/>
            <a:ext cx="1306677" cy="130667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EEEA29-FAD6-97E4-033D-955C85C7AE4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180758" y="3720564"/>
            <a:ext cx="407288" cy="288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8954DE5-95BA-4632-0ACA-11CD0DE60764}"/>
              </a:ext>
            </a:extLst>
          </p:cNvPr>
          <p:cNvSpPr txBox="1"/>
          <p:nvPr/>
        </p:nvSpPr>
        <p:spPr>
          <a:xfrm>
            <a:off x="666179" y="318459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Program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EDFB7E-370E-A229-12A2-E717BCBAD786}"/>
              </a:ext>
            </a:extLst>
          </p:cNvPr>
          <p:cNvSpPr txBox="1"/>
          <p:nvPr/>
        </p:nvSpPr>
        <p:spPr>
          <a:xfrm>
            <a:off x="422703" y="535120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Specification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2E59C4-837C-8C33-5953-4D01068B4A94}"/>
              </a:ext>
            </a:extLst>
          </p:cNvPr>
          <p:cNvSpPr txBox="1"/>
          <p:nvPr/>
        </p:nvSpPr>
        <p:spPr>
          <a:xfrm>
            <a:off x="10640142" y="3183769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Safe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9E2C6D-4AF1-2661-8605-84A3CEE4E6D8}"/>
              </a:ext>
            </a:extLst>
          </p:cNvPr>
          <p:cNvSpPr txBox="1"/>
          <p:nvPr/>
        </p:nvSpPr>
        <p:spPr>
          <a:xfrm>
            <a:off x="10606792" y="5345602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Buggy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CA516A4-1336-90A7-F141-D548BCE4C26E}"/>
              </a:ext>
            </a:extLst>
          </p:cNvPr>
          <p:cNvCxnSpPr>
            <a:cxnSpLocks/>
          </p:cNvCxnSpPr>
          <p:nvPr/>
        </p:nvCxnSpPr>
        <p:spPr>
          <a:xfrm flipV="1">
            <a:off x="1937555" y="2620433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475E06-2A19-A6B0-08FF-49956A38C35A}"/>
              </a:ext>
            </a:extLst>
          </p:cNvPr>
          <p:cNvCxnSpPr>
            <a:cxnSpLocks/>
          </p:cNvCxnSpPr>
          <p:nvPr/>
        </p:nvCxnSpPr>
        <p:spPr>
          <a:xfrm>
            <a:off x="2180758" y="2608263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08E7B86-2B0F-5594-CDE0-7D204C15FA13}"/>
              </a:ext>
            </a:extLst>
          </p:cNvPr>
          <p:cNvCxnSpPr>
            <a:cxnSpLocks/>
          </p:cNvCxnSpPr>
          <p:nvPr/>
        </p:nvCxnSpPr>
        <p:spPr>
          <a:xfrm>
            <a:off x="2180758" y="3720565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2ECD68E-B38B-5233-2D5A-C4A517EC281B}"/>
              </a:ext>
            </a:extLst>
          </p:cNvPr>
          <p:cNvCxnSpPr>
            <a:cxnSpLocks/>
          </p:cNvCxnSpPr>
          <p:nvPr/>
        </p:nvCxnSpPr>
        <p:spPr>
          <a:xfrm>
            <a:off x="1937555" y="4833938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68239AD-C372-8FB3-4859-131D11C510BD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9533464" y="3723450"/>
            <a:ext cx="32516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01C0828-6343-7781-FFEB-9E74A9067036}"/>
              </a:ext>
            </a:extLst>
          </p:cNvPr>
          <p:cNvCxnSpPr>
            <a:cxnSpLocks/>
          </p:cNvCxnSpPr>
          <p:nvPr/>
        </p:nvCxnSpPr>
        <p:spPr>
          <a:xfrm>
            <a:off x="9858632" y="2589707"/>
            <a:ext cx="1331" cy="114726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54DE9A5-03BF-7985-9275-A5B0EF76EA64}"/>
              </a:ext>
            </a:extLst>
          </p:cNvPr>
          <p:cNvCxnSpPr>
            <a:cxnSpLocks/>
          </p:cNvCxnSpPr>
          <p:nvPr/>
        </p:nvCxnSpPr>
        <p:spPr>
          <a:xfrm flipV="1">
            <a:off x="9845407" y="2589707"/>
            <a:ext cx="376370" cy="169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61BD17E-09FA-D9B8-1A30-14400BCBFA6F}"/>
              </a:ext>
            </a:extLst>
          </p:cNvPr>
          <p:cNvCxnSpPr>
            <a:cxnSpLocks/>
          </p:cNvCxnSpPr>
          <p:nvPr/>
        </p:nvCxnSpPr>
        <p:spPr>
          <a:xfrm>
            <a:off x="9848582" y="4840886"/>
            <a:ext cx="373195" cy="1052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F89E56-4C6E-8F1B-0C9A-2E5BB09DE954}"/>
              </a:ext>
            </a:extLst>
          </p:cNvPr>
          <p:cNvSpPr/>
          <p:nvPr/>
        </p:nvSpPr>
        <p:spPr>
          <a:xfrm>
            <a:off x="2588046" y="3305053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B912E94-83F3-7AB5-DBE3-9769B7A1D7C7}"/>
                  </a:ext>
                </a:extLst>
              </p:cNvPr>
              <p:cNvSpPr/>
              <p:nvPr/>
            </p:nvSpPr>
            <p:spPr>
              <a:xfrm>
                <a:off x="4680787" y="3131293"/>
                <a:ext cx="2686489" cy="1178543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&gt;0→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osis" pitchFamily="2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d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&gt;0</m:t>
                          </m:r>
                        </m:e>
                      </m:d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osis" pitchFamily="2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d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∧¬</m:t>
                          </m:r>
                          <m:d>
                            <m:dPr>
                              <m:ctrlP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&gt;0</m:t>
                              </m:r>
                            </m:e>
                          </m:d>
                        </m:e>
                      </m:d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osis" pitchFamily="2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⋮</m:t>
                      </m:r>
                    </m:oMath>
                  </m:oMathPara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osis" pitchFamily="2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B912E94-83F3-7AB5-DBE3-9769B7A1D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787" y="3131293"/>
                <a:ext cx="2686489" cy="117854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A566335-7747-2AD7-4FFB-A36F8BC071C2}"/>
              </a:ext>
            </a:extLst>
          </p:cNvPr>
          <p:cNvSpPr/>
          <p:nvPr/>
        </p:nvSpPr>
        <p:spPr>
          <a:xfrm>
            <a:off x="7843277" y="3305053"/>
            <a:ext cx="1690187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CHC Solver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FB00D1-85F5-CBCA-F251-9E34CAD5E7F5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4204784" y="3720565"/>
            <a:ext cx="476003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A3E90A-B2FE-A6EF-5CD4-8F74094A1D47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367276" y="3720565"/>
            <a:ext cx="476001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2F1852E-0236-9DDA-EE78-5DCCC491D0ED}"/>
              </a:ext>
            </a:extLst>
          </p:cNvPr>
          <p:cNvSpPr txBox="1"/>
          <p:nvPr/>
        </p:nvSpPr>
        <p:spPr>
          <a:xfrm>
            <a:off x="9195466" y="2730536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C5AABE-1273-6297-1F8E-BAE8052B5A30}"/>
              </a:ext>
            </a:extLst>
          </p:cNvPr>
          <p:cNvSpPr txBox="1"/>
          <p:nvPr/>
        </p:nvSpPr>
        <p:spPr>
          <a:xfrm>
            <a:off x="8882410" y="4275253"/>
            <a:ext cx="9935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UNSAT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3296462-8692-CF4E-907B-F4CB7BCF1314}"/>
              </a:ext>
            </a:extLst>
          </p:cNvPr>
          <p:cNvCxnSpPr>
            <a:cxnSpLocks/>
          </p:cNvCxnSpPr>
          <p:nvPr/>
        </p:nvCxnSpPr>
        <p:spPr>
          <a:xfrm>
            <a:off x="9860220" y="3713225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6753A6-AE4D-ED9C-29C3-BE5A60C14283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6024032" y="1818640"/>
            <a:ext cx="0" cy="1312653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03D92F-8CF9-A824-9843-6D8578E305C5}"/>
              </a:ext>
            </a:extLst>
          </p:cNvPr>
          <p:cNvCxnSpPr>
            <a:cxnSpLocks/>
          </p:cNvCxnSpPr>
          <p:nvPr/>
        </p:nvCxnSpPr>
        <p:spPr>
          <a:xfrm flipH="1" flipV="1">
            <a:off x="6026150" y="5067300"/>
            <a:ext cx="1588" cy="89693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EAC245-14BF-9A82-C5C6-95BD9BA01BB3}"/>
              </a:ext>
            </a:extLst>
          </p:cNvPr>
          <p:cNvSpPr txBox="1"/>
          <p:nvPr/>
        </p:nvSpPr>
        <p:spPr>
          <a:xfrm>
            <a:off x="3327456" y="2184539"/>
            <a:ext cx="1306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92278F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Encoding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92278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069BD-1F8A-88CC-0C74-28122ECFBF34}"/>
              </a:ext>
            </a:extLst>
          </p:cNvPr>
          <p:cNvSpPr txBox="1"/>
          <p:nvPr/>
        </p:nvSpPr>
        <p:spPr>
          <a:xfrm>
            <a:off x="7090292" y="2005829"/>
            <a:ext cx="16888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92278F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Satisfiability Checking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92278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EDC11EE-6978-80D7-C53D-3A0587AF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39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6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1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  <p:bldP spid="32" grpId="0"/>
      <p:bldP spid="14" grpId="0" animBg="1"/>
      <p:bldP spid="16" grpId="0" animBg="1"/>
      <p:bldP spid="17" grpId="0" animBg="1"/>
      <p:bldP spid="43" grpId="0"/>
      <p:bldP spid="71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9A58-5A1F-65A4-7418-5286B415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393E-F31F-6F7F-9915-0ED7E9E7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Constrained Horn Clauses (CHCs)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C4C72-2F06-B3C1-D68A-D80432FA6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/>
                  <a:t>A </a:t>
                </a:r>
                <a:r>
                  <a:rPr lang="en-US" sz="2200" b="1" dirty="0">
                    <a:solidFill>
                      <a:srgbClr val="7D6A3B"/>
                    </a:solidFill>
                  </a:rPr>
                  <a:t>constrained Horn clause</a:t>
                </a:r>
                <a:r>
                  <a:rPr lang="en-US" sz="2200" dirty="0"/>
                  <a:t> is a first order logic formula of the form: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w</a:t>
                </a:r>
                <a:r>
                  <a:rPr lang="en-US" sz="2200" b="0" dirty="0"/>
                  <a:t>here</a:t>
                </a:r>
                <a:endParaRPr lang="en-US" sz="2200" dirty="0"/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∧⋯∧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200" b="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ℋ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200" b="0" dirty="0"/>
                  <a:t> is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b="0" dirty="0"/>
                  <a:t> or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200" dirty="0">
                  <a:solidFill>
                    <a:srgbClr val="000000"/>
                  </a:solidFill>
                </a:endParaRPr>
              </a:p>
              <a:p>
                <a:pPr marL="0" lvl="0" indent="0">
                  <a:buNone/>
                </a:pPr>
                <a:endParaRPr lang="en-US" sz="2200" b="0" dirty="0"/>
              </a:p>
              <a:p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0" u="sng" dirty="0"/>
                  <a:t>Example</a:t>
                </a:r>
                <a:r>
                  <a:rPr lang="en-US" sz="2200" b="0" dirty="0"/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 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sz="22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C4C72-2F06-B3C1-D68A-D80432FA6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54" t="-1681" b="-7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151187-51AE-2505-4F27-C9B30F60BA06}"/>
                  </a:ext>
                </a:extLst>
              </p:cNvPr>
              <p:cNvSpPr txBox="1"/>
              <p:nvPr/>
            </p:nvSpPr>
            <p:spPr>
              <a:xfrm>
                <a:off x="3350354" y="2293537"/>
                <a:ext cx="609669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∀</m:t>
                      </m:r>
                      <m:acc>
                        <m:accPr>
                          <m:chr m:val="̅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  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ℬ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ℋ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151187-51AE-2505-4F27-C9B30F60B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354" y="2293537"/>
                <a:ext cx="609669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E3ED96F-0068-5542-1D69-1BED74885934}"/>
              </a:ext>
            </a:extLst>
          </p:cNvPr>
          <p:cNvSpPr txBox="1"/>
          <p:nvPr/>
        </p:nvSpPr>
        <p:spPr>
          <a:xfrm>
            <a:off x="1432446" y="2841647"/>
            <a:ext cx="1665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uninterpreted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predicate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7D6A3B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D50FC-74E3-5C1B-060F-40280A297BB9}"/>
              </a:ext>
            </a:extLst>
          </p:cNvPr>
          <p:cNvSpPr txBox="1"/>
          <p:nvPr/>
        </p:nvSpPr>
        <p:spPr>
          <a:xfrm>
            <a:off x="4261865" y="3162815"/>
            <a:ext cx="134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constraint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7D6A3B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0728F6-EDE5-7C3E-5215-365BE67615EB}"/>
              </a:ext>
            </a:extLst>
          </p:cNvPr>
          <p:cNvSpPr txBox="1"/>
          <p:nvPr/>
        </p:nvSpPr>
        <p:spPr>
          <a:xfrm>
            <a:off x="5768118" y="2693647"/>
            <a:ext cx="772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body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AE9DE1-5A78-EF0D-301E-792888C40ACF}"/>
              </a:ext>
            </a:extLst>
          </p:cNvPr>
          <p:cNvSpPr txBox="1"/>
          <p:nvPr/>
        </p:nvSpPr>
        <p:spPr>
          <a:xfrm>
            <a:off x="6657177" y="2693647"/>
            <a:ext cx="772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solidFill>
                  <a:srgbClr val="7D6A3B"/>
                </a:solidFill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head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7D6A3B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992DACA0-70A0-88FE-910B-4A9CA1572125}"/>
              </a:ext>
            </a:extLst>
          </p:cNvPr>
          <p:cNvSpPr/>
          <p:nvPr/>
        </p:nvSpPr>
        <p:spPr>
          <a:xfrm rot="16200000">
            <a:off x="6112559" y="2417992"/>
            <a:ext cx="83343" cy="533518"/>
          </a:xfrm>
          <a:prstGeom prst="leftBrace">
            <a:avLst/>
          </a:prstGeom>
          <a:noFill/>
          <a:ln>
            <a:solidFill>
              <a:srgbClr val="7D6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4FFD43FD-7DB9-15D2-C2E6-18D67A1C5FCB}"/>
              </a:ext>
            </a:extLst>
          </p:cNvPr>
          <p:cNvSpPr/>
          <p:nvPr/>
        </p:nvSpPr>
        <p:spPr>
          <a:xfrm rot="16200000">
            <a:off x="7001618" y="2417991"/>
            <a:ext cx="83343" cy="533518"/>
          </a:xfrm>
          <a:prstGeom prst="leftBrace">
            <a:avLst/>
          </a:prstGeom>
          <a:noFill/>
          <a:ln>
            <a:solidFill>
              <a:srgbClr val="7D6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9D1334-70CB-FB6C-DCEB-658C340D271E}"/>
              </a:ext>
            </a:extLst>
          </p:cNvPr>
          <p:cNvCxnSpPr>
            <a:cxnSpLocks/>
          </p:cNvCxnSpPr>
          <p:nvPr/>
        </p:nvCxnSpPr>
        <p:spPr>
          <a:xfrm rot="5400000" flipV="1">
            <a:off x="4748659" y="3748787"/>
            <a:ext cx="376370" cy="1691"/>
          </a:xfrm>
          <a:prstGeom prst="line">
            <a:avLst/>
          </a:prstGeom>
          <a:ln w="28575">
            <a:solidFill>
              <a:srgbClr val="7D6A3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E8440B-9DCD-0B46-D538-E702EC6A8EFE}"/>
              </a:ext>
            </a:extLst>
          </p:cNvPr>
          <p:cNvCxnSpPr>
            <a:cxnSpLocks/>
          </p:cNvCxnSpPr>
          <p:nvPr/>
        </p:nvCxnSpPr>
        <p:spPr>
          <a:xfrm rot="5400000" flipV="1">
            <a:off x="2078028" y="3748788"/>
            <a:ext cx="376370" cy="1691"/>
          </a:xfrm>
          <a:prstGeom prst="line">
            <a:avLst/>
          </a:prstGeom>
          <a:ln w="28575">
            <a:solidFill>
              <a:srgbClr val="7D6A3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FF333A1-EB96-0835-598A-FF505DAC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4822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57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4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1E9A-D7E2-07FF-F97A-E8594EE73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04CED-9AA5-43F8-A144-F82DFFE5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An Example Verification Problem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0349A-1B1C-D47E-EB3C-2593D774F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4155367" y="5718874"/>
            <a:ext cx="582219" cy="507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C34E13-AEB5-9C0A-4047-78964B700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r="15450"/>
          <a:stretch>
            <a:fillRect/>
          </a:stretch>
        </p:blipFill>
        <p:spPr>
          <a:xfrm>
            <a:off x="7632521" y="4493988"/>
            <a:ext cx="400396" cy="5829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CD3DA-A0F7-BFEF-F742-42B2C9461315}"/>
                  </a:ext>
                </a:extLst>
              </p:cNvPr>
              <p:cNvSpPr txBox="1"/>
              <p:nvPr/>
            </p:nvSpPr>
            <p:spPr>
              <a:xfrm>
                <a:off x="6618156" y="3344216"/>
                <a:ext cx="2429126" cy="919401"/>
              </a:xfrm>
              <a:prstGeom prst="roundRect">
                <a:avLst/>
              </a:prstGeom>
              <a:solidFill>
                <a:srgbClr val="EFEAD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Pre: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x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Post: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a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b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CD3DA-A0F7-BFEF-F742-42B2C9461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156" y="3344216"/>
                <a:ext cx="2429126" cy="919401"/>
              </a:xfrm>
              <a:prstGeom prst="roundRect">
                <a:avLst/>
              </a:prstGeom>
              <a:blipFill>
                <a:blip r:embed="rId4"/>
                <a:stretch>
                  <a:fillRect l="-2010" t="-2000" b="-8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CD56E2B6-2CD4-11D7-213A-F0E126632C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2" r="19891"/>
          <a:stretch>
            <a:fillRect/>
          </a:stretch>
        </p:blipFill>
        <p:spPr>
          <a:xfrm>
            <a:off x="3231914" y="2008739"/>
            <a:ext cx="2429127" cy="3447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1C8D286-1A7C-7C7A-45B5-45AF7ECE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06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EC233-4AA0-0D4A-377E-45EF8FA5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59B9-66AA-339D-9736-F746CD21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An Example Verification Problem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37BABF-8AC1-A3E4-713B-A14518E5B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527822" y="1806850"/>
            <a:ext cx="582219" cy="507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9BDB2F-B108-D624-CEA4-F7F5BEE00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r="15450"/>
          <a:stretch>
            <a:fillRect/>
          </a:stretch>
        </p:blipFill>
        <p:spPr>
          <a:xfrm>
            <a:off x="618733" y="5611590"/>
            <a:ext cx="400396" cy="5829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46CC49-27A3-E792-AF27-029BC5E14DEE}"/>
                  </a:ext>
                </a:extLst>
              </p:cNvPr>
              <p:cNvSpPr txBox="1"/>
              <p:nvPr/>
            </p:nvSpPr>
            <p:spPr>
              <a:xfrm>
                <a:off x="1381879" y="5368359"/>
                <a:ext cx="2595376" cy="919401"/>
              </a:xfrm>
              <a:prstGeom prst="roundRect">
                <a:avLst/>
              </a:prstGeom>
              <a:solidFill>
                <a:srgbClr val="EFEAD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Pre: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x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Post: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46CC49-27A3-E792-AF27-029BC5E14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879" y="5368359"/>
                <a:ext cx="2595376" cy="919401"/>
              </a:xfrm>
              <a:prstGeom prst="roundRect">
                <a:avLst/>
              </a:prstGeom>
              <a:blipFill>
                <a:blip r:embed="rId4"/>
                <a:stretch>
                  <a:fillRect l="-1882" t="-2000" b="-8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866AD723-59EE-0DF4-6D64-D01740FE5E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2" r="19891"/>
          <a:stretch>
            <a:fillRect/>
          </a:stretch>
        </p:blipFill>
        <p:spPr>
          <a:xfrm>
            <a:off x="1338281" y="1805541"/>
            <a:ext cx="2429127" cy="3447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ECB0E76-0287-87C1-4BBE-6D78580C2B6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286410" y="3947147"/>
            <a:ext cx="30915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B6A002-00A5-B7D7-A630-F56B8942287F}"/>
              </a:ext>
            </a:extLst>
          </p:cNvPr>
          <p:cNvCxnSpPr>
            <a:cxnSpLocks/>
          </p:cNvCxnSpPr>
          <p:nvPr/>
        </p:nvCxnSpPr>
        <p:spPr>
          <a:xfrm flipV="1">
            <a:off x="4043207" y="3528750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769DBB-DAB5-81C1-D672-10C2B9C6E4A6}"/>
              </a:ext>
            </a:extLst>
          </p:cNvPr>
          <p:cNvCxnSpPr>
            <a:cxnSpLocks/>
          </p:cNvCxnSpPr>
          <p:nvPr/>
        </p:nvCxnSpPr>
        <p:spPr>
          <a:xfrm>
            <a:off x="4286410" y="3516580"/>
            <a:ext cx="0" cy="44105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68CAAC-9FDC-DF45-7444-7FD795FD718E}"/>
              </a:ext>
            </a:extLst>
          </p:cNvPr>
          <p:cNvCxnSpPr>
            <a:cxnSpLocks/>
          </p:cNvCxnSpPr>
          <p:nvPr/>
        </p:nvCxnSpPr>
        <p:spPr>
          <a:xfrm>
            <a:off x="4286410" y="3944262"/>
            <a:ext cx="0" cy="1977113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21C0CD-AF23-EFDE-269A-E661623BDA33}"/>
              </a:ext>
            </a:extLst>
          </p:cNvPr>
          <p:cNvCxnSpPr>
            <a:cxnSpLocks/>
          </p:cNvCxnSpPr>
          <p:nvPr/>
        </p:nvCxnSpPr>
        <p:spPr>
          <a:xfrm>
            <a:off x="4044795" y="5907429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8D0FB4-049F-ED52-EF81-CA74092C9821}"/>
              </a:ext>
            </a:extLst>
          </p:cNvPr>
          <p:cNvSpPr/>
          <p:nvPr/>
        </p:nvSpPr>
        <p:spPr>
          <a:xfrm>
            <a:off x="4595566" y="3528750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Encoder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EA2EBE-CA8E-B647-44EA-4B0436A1551C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6212304" y="3944262"/>
            <a:ext cx="309155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22C2E5-4CB4-0F07-70B5-9BE00AD80C67}"/>
                  </a:ext>
                </a:extLst>
              </p:cNvPr>
              <p:cNvSpPr txBox="1"/>
              <p:nvPr/>
            </p:nvSpPr>
            <p:spPr>
              <a:xfrm>
                <a:off x="6521459" y="2762203"/>
                <a:ext cx="5142720" cy="2364117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∧¬</m:t>
                          </m:r>
                          <m:d>
                            <m:dPr>
                              <m:ctrlP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F8EC26-2F80-09F0-3570-3809018DC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459" y="2762203"/>
                <a:ext cx="5142720" cy="236411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459AD7E-0CD1-E9D6-D520-FC4AAF249A60}"/>
              </a:ext>
            </a:extLst>
          </p:cNvPr>
          <p:cNvSpPr txBox="1"/>
          <p:nvPr/>
        </p:nvSpPr>
        <p:spPr>
          <a:xfrm>
            <a:off x="4680968" y="1363394"/>
            <a:ext cx="2830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278F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Encoding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653F88-FF04-4540-F27D-A79A98E04DD2}"/>
              </a:ext>
            </a:extLst>
          </p:cNvPr>
          <p:cNvSpPr txBox="1"/>
          <p:nvPr/>
        </p:nvSpPr>
        <p:spPr>
          <a:xfrm>
            <a:off x="8035266" y="5227925"/>
            <a:ext cx="21151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Set of CHCs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D60B2E-69B7-2C42-B5C1-89CFFD396EA7}"/>
                  </a:ext>
                </a:extLst>
              </p:cNvPr>
              <p:cNvSpPr txBox="1"/>
              <p:nvPr/>
            </p:nvSpPr>
            <p:spPr>
              <a:xfrm>
                <a:off x="601688" y="2830870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2278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I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2278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4AC02C-8875-A951-45C2-CF93C281B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88" y="2830870"/>
                <a:ext cx="434485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D0F329-3B8F-097B-A444-CFCE94DD3AAE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1036173" y="3015536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221339A-4C46-98E5-38E3-8019D7E9B4F7}"/>
                  </a:ext>
                </a:extLst>
              </p:cNvPr>
              <p:cNvSpPr txBox="1"/>
              <p:nvPr/>
            </p:nvSpPr>
            <p:spPr>
              <a:xfrm>
                <a:off x="594641" y="3851898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2278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I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2278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5D7CE54-A810-BCBE-284B-EB66B967B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41" y="3851898"/>
                <a:ext cx="434485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B9E643-25E0-6A4C-39E3-A386D15D15A4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1029126" y="4036564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09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20" grpId="0"/>
      <p:bldP spid="21" grpId="0"/>
      <p:bldP spid="23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278F-095D-C1D2-36A6-630DA5D6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2C50-280B-6962-2A95-BD6B57B1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Derivations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F4A4CA-BDE0-2101-1B93-71A2ED633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602679" y="5145679"/>
            <a:ext cx="573877" cy="5855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970FF9-CEC8-BFFF-2AAF-312CF4C70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602679" y="5850604"/>
            <a:ext cx="579140" cy="5369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8ADFB0-A38D-6369-8680-72F05546B25F}"/>
                  </a:ext>
                </a:extLst>
              </p:cNvPr>
              <p:cNvSpPr txBox="1"/>
              <p:nvPr/>
            </p:nvSpPr>
            <p:spPr>
              <a:xfrm>
                <a:off x="1225980" y="4982907"/>
                <a:ext cx="10515600" cy="1350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Intuitively,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Π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satisfiable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if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all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derivations satisfy the query.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Dually,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Π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475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unsatisfiable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if there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exists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 derivation leading to a query violation.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8ADFB0-A38D-6369-8680-72F05546B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980" y="4982907"/>
                <a:ext cx="10515600" cy="1350947"/>
              </a:xfrm>
              <a:prstGeom prst="rect">
                <a:avLst/>
              </a:prstGeom>
              <a:blipFill>
                <a:blip r:embed="rId5"/>
                <a:stretch>
                  <a:fillRect l="-754" b="-855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2350A9-300F-53F8-161F-AA6236A736BC}"/>
                  </a:ext>
                </a:extLst>
              </p:cNvPr>
              <p:cNvSpPr txBox="1"/>
              <p:nvPr/>
            </p:nvSpPr>
            <p:spPr>
              <a:xfrm>
                <a:off x="1459056" y="1924411"/>
                <a:ext cx="5142720" cy="2364117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∧¬</m:t>
                          </m:r>
                          <m:d>
                            <m:dPr>
                              <m:ctrlP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2350A9-300F-53F8-161F-AA6236A7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056" y="1924411"/>
                <a:ext cx="5142720" cy="236411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3D5BE8E-67C6-FC60-494B-574C47F148D2}"/>
              </a:ext>
            </a:extLst>
          </p:cNvPr>
          <p:cNvSpPr txBox="1"/>
          <p:nvPr/>
        </p:nvSpPr>
        <p:spPr>
          <a:xfrm>
            <a:off x="7135013" y="4390132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Derivation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2DC1CF-BCA1-1836-831A-C3C343137782}"/>
                  </a:ext>
                </a:extLst>
              </p:cNvPr>
              <p:cNvSpPr txBox="1"/>
              <p:nvPr/>
            </p:nvSpPr>
            <p:spPr>
              <a:xfrm>
                <a:off x="7156165" y="2164789"/>
                <a:ext cx="1778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1,0,0</m:t>
                          </m:r>
                        </m:e>
                      </m:d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2DC1CF-BCA1-1836-831A-C3C343137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165" y="2164789"/>
                <a:ext cx="1778000" cy="430887"/>
              </a:xfrm>
              <a:prstGeom prst="rect">
                <a:avLst/>
              </a:prstGeom>
              <a:blipFill>
                <a:blip r:embed="rId7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60A1E4-4B91-1DE8-C70E-9C80F672E857}"/>
                  </a:ext>
                </a:extLst>
              </p:cNvPr>
              <p:cNvSpPr txBox="1"/>
              <p:nvPr/>
            </p:nvSpPr>
            <p:spPr>
              <a:xfrm>
                <a:off x="7156537" y="2923097"/>
                <a:ext cx="1778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1,1,−1</m:t>
                          </m:r>
                        </m:e>
                      </m:d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60A1E4-4B91-1DE8-C70E-9C80F672E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537" y="2923097"/>
                <a:ext cx="1778000" cy="43088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3116A8-2EEA-E111-CDA6-1DCF74A9A696}"/>
                  </a:ext>
                </a:extLst>
              </p:cNvPr>
              <p:cNvSpPr txBox="1"/>
              <p:nvPr/>
            </p:nvSpPr>
            <p:spPr>
              <a:xfrm>
                <a:off x="7156165" y="3681406"/>
                <a:ext cx="1778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1,1,−1</m:t>
                          </m:r>
                        </m:e>
                      </m:d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3116A8-2EEA-E111-CDA6-1DCF74A9A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165" y="3681406"/>
                <a:ext cx="1778000" cy="430887"/>
              </a:xfrm>
              <a:prstGeom prst="rect">
                <a:avLst/>
              </a:prstGeom>
              <a:blipFill>
                <a:blip r:embed="rId9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22DFF5E-CDAC-4F08-4135-7519A99A4DE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045165" y="2595676"/>
            <a:ext cx="372" cy="32742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636F11-C61A-C2D5-9A9E-07170D7DF672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8045165" y="3353984"/>
            <a:ext cx="372" cy="327422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CC2BC95F-59D7-BFD1-46FD-EEC7345158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971" y="2837507"/>
            <a:ext cx="602066" cy="6020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18F9E57-E8AD-DC71-7549-858F44ED5D9A}"/>
                  </a:ext>
                </a:extLst>
              </p:cNvPr>
              <p:cNvSpPr txBox="1"/>
              <p:nvPr/>
            </p:nvSpPr>
            <p:spPr>
              <a:xfrm>
                <a:off x="8933793" y="3681406"/>
                <a:ext cx="1778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1∗−1&lt;0</m:t>
                      </m:r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18F9E57-E8AD-DC71-7549-858F44ED5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793" y="3681406"/>
                <a:ext cx="1778000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E8FDD81-3558-CCC9-96D5-6CC964276267}"/>
              </a:ext>
            </a:extLst>
          </p:cNvPr>
          <p:cNvSpPr txBox="1"/>
          <p:nvPr/>
        </p:nvSpPr>
        <p:spPr>
          <a:xfrm>
            <a:off x="8912641" y="4390132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Query Check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3838DD-8340-868B-DBFA-981564FC4AB8}"/>
                  </a:ext>
                </a:extLst>
              </p:cNvPr>
              <p:cNvSpPr txBox="1"/>
              <p:nvPr/>
            </p:nvSpPr>
            <p:spPr>
              <a:xfrm>
                <a:off x="2972863" y="4420274"/>
                <a:ext cx="2115105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0" lang="en-US" sz="2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Π</m:t>
                      </m:r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3838DD-8340-868B-DBFA-981564FC4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863" y="4420274"/>
                <a:ext cx="211510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C852641A-842F-3B17-B713-2E6E0047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1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8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25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F749-5EB4-2B81-2B36-3680CDC9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ACFD53-4FC6-B06C-6204-423BC01DFB2A}"/>
                  </a:ext>
                </a:extLst>
              </p:cNvPr>
              <p:cNvSpPr txBox="1"/>
              <p:nvPr/>
            </p:nvSpPr>
            <p:spPr>
              <a:xfrm>
                <a:off x="7135013" y="3758896"/>
                <a:ext cx="4061167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↦ 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&gt;0∧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↦ 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&gt;0∧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&lt;0</m:t>
                      </m:r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EC35F1-2E23-4044-540C-2103817CF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013" y="3758896"/>
                <a:ext cx="4061167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D97FFA1-52D6-7194-F858-B81B1E2F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Proving Satisfiability with Interpretations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7134-C8FF-E59B-09F3-6D0DB2D21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Enumerating all derivations is usually infeasible.</a:t>
            </a:r>
          </a:p>
          <a:p>
            <a:pPr marL="0" indent="0">
              <a:buNone/>
            </a:pPr>
            <a:r>
              <a:rPr lang="en-US" sz="2200" dirty="0"/>
              <a:t>Instead, CHC solvers search for symbolic </a:t>
            </a:r>
            <a:r>
              <a:rPr lang="en-US" sz="2200" b="1" dirty="0">
                <a:solidFill>
                  <a:srgbClr val="FF0000"/>
                </a:solidFill>
              </a:rPr>
              <a:t>interpretations</a:t>
            </a:r>
            <a:r>
              <a:rPr lang="en-US" sz="2200" dirty="0"/>
              <a:t> of the uninterpreted predicates that satisfy all CHCs.</a:t>
            </a:r>
            <a:endParaRPr lang="en-IL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D9A122-1B21-825D-D704-BF51602D2DF9}"/>
              </a:ext>
            </a:extLst>
          </p:cNvPr>
          <p:cNvSpPr txBox="1"/>
          <p:nvPr/>
        </p:nvSpPr>
        <p:spPr>
          <a:xfrm>
            <a:off x="6802292" y="5598235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Satisfying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52FCD6-7C98-7D77-6791-1F929A3C1F64}"/>
                  </a:ext>
                </a:extLst>
              </p:cNvPr>
              <p:cNvSpPr txBox="1"/>
              <p:nvPr/>
            </p:nvSpPr>
            <p:spPr>
              <a:xfrm>
                <a:off x="1459056" y="3130836"/>
                <a:ext cx="5142720" cy="2364117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∧¬</m:t>
                          </m:r>
                          <m:d>
                            <m:dPr>
                              <m:ctrlP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d>
                        <m:dPr>
                          <m:ctrlP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F7D787-944D-A901-BCC6-43D87F9D8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056" y="3130836"/>
                <a:ext cx="5142720" cy="236411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D5F6DB7-BC22-F5A3-D6BE-0F0530DFA44B}"/>
              </a:ext>
            </a:extLst>
          </p:cNvPr>
          <p:cNvSpPr txBox="1"/>
          <p:nvPr/>
        </p:nvSpPr>
        <p:spPr>
          <a:xfrm>
            <a:off x="8225057" y="5611876"/>
            <a:ext cx="20237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Interpretation I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B38D12-4A6D-A250-52DE-10ED9AEF42CE}"/>
                  </a:ext>
                </a:extLst>
              </p:cNvPr>
              <p:cNvSpPr txBox="1"/>
              <p:nvPr/>
            </p:nvSpPr>
            <p:spPr>
              <a:xfrm>
                <a:off x="2955066" y="5596698"/>
                <a:ext cx="21507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0" lang="en-US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Π</m:t>
                      </m:r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A6BCD4-E3DC-65B6-0A2C-B83260A03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066" y="5596698"/>
                <a:ext cx="215070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507BBDC2-662A-3C61-06DB-B25736CD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1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A5B62-6C1F-4947-0A7E-6714BBE30F79}"/>
              </a:ext>
            </a:extLst>
          </p:cNvPr>
          <p:cNvSpPr txBox="1"/>
          <p:nvPr/>
        </p:nvSpPr>
        <p:spPr>
          <a:xfrm>
            <a:off x="7060207" y="6007778"/>
            <a:ext cx="3442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I(p)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an inductive invariant!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10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28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OBJECT, SIXTY YEARS APART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Floyd’s obligations are the three CHCs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0F1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  ·  the user supplies Inv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init          →  </a:t>
            </a: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guard ∧ body  →  </a:t>
            </a: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Inv′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¬guard        →  </a:t>
            </a:r>
            <a:r>
              <a:rPr lang="en-US" sz="20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1206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the solver supplies 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x&gt;0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a=0 ∧ b=0   →  </a:t>
            </a: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p(x,a,b)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p(x,a,b)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a&lt;x  →  </a:t>
            </a: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p(x,a+1,b−1)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p(x,a,b)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¬(a&lt;x) →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a*b&lt;0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three obligations — only who produces the invariant changed.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2C086-1E55-F1FE-1CE1-E67C9C45C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06C8-929B-8851-2C72-62767EDC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Program Verification via CHCs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AEEE6-EE73-EAF1-3FD4-7E6D9341C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10359947" y="4042686"/>
            <a:ext cx="1409350" cy="1306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F3E255-8A2A-E447-47EF-0A7CE0D9D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630878" y="2053167"/>
            <a:ext cx="1306677" cy="1138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AAF9C1-DDA8-92D6-F8B4-612809F4E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10359947" y="1877918"/>
            <a:ext cx="1280583" cy="1306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F649D5-1FBE-66EE-9635-3B39F695B4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630878" y="4044528"/>
            <a:ext cx="1306677" cy="130667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AF6263-F8DF-880D-2D04-088DBCDD3FC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180758" y="3720564"/>
            <a:ext cx="407288" cy="288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3C41760-AB5C-4D77-4404-AD294B659DD7}"/>
              </a:ext>
            </a:extLst>
          </p:cNvPr>
          <p:cNvSpPr txBox="1"/>
          <p:nvPr/>
        </p:nvSpPr>
        <p:spPr>
          <a:xfrm>
            <a:off x="666179" y="318459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Program</a:t>
            </a:r>
            <a:endParaRPr lang="en-US" sz="2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CB9347-C545-B051-8F71-776F84F261ED}"/>
              </a:ext>
            </a:extLst>
          </p:cNvPr>
          <p:cNvSpPr txBox="1"/>
          <p:nvPr/>
        </p:nvSpPr>
        <p:spPr>
          <a:xfrm>
            <a:off x="422703" y="535120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Specification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17CFFD-4035-E219-A862-2B16C549FB96}"/>
              </a:ext>
            </a:extLst>
          </p:cNvPr>
          <p:cNvSpPr txBox="1"/>
          <p:nvPr/>
        </p:nvSpPr>
        <p:spPr>
          <a:xfrm>
            <a:off x="10640142" y="3183769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Safe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AEFCF5-57D2-43DA-C9BC-3AF21C987022}"/>
              </a:ext>
            </a:extLst>
          </p:cNvPr>
          <p:cNvSpPr txBox="1"/>
          <p:nvPr/>
        </p:nvSpPr>
        <p:spPr>
          <a:xfrm>
            <a:off x="10606792" y="5345602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Buggy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A605F4A-86C3-CA7C-FB9C-8420F7061766}"/>
              </a:ext>
            </a:extLst>
          </p:cNvPr>
          <p:cNvCxnSpPr>
            <a:cxnSpLocks/>
          </p:cNvCxnSpPr>
          <p:nvPr/>
        </p:nvCxnSpPr>
        <p:spPr>
          <a:xfrm flipV="1">
            <a:off x="1937555" y="2620433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6DF0F0-69CC-0F26-ECC6-B6430DE2032A}"/>
              </a:ext>
            </a:extLst>
          </p:cNvPr>
          <p:cNvCxnSpPr>
            <a:cxnSpLocks/>
          </p:cNvCxnSpPr>
          <p:nvPr/>
        </p:nvCxnSpPr>
        <p:spPr>
          <a:xfrm>
            <a:off x="2180758" y="2608263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573F345-B650-E62F-5865-F757D08C4483}"/>
              </a:ext>
            </a:extLst>
          </p:cNvPr>
          <p:cNvCxnSpPr>
            <a:cxnSpLocks/>
          </p:cNvCxnSpPr>
          <p:nvPr/>
        </p:nvCxnSpPr>
        <p:spPr>
          <a:xfrm>
            <a:off x="2180758" y="3720565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483CD99-6371-2809-635D-3BD5EB540AA5}"/>
              </a:ext>
            </a:extLst>
          </p:cNvPr>
          <p:cNvCxnSpPr>
            <a:cxnSpLocks/>
          </p:cNvCxnSpPr>
          <p:nvPr/>
        </p:nvCxnSpPr>
        <p:spPr>
          <a:xfrm>
            <a:off x="1937555" y="4833938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D458E02-A5E9-B4EF-5A70-1CE0AD13EB2C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9533464" y="3723450"/>
            <a:ext cx="32516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CEBF4C1-D5C9-937F-1FC9-955D9918BEB4}"/>
              </a:ext>
            </a:extLst>
          </p:cNvPr>
          <p:cNvCxnSpPr>
            <a:cxnSpLocks/>
          </p:cNvCxnSpPr>
          <p:nvPr/>
        </p:nvCxnSpPr>
        <p:spPr>
          <a:xfrm>
            <a:off x="9858632" y="2589707"/>
            <a:ext cx="1331" cy="114726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B55B946-6C3C-694F-D810-CCC3C6A96271}"/>
              </a:ext>
            </a:extLst>
          </p:cNvPr>
          <p:cNvCxnSpPr>
            <a:cxnSpLocks/>
          </p:cNvCxnSpPr>
          <p:nvPr/>
        </p:nvCxnSpPr>
        <p:spPr>
          <a:xfrm flipV="1">
            <a:off x="9845407" y="2589707"/>
            <a:ext cx="376370" cy="169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1EB601C-60E5-1379-43FB-E1256976BB01}"/>
              </a:ext>
            </a:extLst>
          </p:cNvPr>
          <p:cNvCxnSpPr>
            <a:cxnSpLocks/>
          </p:cNvCxnSpPr>
          <p:nvPr/>
        </p:nvCxnSpPr>
        <p:spPr>
          <a:xfrm>
            <a:off x="9848582" y="4840886"/>
            <a:ext cx="373195" cy="1052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9E7E26-82FB-1A34-A770-A73831813F0F}"/>
              </a:ext>
            </a:extLst>
          </p:cNvPr>
          <p:cNvSpPr/>
          <p:nvPr/>
        </p:nvSpPr>
        <p:spPr>
          <a:xfrm>
            <a:off x="2588046" y="3305053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09463EF-5FA4-AEAE-173D-401EA10A3F80}"/>
                  </a:ext>
                </a:extLst>
              </p:cNvPr>
              <p:cNvSpPr/>
              <p:nvPr/>
            </p:nvSpPr>
            <p:spPr>
              <a:xfrm>
                <a:off x="4680787" y="3131293"/>
                <a:ext cx="2686489" cy="1178543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&gt;0→</m:t>
                      </m:r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Dosis" pitchFamily="2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Dosis" pitchFamily="2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d>
                        </m:e>
                      </m:d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Dosis" pitchFamily="2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B912E94-83F3-7AB5-DBE3-9769B7A1D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787" y="3131293"/>
                <a:ext cx="2686489" cy="117854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22ADF7-344C-BC87-A9DE-A59D8641E119}"/>
              </a:ext>
            </a:extLst>
          </p:cNvPr>
          <p:cNvSpPr/>
          <p:nvPr/>
        </p:nvSpPr>
        <p:spPr>
          <a:xfrm>
            <a:off x="7843277" y="3305053"/>
            <a:ext cx="1690187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CHC Solver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6BFB76A-1907-E114-F948-23DD32B35EC4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4204784" y="3720565"/>
            <a:ext cx="476003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17EA73-0875-564A-FF23-F920FC596345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367276" y="3720565"/>
            <a:ext cx="476001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B061488-A26E-4CA6-B8C3-016E7E364449}"/>
              </a:ext>
            </a:extLst>
          </p:cNvPr>
          <p:cNvSpPr txBox="1"/>
          <p:nvPr/>
        </p:nvSpPr>
        <p:spPr>
          <a:xfrm>
            <a:off x="9195466" y="2730536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326C49F-BAE2-4A8B-37E3-9168C31FEB7D}"/>
              </a:ext>
            </a:extLst>
          </p:cNvPr>
          <p:cNvSpPr txBox="1"/>
          <p:nvPr/>
        </p:nvSpPr>
        <p:spPr>
          <a:xfrm>
            <a:off x="8882410" y="4275253"/>
            <a:ext cx="9935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UNSAT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69F435C-83CB-B07C-BF88-43E74D06C799}"/>
              </a:ext>
            </a:extLst>
          </p:cNvPr>
          <p:cNvCxnSpPr>
            <a:cxnSpLocks/>
          </p:cNvCxnSpPr>
          <p:nvPr/>
        </p:nvCxnSpPr>
        <p:spPr>
          <a:xfrm>
            <a:off x="9860220" y="3713225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0A4815-A0A0-B35A-D429-F4153C49C47F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6024032" y="1818640"/>
            <a:ext cx="0" cy="1312653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ECB5C10-2014-931E-B3CF-D3EC973C45E3}"/>
              </a:ext>
            </a:extLst>
          </p:cNvPr>
          <p:cNvSpPr txBox="1"/>
          <p:nvPr/>
        </p:nvSpPr>
        <p:spPr>
          <a:xfrm>
            <a:off x="3327456" y="2184539"/>
            <a:ext cx="1306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Dosis" pitchFamily="2" charset="0"/>
              </a:rPr>
              <a:t>Encoding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A38DCF-436F-FCB5-80AA-055D63288E1D}"/>
              </a:ext>
            </a:extLst>
          </p:cNvPr>
          <p:cNvSpPr txBox="1"/>
          <p:nvPr/>
        </p:nvSpPr>
        <p:spPr>
          <a:xfrm>
            <a:off x="7090292" y="2005829"/>
            <a:ext cx="16888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Dosis" pitchFamily="2" charset="0"/>
              </a:rPr>
              <a:t>Satisfiability Checking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68C0EE-DBB2-995F-37A8-492EA8D5C3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734" y="2089516"/>
            <a:ext cx="602066" cy="6020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33DB01-8AB7-4E9D-092E-59DA7D7DB2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141" y="2086215"/>
            <a:ext cx="602066" cy="6020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05BF4104-210D-B12A-1CC7-97D91BBDEDFB}"/>
                  </a:ext>
                </a:extLst>
              </p:cNvPr>
              <p:cNvSpPr/>
              <p:nvPr/>
            </p:nvSpPr>
            <p:spPr>
              <a:xfrm>
                <a:off x="7843276" y="4703874"/>
                <a:ext cx="1690187" cy="1971712"/>
              </a:xfrm>
              <a:prstGeom prst="roundRect">
                <a:avLst/>
              </a:prstGeom>
              <a:solidFill>
                <a:srgbClr val="EFEADD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Dosis" pitchFamily="2" charset="0"/>
                  </a:rPr>
                  <a:t>Spacer</a:t>
                </a:r>
              </a:p>
              <a:p>
                <a:pPr algn="ctr"/>
                <a:r>
                  <a:rPr lang="en-US" sz="2400" dirty="0" err="1">
                    <a:solidFill>
                      <a:schemeClr val="tx1"/>
                    </a:solidFill>
                    <a:latin typeface="Dosis" pitchFamily="2" charset="0"/>
                  </a:rPr>
                  <a:t>Eldarica</a:t>
                </a:r>
                <a:endParaRPr lang="en-US" sz="2400" dirty="0">
                  <a:solidFill>
                    <a:schemeClr val="tx1"/>
                  </a:solidFill>
                  <a:latin typeface="Dosis" pitchFamily="2" charset="0"/>
                </a:endParaRPr>
              </a:p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Dosis" pitchFamily="2" charset="0"/>
                  </a:rPr>
                  <a:t>Golem</a:t>
                </a:r>
              </a:p>
              <a:p>
                <a:pPr algn="ctr"/>
                <a:r>
                  <a:rPr lang="en-US" sz="2400" dirty="0" err="1">
                    <a:solidFill>
                      <a:schemeClr val="tx1"/>
                    </a:solidFill>
                    <a:latin typeface="Dosis" pitchFamily="2" charset="0"/>
                  </a:rPr>
                  <a:t>FreqHorn</a:t>
                </a:r>
                <a:endParaRPr lang="en-US" sz="2400" dirty="0">
                  <a:solidFill>
                    <a:schemeClr val="tx1"/>
                  </a:solidFill>
                  <a:latin typeface="Dosis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05BF4104-210D-B12A-1CC7-97D91BBDE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276" y="4703874"/>
                <a:ext cx="1690187" cy="1971712"/>
              </a:xfrm>
              <a:prstGeom prst="roundRect">
                <a:avLst/>
              </a:prstGeom>
              <a:blipFill>
                <a:blip r:embed="rId8"/>
                <a:stretch>
                  <a:fillRect t="-920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5E1102-0B89-46DF-F1A2-64C27F9626BB}"/>
              </a:ext>
            </a:extLst>
          </p:cNvPr>
          <p:cNvCxnSpPr>
            <a:cxnSpLocks/>
            <a:stCxn id="10" idx="0"/>
            <a:endCxn id="17" idx="2"/>
          </p:cNvCxnSpPr>
          <p:nvPr/>
        </p:nvCxnSpPr>
        <p:spPr>
          <a:xfrm flipV="1">
            <a:off x="8688370" y="4141847"/>
            <a:ext cx="1" cy="562027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97FD90E-2FDE-6E2F-F3B7-A14B9E55BC7D}"/>
              </a:ext>
            </a:extLst>
          </p:cNvPr>
          <p:cNvSpPr txBox="1"/>
          <p:nvPr/>
        </p:nvSpPr>
        <p:spPr>
          <a:xfrm>
            <a:off x="4717237" y="4310734"/>
            <a:ext cx="26154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CHC set</a:t>
            </a:r>
            <a:endParaRPr lang="en-US" sz="22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114301-CB88-648E-36C3-9A3EB8760211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6024966" y="4741621"/>
            <a:ext cx="2772" cy="122261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1">
            <a:extLst>
              <a:ext uri="{FF2B5EF4-FFF2-40B4-BE49-F238E27FC236}">
                <a16:creationId xmlns:a16="http://schemas.microsoft.com/office/drawing/2014/main" id="{359F091B-69E2-5294-F182-9501DD29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1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9598512-AA03-4E60-A115-A4A9F8177A4D}" type="slidenum">
              <a:rPr lang="en-US" sz="1600" b="1" smtClean="0">
                <a:solidFill>
                  <a:srgbClr val="005888"/>
                </a:solidFill>
              </a:rPr>
              <a:pPr/>
              <a:t>21</a:t>
            </a:fld>
            <a:endParaRPr lang="en-US" sz="1600" b="1" dirty="0">
              <a:solidFill>
                <a:srgbClr val="005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88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716D4-AA77-4D0C-BD9A-2B8B37EA2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10180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</p:txBody>
      </p:sp>
      <p:sp>
        <p:nvSpPr>
          <p:cNvPr id="200" name="Google Shape;10131;p76">
            <a:extLst>
              <a:ext uri="{FF2B5EF4-FFF2-40B4-BE49-F238E27FC236}">
                <a16:creationId xmlns:a16="http://schemas.microsoft.com/office/drawing/2014/main" id="{6B6EF397-955A-3744-7174-B9CDD4A33DC7}"/>
              </a:ext>
            </a:extLst>
          </p:cNvPr>
          <p:cNvSpPr/>
          <p:nvPr/>
        </p:nvSpPr>
        <p:spPr>
          <a:xfrm rot="18847813">
            <a:off x="3289763" y="2041266"/>
            <a:ext cx="253925" cy="248810"/>
          </a:xfrm>
          <a:custGeom>
            <a:avLst/>
            <a:gdLst/>
            <a:ahLst/>
            <a:cxnLst/>
            <a:rect l="l" t="t" r="r" b="b"/>
            <a:pathLst>
              <a:path w="9104" h="8774" extrusionOk="0">
                <a:moveTo>
                  <a:pt x="7232" y="1143"/>
                </a:moveTo>
                <a:cubicBezTo>
                  <a:pt x="7377" y="1143"/>
                  <a:pt x="7522" y="1198"/>
                  <a:pt x="7633" y="1308"/>
                </a:cubicBezTo>
                <a:cubicBezTo>
                  <a:pt x="7851" y="1528"/>
                  <a:pt x="7854" y="1882"/>
                  <a:pt x="7639" y="2102"/>
                </a:cubicBezTo>
                <a:lnTo>
                  <a:pt x="5755" y="3986"/>
                </a:lnTo>
                <a:cubicBezTo>
                  <a:pt x="5532" y="4210"/>
                  <a:pt x="5532" y="4566"/>
                  <a:pt x="5755" y="4789"/>
                </a:cubicBezTo>
                <a:lnTo>
                  <a:pt x="7639" y="6673"/>
                </a:lnTo>
                <a:cubicBezTo>
                  <a:pt x="7854" y="6894"/>
                  <a:pt x="7851" y="7247"/>
                  <a:pt x="7633" y="7468"/>
                </a:cubicBezTo>
                <a:cubicBezTo>
                  <a:pt x="7522" y="7577"/>
                  <a:pt x="7377" y="7633"/>
                  <a:pt x="7232" y="7633"/>
                </a:cubicBezTo>
                <a:cubicBezTo>
                  <a:pt x="7090" y="7633"/>
                  <a:pt x="6948" y="7580"/>
                  <a:pt x="6839" y="7474"/>
                </a:cubicBezTo>
                <a:lnTo>
                  <a:pt x="6830" y="7468"/>
                </a:lnTo>
                <a:lnTo>
                  <a:pt x="4946" y="5650"/>
                </a:lnTo>
                <a:cubicBezTo>
                  <a:pt x="4836" y="5544"/>
                  <a:pt x="4695" y="5491"/>
                  <a:pt x="4554" y="5491"/>
                </a:cubicBezTo>
                <a:cubicBezTo>
                  <a:pt x="4412" y="5491"/>
                  <a:pt x="4271" y="5544"/>
                  <a:pt x="4161" y="5650"/>
                </a:cubicBezTo>
                <a:lnTo>
                  <a:pt x="2277" y="7468"/>
                </a:lnTo>
                <a:lnTo>
                  <a:pt x="2268" y="7474"/>
                </a:lnTo>
                <a:cubicBezTo>
                  <a:pt x="2159" y="7580"/>
                  <a:pt x="2017" y="7633"/>
                  <a:pt x="1875" y="7633"/>
                </a:cubicBezTo>
                <a:cubicBezTo>
                  <a:pt x="1730" y="7633"/>
                  <a:pt x="1585" y="7577"/>
                  <a:pt x="1474" y="7468"/>
                </a:cubicBezTo>
                <a:cubicBezTo>
                  <a:pt x="1256" y="7247"/>
                  <a:pt x="1253" y="6894"/>
                  <a:pt x="1468" y="6673"/>
                </a:cubicBezTo>
                <a:lnTo>
                  <a:pt x="3352" y="4789"/>
                </a:lnTo>
                <a:cubicBezTo>
                  <a:pt x="3575" y="4566"/>
                  <a:pt x="3575" y="4210"/>
                  <a:pt x="3352" y="3986"/>
                </a:cubicBezTo>
                <a:lnTo>
                  <a:pt x="1468" y="2102"/>
                </a:lnTo>
                <a:cubicBezTo>
                  <a:pt x="1253" y="1882"/>
                  <a:pt x="1256" y="1528"/>
                  <a:pt x="1474" y="1308"/>
                </a:cubicBezTo>
                <a:cubicBezTo>
                  <a:pt x="1585" y="1198"/>
                  <a:pt x="1730" y="1143"/>
                  <a:pt x="1875" y="1143"/>
                </a:cubicBezTo>
                <a:cubicBezTo>
                  <a:pt x="2017" y="1143"/>
                  <a:pt x="2159" y="1196"/>
                  <a:pt x="2268" y="1302"/>
                </a:cubicBezTo>
                <a:lnTo>
                  <a:pt x="2277" y="1308"/>
                </a:lnTo>
                <a:lnTo>
                  <a:pt x="4161" y="3126"/>
                </a:lnTo>
                <a:cubicBezTo>
                  <a:pt x="4271" y="3231"/>
                  <a:pt x="4412" y="3284"/>
                  <a:pt x="4554" y="3284"/>
                </a:cubicBezTo>
                <a:cubicBezTo>
                  <a:pt x="4695" y="3284"/>
                  <a:pt x="4836" y="3231"/>
                  <a:pt x="4946" y="3126"/>
                </a:cubicBezTo>
                <a:lnTo>
                  <a:pt x="6830" y="1308"/>
                </a:lnTo>
                <a:lnTo>
                  <a:pt x="6839" y="1302"/>
                </a:lnTo>
                <a:cubicBezTo>
                  <a:pt x="6948" y="1196"/>
                  <a:pt x="7090" y="1143"/>
                  <a:pt x="7232" y="1143"/>
                </a:cubicBezTo>
                <a:close/>
                <a:moveTo>
                  <a:pt x="1865" y="0"/>
                </a:moveTo>
                <a:cubicBezTo>
                  <a:pt x="1430" y="0"/>
                  <a:pt x="995" y="166"/>
                  <a:pt x="664" y="499"/>
                </a:cubicBezTo>
                <a:cubicBezTo>
                  <a:pt x="0" y="1163"/>
                  <a:pt x="3" y="2241"/>
                  <a:pt x="667" y="2902"/>
                </a:cubicBezTo>
                <a:lnTo>
                  <a:pt x="2153" y="4388"/>
                </a:lnTo>
                <a:lnTo>
                  <a:pt x="667" y="5873"/>
                </a:lnTo>
                <a:cubicBezTo>
                  <a:pt x="0" y="6535"/>
                  <a:pt x="0" y="7610"/>
                  <a:pt x="661" y="8274"/>
                </a:cubicBezTo>
                <a:cubicBezTo>
                  <a:pt x="995" y="8607"/>
                  <a:pt x="1431" y="8774"/>
                  <a:pt x="1868" y="8774"/>
                </a:cubicBezTo>
                <a:cubicBezTo>
                  <a:pt x="2301" y="8774"/>
                  <a:pt x="2734" y="8609"/>
                  <a:pt x="3065" y="8280"/>
                </a:cubicBezTo>
                <a:lnTo>
                  <a:pt x="4554" y="6846"/>
                </a:lnTo>
                <a:lnTo>
                  <a:pt x="6042" y="8280"/>
                </a:lnTo>
                <a:cubicBezTo>
                  <a:pt x="6373" y="8609"/>
                  <a:pt x="6806" y="8774"/>
                  <a:pt x="7239" y="8774"/>
                </a:cubicBezTo>
                <a:cubicBezTo>
                  <a:pt x="7675" y="8774"/>
                  <a:pt x="8111" y="8607"/>
                  <a:pt x="8443" y="8274"/>
                </a:cubicBezTo>
                <a:cubicBezTo>
                  <a:pt x="9104" y="7610"/>
                  <a:pt x="9104" y="6535"/>
                  <a:pt x="8440" y="5873"/>
                </a:cubicBezTo>
                <a:lnTo>
                  <a:pt x="6957" y="4388"/>
                </a:lnTo>
                <a:lnTo>
                  <a:pt x="8440" y="2902"/>
                </a:lnTo>
                <a:cubicBezTo>
                  <a:pt x="8760" y="2585"/>
                  <a:pt x="8938" y="2153"/>
                  <a:pt x="8938" y="1703"/>
                </a:cubicBezTo>
                <a:cubicBezTo>
                  <a:pt x="8938" y="1018"/>
                  <a:pt x="8524" y="399"/>
                  <a:pt x="7893" y="133"/>
                </a:cubicBezTo>
                <a:cubicBezTo>
                  <a:pt x="7682" y="46"/>
                  <a:pt x="7460" y="3"/>
                  <a:pt x="7239" y="3"/>
                </a:cubicBezTo>
                <a:cubicBezTo>
                  <a:pt x="6799" y="3"/>
                  <a:pt x="6366" y="174"/>
                  <a:pt x="6042" y="496"/>
                </a:cubicBezTo>
                <a:lnTo>
                  <a:pt x="4554" y="1930"/>
                </a:lnTo>
                <a:lnTo>
                  <a:pt x="3065" y="496"/>
                </a:lnTo>
                <a:cubicBezTo>
                  <a:pt x="2733" y="165"/>
                  <a:pt x="2299" y="0"/>
                  <a:pt x="1865" y="0"/>
                </a:cubicBezTo>
                <a:close/>
              </a:path>
            </a:pathLst>
          </a:custGeom>
          <a:solidFill>
            <a:srgbClr val="01597F"/>
          </a:solidFill>
          <a:ln w="9525" cap="flat">
            <a:noFill/>
            <a:prstDash val="solid"/>
            <a:miter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</a:pPr>
            <a:endParaRPr sz="1400" kern="0">
              <a:solidFill>
                <a:srgbClr val="435D74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01" name="Google Shape;11769;p82">
            <a:extLst>
              <a:ext uri="{FF2B5EF4-FFF2-40B4-BE49-F238E27FC236}">
                <a16:creationId xmlns:a16="http://schemas.microsoft.com/office/drawing/2014/main" id="{2EED2428-CC20-2866-8343-814A3506828C}"/>
              </a:ext>
            </a:extLst>
          </p:cNvPr>
          <p:cNvGrpSpPr/>
          <p:nvPr/>
        </p:nvGrpSpPr>
        <p:grpSpPr>
          <a:xfrm>
            <a:off x="2434158" y="1864491"/>
            <a:ext cx="683577" cy="598559"/>
            <a:chOff x="-3137650" y="2787000"/>
            <a:chExt cx="291450" cy="257575"/>
          </a:xfrm>
        </p:grpSpPr>
        <p:sp>
          <p:nvSpPr>
            <p:cNvPr id="202" name="Google Shape;11770;p82">
              <a:extLst>
                <a:ext uri="{FF2B5EF4-FFF2-40B4-BE49-F238E27FC236}">
                  <a16:creationId xmlns:a16="http://schemas.microsoft.com/office/drawing/2014/main" id="{90D26DEC-AA18-86F3-0AAD-210AB116E15E}"/>
                </a:ext>
              </a:extLst>
            </p:cNvPr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" name="Google Shape;11771;p82">
              <a:extLst>
                <a:ext uri="{FF2B5EF4-FFF2-40B4-BE49-F238E27FC236}">
                  <a16:creationId xmlns:a16="http://schemas.microsoft.com/office/drawing/2014/main" id="{301AC39B-7692-3F9C-70FF-7D6C488FF97B}"/>
                </a:ext>
              </a:extLst>
            </p:cNvPr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" name="Google Shape;11772;p82">
              <a:extLst>
                <a:ext uri="{FF2B5EF4-FFF2-40B4-BE49-F238E27FC236}">
                  <a16:creationId xmlns:a16="http://schemas.microsoft.com/office/drawing/2014/main" id="{6DEB9ABE-2733-A7B4-A869-0CACB45DEDC2}"/>
                </a:ext>
              </a:extLst>
            </p:cNvPr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" name="Google Shape;11773;p82">
              <a:extLst>
                <a:ext uri="{FF2B5EF4-FFF2-40B4-BE49-F238E27FC236}">
                  <a16:creationId xmlns:a16="http://schemas.microsoft.com/office/drawing/2014/main" id="{B937AD28-B251-CBB9-3096-3A7B6D6DE6C0}"/>
                </a:ext>
              </a:extLst>
            </p:cNvPr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" name="Google Shape;11774;p82">
              <a:extLst>
                <a:ext uri="{FF2B5EF4-FFF2-40B4-BE49-F238E27FC236}">
                  <a16:creationId xmlns:a16="http://schemas.microsoft.com/office/drawing/2014/main" id="{04D95173-6583-6D89-4C65-3DF5C22D0BEA}"/>
                </a:ext>
              </a:extLst>
            </p:cNvPr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" name="Google Shape;11775;p82">
              <a:extLst>
                <a:ext uri="{FF2B5EF4-FFF2-40B4-BE49-F238E27FC236}">
                  <a16:creationId xmlns:a16="http://schemas.microsoft.com/office/drawing/2014/main" id="{AB84AD6C-2A9E-F347-82E5-E29C424A7B9C}"/>
                </a:ext>
              </a:extLst>
            </p:cNvPr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" name="Google Shape;11776;p82">
              <a:extLst>
                <a:ext uri="{FF2B5EF4-FFF2-40B4-BE49-F238E27FC236}">
                  <a16:creationId xmlns:a16="http://schemas.microsoft.com/office/drawing/2014/main" id="{6948C003-2484-80CC-6AA6-8D6967AE2253}"/>
                </a:ext>
              </a:extLst>
            </p:cNvPr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" name="Google Shape;11777;p82">
              <a:extLst>
                <a:ext uri="{FF2B5EF4-FFF2-40B4-BE49-F238E27FC236}">
                  <a16:creationId xmlns:a16="http://schemas.microsoft.com/office/drawing/2014/main" id="{27459ADB-A8D6-E004-0D66-5889E93B1AE8}"/>
                </a:ext>
              </a:extLst>
            </p:cNvPr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10920;p79">
            <a:extLst>
              <a:ext uri="{FF2B5EF4-FFF2-40B4-BE49-F238E27FC236}">
                <a16:creationId xmlns:a16="http://schemas.microsoft.com/office/drawing/2014/main" id="{34FF4D16-EECA-55B6-B4CE-635FA1FB4F20}"/>
              </a:ext>
            </a:extLst>
          </p:cNvPr>
          <p:cNvGrpSpPr/>
          <p:nvPr/>
        </p:nvGrpSpPr>
        <p:grpSpPr>
          <a:xfrm>
            <a:off x="3715717" y="1847089"/>
            <a:ext cx="600073" cy="606004"/>
            <a:chOff x="-31166825" y="1939525"/>
            <a:chExt cx="293800" cy="291425"/>
          </a:xfrm>
        </p:grpSpPr>
        <p:sp>
          <p:nvSpPr>
            <p:cNvPr id="211" name="Google Shape;10921;p79">
              <a:extLst>
                <a:ext uri="{FF2B5EF4-FFF2-40B4-BE49-F238E27FC236}">
                  <a16:creationId xmlns:a16="http://schemas.microsoft.com/office/drawing/2014/main" id="{9D7BBFAB-4BE8-6D22-77EE-4B16A3F07BD1}"/>
                </a:ext>
              </a:extLst>
            </p:cNvPr>
            <p:cNvSpPr/>
            <p:nvPr/>
          </p:nvSpPr>
          <p:spPr>
            <a:xfrm>
              <a:off x="-31166825" y="1939525"/>
              <a:ext cx="224500" cy="291425"/>
            </a:xfrm>
            <a:custGeom>
              <a:avLst/>
              <a:gdLst/>
              <a:ahLst/>
              <a:cxnLst/>
              <a:rect l="l" t="t" r="r" b="b"/>
              <a:pathLst>
                <a:path w="8980" h="11657" extrusionOk="0">
                  <a:moveTo>
                    <a:pt x="5892" y="662"/>
                  </a:moveTo>
                  <a:cubicBezTo>
                    <a:pt x="6081" y="662"/>
                    <a:pt x="6239" y="819"/>
                    <a:pt x="6239" y="1040"/>
                  </a:cubicBezTo>
                  <a:lnTo>
                    <a:pt x="6239" y="1386"/>
                  </a:lnTo>
                  <a:lnTo>
                    <a:pt x="2805" y="1386"/>
                  </a:lnTo>
                  <a:lnTo>
                    <a:pt x="2805" y="1040"/>
                  </a:lnTo>
                  <a:cubicBezTo>
                    <a:pt x="2805" y="819"/>
                    <a:pt x="2962" y="662"/>
                    <a:pt x="3120" y="662"/>
                  </a:cubicBezTo>
                  <a:close/>
                  <a:moveTo>
                    <a:pt x="8035" y="1323"/>
                  </a:moveTo>
                  <a:cubicBezTo>
                    <a:pt x="8255" y="1323"/>
                    <a:pt x="8413" y="1512"/>
                    <a:pt x="8413" y="1701"/>
                  </a:cubicBezTo>
                  <a:lnTo>
                    <a:pt x="8413" y="10617"/>
                  </a:lnTo>
                  <a:cubicBezTo>
                    <a:pt x="8413" y="10838"/>
                    <a:pt x="8255" y="10995"/>
                    <a:pt x="8035" y="10995"/>
                  </a:cubicBezTo>
                  <a:lnTo>
                    <a:pt x="1166" y="10995"/>
                  </a:lnTo>
                  <a:cubicBezTo>
                    <a:pt x="946" y="10995"/>
                    <a:pt x="788" y="10838"/>
                    <a:pt x="788" y="10617"/>
                  </a:cubicBezTo>
                  <a:lnTo>
                    <a:pt x="788" y="1701"/>
                  </a:lnTo>
                  <a:lnTo>
                    <a:pt x="757" y="1701"/>
                  </a:lnTo>
                  <a:cubicBezTo>
                    <a:pt x="757" y="1512"/>
                    <a:pt x="914" y="1323"/>
                    <a:pt x="1103" y="1323"/>
                  </a:cubicBezTo>
                  <a:lnTo>
                    <a:pt x="2143" y="1323"/>
                  </a:lnTo>
                  <a:lnTo>
                    <a:pt x="2143" y="1701"/>
                  </a:lnTo>
                  <a:cubicBezTo>
                    <a:pt x="2143" y="1890"/>
                    <a:pt x="2301" y="2048"/>
                    <a:pt x="2490" y="2048"/>
                  </a:cubicBezTo>
                  <a:lnTo>
                    <a:pt x="6617" y="2048"/>
                  </a:lnTo>
                  <a:cubicBezTo>
                    <a:pt x="6837" y="2048"/>
                    <a:pt x="6995" y="1890"/>
                    <a:pt x="6995" y="1701"/>
                  </a:cubicBezTo>
                  <a:lnTo>
                    <a:pt x="6995" y="1323"/>
                  </a:lnTo>
                  <a:close/>
                  <a:moveTo>
                    <a:pt x="3120" y="0"/>
                  </a:moveTo>
                  <a:cubicBezTo>
                    <a:pt x="2679" y="0"/>
                    <a:pt x="2301" y="284"/>
                    <a:pt x="2143" y="662"/>
                  </a:cubicBezTo>
                  <a:lnTo>
                    <a:pt x="1040" y="662"/>
                  </a:lnTo>
                  <a:cubicBezTo>
                    <a:pt x="473" y="662"/>
                    <a:pt x="1" y="1134"/>
                    <a:pt x="1" y="1701"/>
                  </a:cubicBezTo>
                  <a:lnTo>
                    <a:pt x="1" y="10649"/>
                  </a:lnTo>
                  <a:cubicBezTo>
                    <a:pt x="64" y="11216"/>
                    <a:pt x="536" y="11657"/>
                    <a:pt x="1072" y="11657"/>
                  </a:cubicBezTo>
                  <a:lnTo>
                    <a:pt x="7971" y="11657"/>
                  </a:lnTo>
                  <a:cubicBezTo>
                    <a:pt x="8507" y="11657"/>
                    <a:pt x="8980" y="11184"/>
                    <a:pt x="8980" y="10649"/>
                  </a:cubicBezTo>
                  <a:lnTo>
                    <a:pt x="8980" y="1701"/>
                  </a:lnTo>
                  <a:cubicBezTo>
                    <a:pt x="8980" y="1134"/>
                    <a:pt x="8507" y="662"/>
                    <a:pt x="7971" y="662"/>
                  </a:cubicBezTo>
                  <a:lnTo>
                    <a:pt x="6869" y="662"/>
                  </a:lnTo>
                  <a:cubicBezTo>
                    <a:pt x="6711" y="284"/>
                    <a:pt x="6365" y="0"/>
                    <a:pt x="5892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" name="Google Shape;10922;p79">
              <a:extLst>
                <a:ext uri="{FF2B5EF4-FFF2-40B4-BE49-F238E27FC236}">
                  <a16:creationId xmlns:a16="http://schemas.microsoft.com/office/drawing/2014/main" id="{C8D78D21-17B4-71A0-71C3-E5D4F647904F}"/>
                </a:ext>
              </a:extLst>
            </p:cNvPr>
            <p:cNvSpPr/>
            <p:nvPr/>
          </p:nvSpPr>
          <p:spPr>
            <a:xfrm>
              <a:off x="-31131375" y="214507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6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6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4"/>
                  </a:lnTo>
                  <a:cubicBezTo>
                    <a:pt x="0" y="1954"/>
                    <a:pt x="158" y="2112"/>
                    <a:pt x="379" y="2112"/>
                  </a:cubicBezTo>
                  <a:lnTo>
                    <a:pt x="1733" y="2112"/>
                  </a:lnTo>
                  <a:cubicBezTo>
                    <a:pt x="1954" y="2112"/>
                    <a:pt x="2111" y="1954"/>
                    <a:pt x="2111" y="1734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" name="Google Shape;10923;p79">
              <a:extLst>
                <a:ext uri="{FF2B5EF4-FFF2-40B4-BE49-F238E27FC236}">
                  <a16:creationId xmlns:a16="http://schemas.microsoft.com/office/drawing/2014/main" id="{CF095E61-1A51-B5F6-B095-BA3899290C6D}"/>
                </a:ext>
              </a:extLst>
            </p:cNvPr>
            <p:cNvSpPr/>
            <p:nvPr/>
          </p:nvSpPr>
          <p:spPr>
            <a:xfrm>
              <a:off x="-31131375" y="207655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55" y="694"/>
                  </a:moveTo>
                  <a:lnTo>
                    <a:pt x="1355" y="1356"/>
                  </a:lnTo>
                  <a:lnTo>
                    <a:pt x="694" y="1356"/>
                  </a:lnTo>
                  <a:lnTo>
                    <a:pt x="694" y="694"/>
                  </a:lnTo>
                  <a:close/>
                  <a:moveTo>
                    <a:pt x="379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79" y="2080"/>
                  </a:cubicBezTo>
                  <a:lnTo>
                    <a:pt x="1733" y="2080"/>
                  </a:lnTo>
                  <a:cubicBezTo>
                    <a:pt x="1954" y="2080"/>
                    <a:pt x="2111" y="1923"/>
                    <a:pt x="2111" y="1734"/>
                  </a:cubicBezTo>
                  <a:lnTo>
                    <a:pt x="2111" y="348"/>
                  </a:ln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" name="Google Shape;10924;p79">
              <a:extLst>
                <a:ext uri="{FF2B5EF4-FFF2-40B4-BE49-F238E27FC236}">
                  <a16:creationId xmlns:a16="http://schemas.microsoft.com/office/drawing/2014/main" id="{B23011F7-66F4-C042-7840-003B26A0F8BC}"/>
                </a:ext>
              </a:extLst>
            </p:cNvPr>
            <p:cNvSpPr/>
            <p:nvPr/>
          </p:nvSpPr>
          <p:spPr>
            <a:xfrm>
              <a:off x="-31131375" y="20072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5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5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79" y="2111"/>
                  </a:cubicBezTo>
                  <a:lnTo>
                    <a:pt x="1733" y="2111"/>
                  </a:lnTo>
                  <a:cubicBezTo>
                    <a:pt x="1954" y="2111"/>
                    <a:pt x="2111" y="1954"/>
                    <a:pt x="2111" y="1733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" name="Google Shape;10925;p79">
              <a:extLst>
                <a:ext uri="{FF2B5EF4-FFF2-40B4-BE49-F238E27FC236}">
                  <a16:creationId xmlns:a16="http://schemas.microsoft.com/office/drawing/2014/main" id="{924BA25A-E125-EAD7-EFEF-734832EA1FD6}"/>
                </a:ext>
              </a:extLst>
            </p:cNvPr>
            <p:cNvSpPr/>
            <p:nvPr/>
          </p:nvSpPr>
          <p:spPr>
            <a:xfrm>
              <a:off x="-31062075" y="2007250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057" y="725"/>
                  </a:lnTo>
                  <a:cubicBezTo>
                    <a:pt x="3277" y="725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" name="Google Shape;10926;p79">
              <a:extLst>
                <a:ext uri="{FF2B5EF4-FFF2-40B4-BE49-F238E27FC236}">
                  <a16:creationId xmlns:a16="http://schemas.microsoft.com/office/drawing/2014/main" id="{398DA3CB-2F96-359D-8F0B-FADFEBF87D5E}"/>
                </a:ext>
              </a:extLst>
            </p:cNvPr>
            <p:cNvSpPr/>
            <p:nvPr/>
          </p:nvSpPr>
          <p:spPr>
            <a:xfrm>
              <a:off x="-31062075" y="2041900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" name="Google Shape;10927;p79">
              <a:extLst>
                <a:ext uri="{FF2B5EF4-FFF2-40B4-BE49-F238E27FC236}">
                  <a16:creationId xmlns:a16="http://schemas.microsoft.com/office/drawing/2014/main" id="{FFE11190-1B2D-4186-EDCB-F098BF689836}"/>
                </a:ext>
              </a:extLst>
            </p:cNvPr>
            <p:cNvSpPr/>
            <p:nvPr/>
          </p:nvSpPr>
          <p:spPr>
            <a:xfrm>
              <a:off x="-31062075" y="2076550"/>
              <a:ext cx="85875" cy="17375"/>
            </a:xfrm>
            <a:custGeom>
              <a:avLst/>
              <a:gdLst/>
              <a:ahLst/>
              <a:cxnLst/>
              <a:rect l="l" t="t" r="r" b="b"/>
              <a:pathLst>
                <a:path w="3435" h="695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3057" y="694"/>
                  </a:lnTo>
                  <a:cubicBezTo>
                    <a:pt x="3277" y="694"/>
                    <a:pt x="3435" y="537"/>
                    <a:pt x="3435" y="348"/>
                  </a:cubicBezTo>
                  <a:cubicBezTo>
                    <a:pt x="3435" y="159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" name="Google Shape;10928;p79">
              <a:extLst>
                <a:ext uri="{FF2B5EF4-FFF2-40B4-BE49-F238E27FC236}">
                  <a16:creationId xmlns:a16="http://schemas.microsoft.com/office/drawing/2014/main" id="{F231B124-8AD2-9B13-5E10-0052C9C58B8A}"/>
                </a:ext>
              </a:extLst>
            </p:cNvPr>
            <p:cNvSpPr/>
            <p:nvPr/>
          </p:nvSpPr>
          <p:spPr>
            <a:xfrm>
              <a:off x="-31062075" y="21104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90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" name="Google Shape;10929;p79">
              <a:extLst>
                <a:ext uri="{FF2B5EF4-FFF2-40B4-BE49-F238E27FC236}">
                  <a16:creationId xmlns:a16="http://schemas.microsoft.com/office/drawing/2014/main" id="{8D66CAFF-F6F4-112A-457D-69548B1B844C}"/>
                </a:ext>
              </a:extLst>
            </p:cNvPr>
            <p:cNvSpPr/>
            <p:nvPr/>
          </p:nvSpPr>
          <p:spPr>
            <a:xfrm>
              <a:off x="-31062075" y="2145075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3057" y="726"/>
                  </a:lnTo>
                  <a:cubicBezTo>
                    <a:pt x="3277" y="726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" name="Google Shape;10930;p79">
              <a:extLst>
                <a:ext uri="{FF2B5EF4-FFF2-40B4-BE49-F238E27FC236}">
                  <a16:creationId xmlns:a16="http://schemas.microsoft.com/office/drawing/2014/main" id="{E58CC59F-1107-37E7-AB07-6AC9567EF50A}"/>
                </a:ext>
              </a:extLst>
            </p:cNvPr>
            <p:cNvSpPr/>
            <p:nvPr/>
          </p:nvSpPr>
          <p:spPr>
            <a:xfrm>
              <a:off x="-31062075" y="2179750"/>
              <a:ext cx="52025" cy="18125"/>
            </a:xfrm>
            <a:custGeom>
              <a:avLst/>
              <a:gdLst/>
              <a:ahLst/>
              <a:cxnLst/>
              <a:rect l="l" t="t" r="r" b="b"/>
              <a:pathLst>
                <a:path w="2081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7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" name="Google Shape;10931;p79">
              <a:extLst>
                <a:ext uri="{FF2B5EF4-FFF2-40B4-BE49-F238E27FC236}">
                  <a16:creationId xmlns:a16="http://schemas.microsoft.com/office/drawing/2014/main" id="{7BF58761-A7CF-9398-2E4B-E09FC1455951}"/>
                </a:ext>
              </a:extLst>
            </p:cNvPr>
            <p:cNvSpPr/>
            <p:nvPr/>
          </p:nvSpPr>
          <p:spPr>
            <a:xfrm>
              <a:off x="-30924225" y="1974175"/>
              <a:ext cx="51200" cy="240250"/>
            </a:xfrm>
            <a:custGeom>
              <a:avLst/>
              <a:gdLst/>
              <a:ahLst/>
              <a:cxnLst/>
              <a:rect l="l" t="t" r="r" b="b"/>
              <a:pathLst>
                <a:path w="2048" h="9610" extrusionOk="0">
                  <a:moveTo>
                    <a:pt x="1008" y="662"/>
                  </a:moveTo>
                  <a:cubicBezTo>
                    <a:pt x="1229" y="662"/>
                    <a:pt x="1386" y="819"/>
                    <a:pt x="1386" y="1009"/>
                  </a:cubicBezTo>
                  <a:lnTo>
                    <a:pt x="1386" y="2080"/>
                  </a:lnTo>
                  <a:lnTo>
                    <a:pt x="725" y="2080"/>
                  </a:lnTo>
                  <a:lnTo>
                    <a:pt x="725" y="1009"/>
                  </a:lnTo>
                  <a:lnTo>
                    <a:pt x="662" y="1009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1323" y="2741"/>
                  </a:moveTo>
                  <a:lnTo>
                    <a:pt x="1323" y="6900"/>
                  </a:lnTo>
                  <a:lnTo>
                    <a:pt x="662" y="6900"/>
                  </a:lnTo>
                  <a:lnTo>
                    <a:pt x="662" y="2741"/>
                  </a:lnTo>
                  <a:close/>
                  <a:moveTo>
                    <a:pt x="1260" y="7562"/>
                  </a:moveTo>
                  <a:lnTo>
                    <a:pt x="1008" y="8192"/>
                  </a:lnTo>
                  <a:lnTo>
                    <a:pt x="819" y="7562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7215"/>
                  </a:lnTo>
                  <a:lnTo>
                    <a:pt x="0" y="7309"/>
                  </a:lnTo>
                  <a:lnTo>
                    <a:pt x="662" y="9357"/>
                  </a:lnTo>
                  <a:cubicBezTo>
                    <a:pt x="693" y="9515"/>
                    <a:pt x="819" y="9609"/>
                    <a:pt x="977" y="9609"/>
                  </a:cubicBezTo>
                  <a:cubicBezTo>
                    <a:pt x="1134" y="9609"/>
                    <a:pt x="1260" y="9515"/>
                    <a:pt x="1292" y="9357"/>
                  </a:cubicBezTo>
                  <a:lnTo>
                    <a:pt x="1954" y="7309"/>
                  </a:lnTo>
                  <a:lnTo>
                    <a:pt x="1954" y="7215"/>
                  </a:lnTo>
                  <a:lnTo>
                    <a:pt x="1954" y="1009"/>
                  </a:lnTo>
                  <a:cubicBezTo>
                    <a:pt x="2048" y="441"/>
                    <a:pt x="1576" y="0"/>
                    <a:pt x="1008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095367D-8713-8B10-CA11-E6568A8819BD}"/>
              </a:ext>
            </a:extLst>
          </p:cNvPr>
          <p:cNvSpPr txBox="1"/>
          <p:nvPr/>
        </p:nvSpPr>
        <p:spPr>
          <a:xfrm>
            <a:off x="5879112" y="3134662"/>
            <a:ext cx="1175522" cy="7694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01597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set of CHCs</a:t>
            </a:r>
            <a:endParaRPr lang="he-IL" sz="2200" dirty="0">
              <a:solidFill>
                <a:srgbClr val="01597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7881F-A676-9B41-2267-6B172BB287A7}"/>
              </a:ext>
            </a:extLst>
          </p:cNvPr>
          <p:cNvSpPr txBox="1"/>
          <p:nvPr/>
        </p:nvSpPr>
        <p:spPr>
          <a:xfrm>
            <a:off x="8531620" y="2767704"/>
            <a:ext cx="726178" cy="4308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</a:t>
            </a:r>
            <a:endParaRPr lang="he-IL" sz="2200"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0E700-016A-2AC6-EA62-7E79CA149648}"/>
              </a:ext>
            </a:extLst>
          </p:cNvPr>
          <p:cNvSpPr txBox="1"/>
          <p:nvPr/>
        </p:nvSpPr>
        <p:spPr>
          <a:xfrm>
            <a:off x="8348523" y="3849729"/>
            <a:ext cx="1097280" cy="4308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UNSAT</a:t>
            </a:r>
            <a:endParaRPr lang="he-IL" sz="2200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Google Shape;10126;p76">
            <a:extLst>
              <a:ext uri="{FF2B5EF4-FFF2-40B4-BE49-F238E27FC236}">
                <a16:creationId xmlns:a16="http://schemas.microsoft.com/office/drawing/2014/main" id="{EA3B0490-BC3F-A6A4-5468-1E72E9B97013}"/>
              </a:ext>
            </a:extLst>
          </p:cNvPr>
          <p:cNvGrpSpPr/>
          <p:nvPr/>
        </p:nvGrpSpPr>
        <p:grpSpPr>
          <a:xfrm>
            <a:off x="9447489" y="2775294"/>
            <a:ext cx="412325" cy="423296"/>
            <a:chOff x="1487200" y="4993750"/>
            <a:chExt cx="483125" cy="483125"/>
          </a:xfrm>
          <a:solidFill>
            <a:srgbClr val="00B050"/>
          </a:solidFill>
        </p:grpSpPr>
        <p:sp>
          <p:nvSpPr>
            <p:cNvPr id="7" name="Google Shape;10127;p76">
              <a:extLst>
                <a:ext uri="{FF2B5EF4-FFF2-40B4-BE49-F238E27FC236}">
                  <a16:creationId xmlns:a16="http://schemas.microsoft.com/office/drawing/2014/main" id="{E46256BE-C630-42A4-ED62-9AE471DD46F4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" name="Google Shape;10128;p76">
              <a:extLst>
                <a:ext uri="{FF2B5EF4-FFF2-40B4-BE49-F238E27FC236}">
                  <a16:creationId xmlns:a16="http://schemas.microsoft.com/office/drawing/2014/main" id="{23F9C38B-66B5-4FE1-75FA-C116A5F6DE22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" name="Google Shape;10129;p76">
            <a:extLst>
              <a:ext uri="{FF2B5EF4-FFF2-40B4-BE49-F238E27FC236}">
                <a16:creationId xmlns:a16="http://schemas.microsoft.com/office/drawing/2014/main" id="{7AA67F16-7382-8D33-E891-8431A412A1A9}"/>
              </a:ext>
            </a:extLst>
          </p:cNvPr>
          <p:cNvGrpSpPr/>
          <p:nvPr/>
        </p:nvGrpSpPr>
        <p:grpSpPr>
          <a:xfrm>
            <a:off x="9445803" y="3839736"/>
            <a:ext cx="414010" cy="423296"/>
            <a:chOff x="2081650" y="4993750"/>
            <a:chExt cx="483125" cy="483125"/>
          </a:xfrm>
          <a:solidFill>
            <a:schemeClr val="accent5"/>
          </a:solidFill>
        </p:grpSpPr>
        <p:sp>
          <p:nvSpPr>
            <p:cNvPr id="10" name="Google Shape;10130;p76">
              <a:extLst>
                <a:ext uri="{FF2B5EF4-FFF2-40B4-BE49-F238E27FC236}">
                  <a16:creationId xmlns:a16="http://schemas.microsoft.com/office/drawing/2014/main" id="{CCA85837-BD14-1D82-6E0E-6B0DF825FC17}"/>
                </a:ext>
              </a:extLst>
            </p:cNvPr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10131;p76">
              <a:extLst>
                <a:ext uri="{FF2B5EF4-FFF2-40B4-BE49-F238E27FC236}">
                  <a16:creationId xmlns:a16="http://schemas.microsoft.com/office/drawing/2014/main" id="{A903345D-5257-235E-52BB-B781000BEC09}"/>
                </a:ext>
              </a:extLst>
            </p:cNvPr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E29DD3-507D-5C13-50C3-100D2E392ABF}"/>
              </a:ext>
            </a:extLst>
          </p:cNvPr>
          <p:cNvCxnSpPr>
            <a:cxnSpLocks/>
          </p:cNvCxnSpPr>
          <p:nvPr/>
        </p:nvCxnSpPr>
        <p:spPr>
          <a:xfrm flipV="1">
            <a:off x="7197163" y="3038493"/>
            <a:ext cx="1035251" cy="424174"/>
          </a:xfrm>
          <a:prstGeom prst="straightConnector1">
            <a:avLst/>
          </a:prstGeom>
          <a:noFill/>
          <a:ln w="38100" cap="flat" cmpd="sng" algn="ctr">
            <a:solidFill>
              <a:srgbClr val="01597F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0B278B-941B-296A-DD68-C09742BDA2E7}"/>
              </a:ext>
            </a:extLst>
          </p:cNvPr>
          <p:cNvCxnSpPr>
            <a:cxnSpLocks/>
          </p:cNvCxnSpPr>
          <p:nvPr/>
        </p:nvCxnSpPr>
        <p:spPr>
          <a:xfrm>
            <a:off x="7197163" y="3578211"/>
            <a:ext cx="1035251" cy="427890"/>
          </a:xfrm>
          <a:prstGeom prst="straightConnector1">
            <a:avLst/>
          </a:prstGeom>
          <a:noFill/>
          <a:ln w="38100" cap="flat" cmpd="sng" algn="ctr">
            <a:solidFill>
              <a:srgbClr val="01597F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8F8B76-BF03-1068-A7D3-FE86FE65E42E}"/>
              </a:ext>
            </a:extLst>
          </p:cNvPr>
          <p:cNvCxnSpPr>
            <a:cxnSpLocks/>
          </p:cNvCxnSpPr>
          <p:nvPr/>
        </p:nvCxnSpPr>
        <p:spPr>
          <a:xfrm>
            <a:off x="4667250" y="2202468"/>
            <a:ext cx="1019672" cy="1101265"/>
          </a:xfrm>
          <a:prstGeom prst="straightConnector1">
            <a:avLst/>
          </a:prstGeom>
          <a:noFill/>
          <a:ln w="38100" cap="flat" cmpd="sng" algn="ctr">
            <a:solidFill>
              <a:srgbClr val="01597F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BCC9E40-144E-73BE-7D18-970B34A2B2FB}"/>
              </a:ext>
            </a:extLst>
          </p:cNvPr>
          <p:cNvSpPr txBox="1"/>
          <p:nvPr/>
        </p:nvSpPr>
        <p:spPr>
          <a:xfrm>
            <a:off x="2260787" y="2507244"/>
            <a:ext cx="1024107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</a:t>
            </a:r>
            <a:endParaRPr lang="he-IL" sz="1650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53F85F-C152-21B2-596C-350256313176}"/>
              </a:ext>
            </a:extLst>
          </p:cNvPr>
          <p:cNvSpPr txBox="1"/>
          <p:nvPr/>
        </p:nvSpPr>
        <p:spPr>
          <a:xfrm>
            <a:off x="3329042" y="2507244"/>
            <a:ext cx="1233698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</a:t>
            </a:r>
            <a:endParaRPr lang="he-IL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" name="Google Shape;11369;p80">
            <a:extLst>
              <a:ext uri="{FF2B5EF4-FFF2-40B4-BE49-F238E27FC236}">
                <a16:creationId xmlns:a16="http://schemas.microsoft.com/office/drawing/2014/main" id="{C3D6C15D-BD0B-420F-253A-868E5B01BA2B}"/>
              </a:ext>
            </a:extLst>
          </p:cNvPr>
          <p:cNvGrpSpPr/>
          <p:nvPr/>
        </p:nvGrpSpPr>
        <p:grpSpPr>
          <a:xfrm>
            <a:off x="2455608" y="3103960"/>
            <a:ext cx="632740" cy="641124"/>
            <a:chOff x="-44528075" y="1982825"/>
            <a:chExt cx="300900" cy="301700"/>
          </a:xfrm>
        </p:grpSpPr>
        <p:sp>
          <p:nvSpPr>
            <p:cNvPr id="20" name="Google Shape;11370;p80">
              <a:extLst>
                <a:ext uri="{FF2B5EF4-FFF2-40B4-BE49-F238E27FC236}">
                  <a16:creationId xmlns:a16="http://schemas.microsoft.com/office/drawing/2014/main" id="{AA67B1FE-C84B-99D4-E7F4-73F03FD3F86E}"/>
                </a:ext>
              </a:extLst>
            </p:cNvPr>
            <p:cNvSpPr/>
            <p:nvPr/>
          </p:nvSpPr>
          <p:spPr>
            <a:xfrm>
              <a:off x="-44528075" y="1982825"/>
              <a:ext cx="300900" cy="301700"/>
            </a:xfrm>
            <a:custGeom>
              <a:avLst/>
              <a:gdLst/>
              <a:ahLst/>
              <a:cxnLst/>
              <a:rect l="l" t="t" r="r" b="b"/>
              <a:pathLst>
                <a:path w="12036" h="12068" extrusionOk="0">
                  <a:moveTo>
                    <a:pt x="9547" y="2175"/>
                  </a:moveTo>
                  <a:cubicBezTo>
                    <a:pt x="9736" y="2175"/>
                    <a:pt x="9893" y="2332"/>
                    <a:pt x="9893" y="2521"/>
                  </a:cubicBezTo>
                  <a:lnTo>
                    <a:pt x="9893" y="9547"/>
                  </a:lnTo>
                  <a:cubicBezTo>
                    <a:pt x="9893" y="9736"/>
                    <a:pt x="9736" y="9893"/>
                    <a:pt x="9547" y="9893"/>
                  </a:cubicBezTo>
                  <a:lnTo>
                    <a:pt x="2552" y="9893"/>
                  </a:lnTo>
                  <a:cubicBezTo>
                    <a:pt x="2332" y="9893"/>
                    <a:pt x="2206" y="9736"/>
                    <a:pt x="2206" y="9547"/>
                  </a:cubicBezTo>
                  <a:lnTo>
                    <a:pt x="2206" y="2521"/>
                  </a:lnTo>
                  <a:cubicBezTo>
                    <a:pt x="2206" y="2332"/>
                    <a:pt x="2332" y="2175"/>
                    <a:pt x="2552" y="21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9"/>
                  </a:lnTo>
                  <a:lnTo>
                    <a:pt x="2458" y="1419"/>
                  </a:lnTo>
                  <a:cubicBezTo>
                    <a:pt x="1891" y="1419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2"/>
                    <a:pt x="1" y="4601"/>
                  </a:cubicBezTo>
                  <a:cubicBezTo>
                    <a:pt x="1" y="4821"/>
                    <a:pt x="158" y="4979"/>
                    <a:pt x="347" y="4979"/>
                  </a:cubicBezTo>
                  <a:lnTo>
                    <a:pt x="1418" y="4979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90"/>
                  </a:lnTo>
                  <a:lnTo>
                    <a:pt x="347" y="7090"/>
                  </a:lnTo>
                  <a:cubicBezTo>
                    <a:pt x="158" y="7090"/>
                    <a:pt x="1" y="7247"/>
                    <a:pt x="1" y="7436"/>
                  </a:cubicBezTo>
                  <a:cubicBezTo>
                    <a:pt x="1" y="7657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50"/>
                    <a:pt x="2458" y="10650"/>
                  </a:cubicBezTo>
                  <a:lnTo>
                    <a:pt x="2836" y="10650"/>
                  </a:lnTo>
                  <a:lnTo>
                    <a:pt x="2836" y="11689"/>
                  </a:lnTo>
                  <a:cubicBezTo>
                    <a:pt x="2836" y="11910"/>
                    <a:pt x="2994" y="12067"/>
                    <a:pt x="3183" y="12067"/>
                  </a:cubicBezTo>
                  <a:cubicBezTo>
                    <a:pt x="3372" y="12067"/>
                    <a:pt x="3529" y="11910"/>
                    <a:pt x="3529" y="11689"/>
                  </a:cubicBezTo>
                  <a:lnTo>
                    <a:pt x="3529" y="10555"/>
                  </a:lnTo>
                  <a:lnTo>
                    <a:pt x="4254" y="10555"/>
                  </a:lnTo>
                  <a:lnTo>
                    <a:pt x="4254" y="11626"/>
                  </a:lnTo>
                  <a:cubicBezTo>
                    <a:pt x="4254" y="11815"/>
                    <a:pt x="4411" y="11973"/>
                    <a:pt x="4600" y="11973"/>
                  </a:cubicBezTo>
                  <a:cubicBezTo>
                    <a:pt x="4789" y="11973"/>
                    <a:pt x="4947" y="11815"/>
                    <a:pt x="4947" y="11626"/>
                  </a:cubicBezTo>
                  <a:lnTo>
                    <a:pt x="4947" y="10555"/>
                  </a:lnTo>
                  <a:lnTo>
                    <a:pt x="5671" y="10555"/>
                  </a:lnTo>
                  <a:lnTo>
                    <a:pt x="5671" y="11626"/>
                  </a:lnTo>
                  <a:cubicBezTo>
                    <a:pt x="5671" y="11815"/>
                    <a:pt x="5829" y="11973"/>
                    <a:pt x="6018" y="11973"/>
                  </a:cubicBezTo>
                  <a:cubicBezTo>
                    <a:pt x="6207" y="11973"/>
                    <a:pt x="6365" y="11815"/>
                    <a:pt x="6365" y="11626"/>
                  </a:cubicBezTo>
                  <a:lnTo>
                    <a:pt x="6365" y="10555"/>
                  </a:lnTo>
                  <a:lnTo>
                    <a:pt x="7089" y="10555"/>
                  </a:lnTo>
                  <a:lnTo>
                    <a:pt x="7089" y="11626"/>
                  </a:lnTo>
                  <a:cubicBezTo>
                    <a:pt x="7089" y="11815"/>
                    <a:pt x="7247" y="11973"/>
                    <a:pt x="7436" y="11973"/>
                  </a:cubicBezTo>
                  <a:cubicBezTo>
                    <a:pt x="7625" y="11973"/>
                    <a:pt x="7782" y="11815"/>
                    <a:pt x="7782" y="11626"/>
                  </a:cubicBezTo>
                  <a:lnTo>
                    <a:pt x="7782" y="10555"/>
                  </a:lnTo>
                  <a:lnTo>
                    <a:pt x="8507" y="10555"/>
                  </a:lnTo>
                  <a:lnTo>
                    <a:pt x="8507" y="11626"/>
                  </a:lnTo>
                  <a:cubicBezTo>
                    <a:pt x="8507" y="11815"/>
                    <a:pt x="8664" y="11973"/>
                    <a:pt x="8853" y="11973"/>
                  </a:cubicBezTo>
                  <a:cubicBezTo>
                    <a:pt x="9042" y="11973"/>
                    <a:pt x="9200" y="11815"/>
                    <a:pt x="9200" y="11626"/>
                  </a:cubicBezTo>
                  <a:lnTo>
                    <a:pt x="9200" y="10555"/>
                  </a:lnTo>
                  <a:lnTo>
                    <a:pt x="9547" y="10555"/>
                  </a:lnTo>
                  <a:cubicBezTo>
                    <a:pt x="10145" y="10555"/>
                    <a:pt x="10618" y="10082"/>
                    <a:pt x="10618" y="9484"/>
                  </a:cubicBezTo>
                  <a:lnTo>
                    <a:pt x="10618" y="9137"/>
                  </a:lnTo>
                  <a:lnTo>
                    <a:pt x="11689" y="9137"/>
                  </a:lnTo>
                  <a:cubicBezTo>
                    <a:pt x="11878" y="9137"/>
                    <a:pt x="12035" y="8980"/>
                    <a:pt x="12035" y="8791"/>
                  </a:cubicBezTo>
                  <a:cubicBezTo>
                    <a:pt x="12035" y="8602"/>
                    <a:pt x="11878" y="8444"/>
                    <a:pt x="11689" y="8444"/>
                  </a:cubicBezTo>
                  <a:lnTo>
                    <a:pt x="10618" y="8444"/>
                  </a:lnTo>
                  <a:lnTo>
                    <a:pt x="10618" y="7720"/>
                  </a:lnTo>
                  <a:lnTo>
                    <a:pt x="11689" y="7720"/>
                  </a:lnTo>
                  <a:cubicBezTo>
                    <a:pt x="11878" y="7720"/>
                    <a:pt x="12035" y="7562"/>
                    <a:pt x="12035" y="7373"/>
                  </a:cubicBezTo>
                  <a:cubicBezTo>
                    <a:pt x="12035" y="7153"/>
                    <a:pt x="11878" y="6995"/>
                    <a:pt x="11689" y="6995"/>
                  </a:cubicBezTo>
                  <a:lnTo>
                    <a:pt x="10618" y="6995"/>
                  </a:lnTo>
                  <a:lnTo>
                    <a:pt x="10618" y="6302"/>
                  </a:lnTo>
                  <a:lnTo>
                    <a:pt x="11689" y="6302"/>
                  </a:lnTo>
                  <a:cubicBezTo>
                    <a:pt x="11878" y="6302"/>
                    <a:pt x="12035" y="6144"/>
                    <a:pt x="12035" y="5955"/>
                  </a:cubicBezTo>
                  <a:cubicBezTo>
                    <a:pt x="12035" y="5735"/>
                    <a:pt x="11878" y="5577"/>
                    <a:pt x="11689" y="5577"/>
                  </a:cubicBezTo>
                  <a:lnTo>
                    <a:pt x="10618" y="5577"/>
                  </a:lnTo>
                  <a:lnTo>
                    <a:pt x="10618" y="4884"/>
                  </a:lnTo>
                  <a:lnTo>
                    <a:pt x="11689" y="4884"/>
                  </a:lnTo>
                  <a:lnTo>
                    <a:pt x="11689" y="4979"/>
                  </a:lnTo>
                  <a:cubicBezTo>
                    <a:pt x="11878" y="4979"/>
                    <a:pt x="12035" y="4821"/>
                    <a:pt x="12035" y="4601"/>
                  </a:cubicBezTo>
                  <a:cubicBezTo>
                    <a:pt x="12035" y="4412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5" y="3372"/>
                    <a:pt x="12035" y="3183"/>
                  </a:cubicBezTo>
                  <a:cubicBezTo>
                    <a:pt x="12035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9"/>
                    <a:pt x="9547" y="1419"/>
                  </a:cubicBezTo>
                  <a:lnTo>
                    <a:pt x="9200" y="1419"/>
                  </a:lnTo>
                  <a:lnTo>
                    <a:pt x="9200" y="347"/>
                  </a:lnTo>
                  <a:cubicBezTo>
                    <a:pt x="9200" y="158"/>
                    <a:pt x="9042" y="1"/>
                    <a:pt x="8853" y="1"/>
                  </a:cubicBezTo>
                  <a:cubicBezTo>
                    <a:pt x="8664" y="1"/>
                    <a:pt x="8507" y="158"/>
                    <a:pt x="8507" y="347"/>
                  </a:cubicBezTo>
                  <a:lnTo>
                    <a:pt x="8507" y="1419"/>
                  </a:lnTo>
                  <a:lnTo>
                    <a:pt x="7782" y="1419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9"/>
                  </a:lnTo>
                  <a:lnTo>
                    <a:pt x="6365" y="1419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1" y="158"/>
                    <a:pt x="5671" y="347"/>
                  </a:cubicBezTo>
                  <a:lnTo>
                    <a:pt x="5671" y="1419"/>
                  </a:lnTo>
                  <a:lnTo>
                    <a:pt x="4947" y="1419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9"/>
                  </a:lnTo>
                  <a:lnTo>
                    <a:pt x="3529" y="1419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11371;p80">
              <a:extLst>
                <a:ext uri="{FF2B5EF4-FFF2-40B4-BE49-F238E27FC236}">
                  <a16:creationId xmlns:a16="http://schemas.microsoft.com/office/drawing/2014/main" id="{5110ACD4-C168-DC04-BF49-AE5BB9C5198A}"/>
                </a:ext>
              </a:extLst>
            </p:cNvPr>
            <p:cNvSpPr/>
            <p:nvPr/>
          </p:nvSpPr>
          <p:spPr>
            <a:xfrm>
              <a:off x="-44455600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11372;p80">
              <a:extLst>
                <a:ext uri="{FF2B5EF4-FFF2-40B4-BE49-F238E27FC236}">
                  <a16:creationId xmlns:a16="http://schemas.microsoft.com/office/drawing/2014/main" id="{74F604FE-2273-46AD-32A2-C761AB552077}"/>
                </a:ext>
              </a:extLst>
            </p:cNvPr>
            <p:cNvSpPr/>
            <p:nvPr/>
          </p:nvSpPr>
          <p:spPr>
            <a:xfrm>
              <a:off x="-44455600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11373;p80">
              <a:extLst>
                <a:ext uri="{FF2B5EF4-FFF2-40B4-BE49-F238E27FC236}">
                  <a16:creationId xmlns:a16="http://schemas.microsoft.com/office/drawing/2014/main" id="{867D3515-0EF5-B578-7ED3-7C93B01BDC05}"/>
                </a:ext>
              </a:extLst>
            </p:cNvPr>
            <p:cNvSpPr/>
            <p:nvPr/>
          </p:nvSpPr>
          <p:spPr>
            <a:xfrm>
              <a:off x="-443146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11374;p80">
              <a:extLst>
                <a:ext uri="{FF2B5EF4-FFF2-40B4-BE49-F238E27FC236}">
                  <a16:creationId xmlns:a16="http://schemas.microsoft.com/office/drawing/2014/main" id="{1C7D2D33-B3F4-182B-AD71-D18F40B267CC}"/>
                </a:ext>
              </a:extLst>
            </p:cNvPr>
            <p:cNvSpPr/>
            <p:nvPr/>
          </p:nvSpPr>
          <p:spPr>
            <a:xfrm>
              <a:off x="-44314625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11375;p80">
              <a:extLst>
                <a:ext uri="{FF2B5EF4-FFF2-40B4-BE49-F238E27FC236}">
                  <a16:creationId xmlns:a16="http://schemas.microsoft.com/office/drawing/2014/main" id="{0AB50732-78CC-FA0D-E23B-B1A656EB85F0}"/>
                </a:ext>
              </a:extLst>
            </p:cNvPr>
            <p:cNvSpPr/>
            <p:nvPr/>
          </p:nvSpPr>
          <p:spPr>
            <a:xfrm>
              <a:off x="-44447725" y="2062375"/>
              <a:ext cx="143350" cy="140225"/>
            </a:xfrm>
            <a:custGeom>
              <a:avLst/>
              <a:gdLst/>
              <a:ahLst/>
              <a:cxnLst/>
              <a:rect l="l" t="t" r="r" b="b"/>
              <a:pathLst>
                <a:path w="5734" h="5609" extrusionOk="0">
                  <a:moveTo>
                    <a:pt x="3182" y="757"/>
                  </a:moveTo>
                  <a:lnTo>
                    <a:pt x="3182" y="883"/>
                  </a:lnTo>
                  <a:cubicBezTo>
                    <a:pt x="3182" y="1041"/>
                    <a:pt x="3277" y="1167"/>
                    <a:pt x="3434" y="1198"/>
                  </a:cubicBezTo>
                  <a:cubicBezTo>
                    <a:pt x="3623" y="1261"/>
                    <a:pt x="3812" y="1387"/>
                    <a:pt x="3970" y="1513"/>
                  </a:cubicBezTo>
                  <a:cubicBezTo>
                    <a:pt x="4049" y="1553"/>
                    <a:pt x="4142" y="1593"/>
                    <a:pt x="4231" y="1593"/>
                  </a:cubicBezTo>
                  <a:cubicBezTo>
                    <a:pt x="4282" y="1593"/>
                    <a:pt x="4333" y="1579"/>
                    <a:pt x="4379" y="1545"/>
                  </a:cubicBezTo>
                  <a:lnTo>
                    <a:pt x="4505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00" y="2206"/>
                    <a:pt x="4537" y="2364"/>
                    <a:pt x="4568" y="2490"/>
                  </a:cubicBezTo>
                  <a:cubicBezTo>
                    <a:pt x="4600" y="2710"/>
                    <a:pt x="4600" y="2899"/>
                    <a:pt x="4568" y="3120"/>
                  </a:cubicBezTo>
                  <a:cubicBezTo>
                    <a:pt x="4537" y="3277"/>
                    <a:pt x="4600" y="3403"/>
                    <a:pt x="4726" y="3466"/>
                  </a:cubicBezTo>
                  <a:lnTo>
                    <a:pt x="4852" y="3561"/>
                  </a:lnTo>
                  <a:lnTo>
                    <a:pt x="4505" y="4128"/>
                  </a:lnTo>
                  <a:lnTo>
                    <a:pt x="4379" y="4065"/>
                  </a:lnTo>
                  <a:cubicBezTo>
                    <a:pt x="4323" y="4037"/>
                    <a:pt x="4260" y="4021"/>
                    <a:pt x="4196" y="4021"/>
                  </a:cubicBezTo>
                  <a:cubicBezTo>
                    <a:pt x="4118" y="4021"/>
                    <a:pt x="4039" y="4044"/>
                    <a:pt x="3970" y="4097"/>
                  </a:cubicBezTo>
                  <a:cubicBezTo>
                    <a:pt x="3812" y="4254"/>
                    <a:pt x="3623" y="4349"/>
                    <a:pt x="3434" y="4412"/>
                  </a:cubicBezTo>
                  <a:cubicBezTo>
                    <a:pt x="3277" y="4475"/>
                    <a:pt x="3182" y="4632"/>
                    <a:pt x="3182" y="4727"/>
                  </a:cubicBezTo>
                  <a:lnTo>
                    <a:pt x="3182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394" y="4475"/>
                    <a:pt x="2237" y="4412"/>
                  </a:cubicBezTo>
                  <a:cubicBezTo>
                    <a:pt x="2048" y="4349"/>
                    <a:pt x="1859" y="4223"/>
                    <a:pt x="1701" y="4097"/>
                  </a:cubicBezTo>
                  <a:cubicBezTo>
                    <a:pt x="1622" y="4057"/>
                    <a:pt x="1529" y="4017"/>
                    <a:pt x="1440" y="4017"/>
                  </a:cubicBezTo>
                  <a:cubicBezTo>
                    <a:pt x="1389" y="4017"/>
                    <a:pt x="1338" y="4030"/>
                    <a:pt x="1292" y="4065"/>
                  </a:cubicBezTo>
                  <a:lnTo>
                    <a:pt x="1166" y="4128"/>
                  </a:lnTo>
                  <a:lnTo>
                    <a:pt x="819" y="3561"/>
                  </a:lnTo>
                  <a:lnTo>
                    <a:pt x="945" y="3466"/>
                  </a:lnTo>
                  <a:cubicBezTo>
                    <a:pt x="1071" y="3403"/>
                    <a:pt x="1134" y="3246"/>
                    <a:pt x="1103" y="3120"/>
                  </a:cubicBezTo>
                  <a:cubicBezTo>
                    <a:pt x="1071" y="2899"/>
                    <a:pt x="1071" y="2710"/>
                    <a:pt x="1103" y="2490"/>
                  </a:cubicBezTo>
                  <a:cubicBezTo>
                    <a:pt x="1134" y="2332"/>
                    <a:pt x="1071" y="2206"/>
                    <a:pt x="945" y="2143"/>
                  </a:cubicBezTo>
                  <a:lnTo>
                    <a:pt x="819" y="2049"/>
                  </a:lnTo>
                  <a:lnTo>
                    <a:pt x="1166" y="1482"/>
                  </a:lnTo>
                  <a:lnTo>
                    <a:pt x="1292" y="1545"/>
                  </a:lnTo>
                  <a:cubicBezTo>
                    <a:pt x="1350" y="1589"/>
                    <a:pt x="1416" y="1612"/>
                    <a:pt x="1481" y="1612"/>
                  </a:cubicBezTo>
                  <a:cubicBezTo>
                    <a:pt x="1557" y="1612"/>
                    <a:pt x="1634" y="1581"/>
                    <a:pt x="1701" y="1513"/>
                  </a:cubicBezTo>
                  <a:cubicBezTo>
                    <a:pt x="1859" y="1356"/>
                    <a:pt x="2048" y="1261"/>
                    <a:pt x="2237" y="1198"/>
                  </a:cubicBezTo>
                  <a:cubicBezTo>
                    <a:pt x="2394" y="1167"/>
                    <a:pt x="2489" y="1009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53" y="1"/>
                    <a:pt x="1796" y="158"/>
                    <a:pt x="1796" y="347"/>
                  </a:cubicBezTo>
                  <a:lnTo>
                    <a:pt x="1796" y="599"/>
                  </a:lnTo>
                  <a:cubicBezTo>
                    <a:pt x="1701" y="631"/>
                    <a:pt x="1575" y="726"/>
                    <a:pt x="1481" y="789"/>
                  </a:cubicBezTo>
                  <a:lnTo>
                    <a:pt x="1292" y="663"/>
                  </a:lnTo>
                  <a:cubicBezTo>
                    <a:pt x="1242" y="643"/>
                    <a:pt x="1186" y="632"/>
                    <a:pt x="1129" y="632"/>
                  </a:cubicBezTo>
                  <a:cubicBezTo>
                    <a:pt x="1007" y="632"/>
                    <a:pt x="884" y="681"/>
                    <a:pt x="819" y="789"/>
                  </a:cubicBezTo>
                  <a:lnTo>
                    <a:pt x="126" y="2017"/>
                  </a:lnTo>
                  <a:cubicBezTo>
                    <a:pt x="32" y="2175"/>
                    <a:pt x="63" y="2395"/>
                    <a:pt x="221" y="2490"/>
                  </a:cubicBezTo>
                  <a:lnTo>
                    <a:pt x="441" y="2616"/>
                  </a:lnTo>
                  <a:lnTo>
                    <a:pt x="441" y="2994"/>
                  </a:lnTo>
                  <a:lnTo>
                    <a:pt x="221" y="3120"/>
                  </a:lnTo>
                  <a:cubicBezTo>
                    <a:pt x="95" y="3183"/>
                    <a:pt x="0" y="3435"/>
                    <a:pt x="126" y="3592"/>
                  </a:cubicBezTo>
                  <a:lnTo>
                    <a:pt x="819" y="4821"/>
                  </a:lnTo>
                  <a:cubicBezTo>
                    <a:pt x="879" y="4921"/>
                    <a:pt x="989" y="4983"/>
                    <a:pt x="1102" y="4983"/>
                  </a:cubicBezTo>
                  <a:cubicBezTo>
                    <a:pt x="1168" y="4983"/>
                    <a:pt x="1234" y="4962"/>
                    <a:pt x="1292" y="4916"/>
                  </a:cubicBezTo>
                  <a:lnTo>
                    <a:pt x="1481" y="4821"/>
                  </a:lnTo>
                  <a:cubicBezTo>
                    <a:pt x="1607" y="4884"/>
                    <a:pt x="1733" y="4979"/>
                    <a:pt x="1796" y="5010"/>
                  </a:cubicBezTo>
                  <a:lnTo>
                    <a:pt x="1796" y="5231"/>
                  </a:lnTo>
                  <a:cubicBezTo>
                    <a:pt x="1796" y="5451"/>
                    <a:pt x="1953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8" y="5451"/>
                    <a:pt x="3938" y="5231"/>
                  </a:cubicBezTo>
                  <a:lnTo>
                    <a:pt x="3938" y="5010"/>
                  </a:lnTo>
                  <a:cubicBezTo>
                    <a:pt x="4064" y="4979"/>
                    <a:pt x="4159" y="4884"/>
                    <a:pt x="4253" y="4821"/>
                  </a:cubicBezTo>
                  <a:lnTo>
                    <a:pt x="4442" y="4916"/>
                  </a:lnTo>
                  <a:cubicBezTo>
                    <a:pt x="4501" y="4951"/>
                    <a:pt x="4574" y="4969"/>
                    <a:pt x="4644" y="4969"/>
                  </a:cubicBezTo>
                  <a:cubicBezTo>
                    <a:pt x="4762" y="4969"/>
                    <a:pt x="4875" y="4920"/>
                    <a:pt x="4915" y="4821"/>
                  </a:cubicBezTo>
                  <a:lnTo>
                    <a:pt x="5639" y="3592"/>
                  </a:lnTo>
                  <a:cubicBezTo>
                    <a:pt x="5702" y="3435"/>
                    <a:pt x="5671" y="3246"/>
                    <a:pt x="5513" y="3120"/>
                  </a:cubicBezTo>
                  <a:lnTo>
                    <a:pt x="5324" y="2994"/>
                  </a:lnTo>
                  <a:lnTo>
                    <a:pt x="5324" y="2616"/>
                  </a:lnTo>
                  <a:lnTo>
                    <a:pt x="5513" y="2490"/>
                  </a:lnTo>
                  <a:cubicBezTo>
                    <a:pt x="5671" y="2395"/>
                    <a:pt x="5734" y="2175"/>
                    <a:pt x="5639" y="2017"/>
                  </a:cubicBezTo>
                  <a:lnTo>
                    <a:pt x="4915" y="789"/>
                  </a:lnTo>
                  <a:cubicBezTo>
                    <a:pt x="4872" y="681"/>
                    <a:pt x="4742" y="618"/>
                    <a:pt x="4614" y="618"/>
                  </a:cubicBezTo>
                  <a:cubicBezTo>
                    <a:pt x="4553" y="618"/>
                    <a:pt x="4493" y="632"/>
                    <a:pt x="4442" y="663"/>
                  </a:cubicBezTo>
                  <a:lnTo>
                    <a:pt x="4253" y="789"/>
                  </a:lnTo>
                  <a:cubicBezTo>
                    <a:pt x="4127" y="726"/>
                    <a:pt x="4001" y="631"/>
                    <a:pt x="3938" y="599"/>
                  </a:cubicBezTo>
                  <a:lnTo>
                    <a:pt x="3938" y="347"/>
                  </a:lnTo>
                  <a:cubicBezTo>
                    <a:pt x="3938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11376;p80">
              <a:extLst>
                <a:ext uri="{FF2B5EF4-FFF2-40B4-BE49-F238E27FC236}">
                  <a16:creationId xmlns:a16="http://schemas.microsoft.com/office/drawing/2014/main" id="{44E72343-86FE-D4E8-40D0-574AAA4D93AF}"/>
                </a:ext>
              </a:extLst>
            </p:cNvPr>
            <p:cNvSpPr/>
            <p:nvPr/>
          </p:nvSpPr>
          <p:spPr>
            <a:xfrm>
              <a:off x="-44403625" y="2107275"/>
              <a:ext cx="53575" cy="52800"/>
            </a:xfrm>
            <a:custGeom>
              <a:avLst/>
              <a:gdLst/>
              <a:ahLst/>
              <a:cxnLst/>
              <a:rect l="l" t="t" r="r" b="b"/>
              <a:pathLst>
                <a:path w="2143" h="2112" extrusionOk="0">
                  <a:moveTo>
                    <a:pt x="1072" y="662"/>
                  </a:moveTo>
                  <a:cubicBezTo>
                    <a:pt x="1261" y="662"/>
                    <a:pt x="1418" y="820"/>
                    <a:pt x="1418" y="1009"/>
                  </a:cubicBezTo>
                  <a:cubicBezTo>
                    <a:pt x="1418" y="1198"/>
                    <a:pt x="1261" y="1355"/>
                    <a:pt x="1072" y="1355"/>
                  </a:cubicBezTo>
                  <a:cubicBezTo>
                    <a:pt x="882" y="1355"/>
                    <a:pt x="725" y="1198"/>
                    <a:pt x="725" y="1009"/>
                  </a:cubicBezTo>
                  <a:cubicBezTo>
                    <a:pt x="725" y="820"/>
                    <a:pt x="882" y="662"/>
                    <a:pt x="1072" y="662"/>
                  </a:cubicBezTo>
                  <a:close/>
                  <a:moveTo>
                    <a:pt x="1072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2"/>
                    <a:pt x="1072" y="2112"/>
                  </a:cubicBezTo>
                  <a:cubicBezTo>
                    <a:pt x="1670" y="2112"/>
                    <a:pt x="2143" y="1639"/>
                    <a:pt x="2143" y="1040"/>
                  </a:cubicBezTo>
                  <a:cubicBezTo>
                    <a:pt x="2143" y="473"/>
                    <a:pt x="1670" y="1"/>
                    <a:pt x="1072" y="1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10131;p76">
            <a:extLst>
              <a:ext uri="{FF2B5EF4-FFF2-40B4-BE49-F238E27FC236}">
                <a16:creationId xmlns:a16="http://schemas.microsoft.com/office/drawing/2014/main" id="{E735C627-320E-49EE-F372-AE17773E493A}"/>
              </a:ext>
            </a:extLst>
          </p:cNvPr>
          <p:cNvSpPr/>
          <p:nvPr/>
        </p:nvSpPr>
        <p:spPr>
          <a:xfrm rot="18847813">
            <a:off x="3238986" y="3285025"/>
            <a:ext cx="253925" cy="248810"/>
          </a:xfrm>
          <a:custGeom>
            <a:avLst/>
            <a:gdLst/>
            <a:ahLst/>
            <a:cxnLst/>
            <a:rect l="l" t="t" r="r" b="b"/>
            <a:pathLst>
              <a:path w="9104" h="8774" extrusionOk="0">
                <a:moveTo>
                  <a:pt x="7232" y="1143"/>
                </a:moveTo>
                <a:cubicBezTo>
                  <a:pt x="7377" y="1143"/>
                  <a:pt x="7522" y="1198"/>
                  <a:pt x="7633" y="1308"/>
                </a:cubicBezTo>
                <a:cubicBezTo>
                  <a:pt x="7851" y="1528"/>
                  <a:pt x="7854" y="1882"/>
                  <a:pt x="7639" y="2102"/>
                </a:cubicBezTo>
                <a:lnTo>
                  <a:pt x="5755" y="3986"/>
                </a:lnTo>
                <a:cubicBezTo>
                  <a:pt x="5532" y="4210"/>
                  <a:pt x="5532" y="4566"/>
                  <a:pt x="5755" y="4789"/>
                </a:cubicBezTo>
                <a:lnTo>
                  <a:pt x="7639" y="6673"/>
                </a:lnTo>
                <a:cubicBezTo>
                  <a:pt x="7854" y="6894"/>
                  <a:pt x="7851" y="7247"/>
                  <a:pt x="7633" y="7468"/>
                </a:cubicBezTo>
                <a:cubicBezTo>
                  <a:pt x="7522" y="7577"/>
                  <a:pt x="7377" y="7633"/>
                  <a:pt x="7232" y="7633"/>
                </a:cubicBezTo>
                <a:cubicBezTo>
                  <a:pt x="7090" y="7633"/>
                  <a:pt x="6948" y="7580"/>
                  <a:pt x="6839" y="7474"/>
                </a:cubicBezTo>
                <a:lnTo>
                  <a:pt x="6830" y="7468"/>
                </a:lnTo>
                <a:lnTo>
                  <a:pt x="4946" y="5650"/>
                </a:lnTo>
                <a:cubicBezTo>
                  <a:pt x="4836" y="5544"/>
                  <a:pt x="4695" y="5491"/>
                  <a:pt x="4554" y="5491"/>
                </a:cubicBezTo>
                <a:cubicBezTo>
                  <a:pt x="4412" y="5491"/>
                  <a:pt x="4271" y="5544"/>
                  <a:pt x="4161" y="5650"/>
                </a:cubicBezTo>
                <a:lnTo>
                  <a:pt x="2277" y="7468"/>
                </a:lnTo>
                <a:lnTo>
                  <a:pt x="2268" y="7474"/>
                </a:lnTo>
                <a:cubicBezTo>
                  <a:pt x="2159" y="7580"/>
                  <a:pt x="2017" y="7633"/>
                  <a:pt x="1875" y="7633"/>
                </a:cubicBezTo>
                <a:cubicBezTo>
                  <a:pt x="1730" y="7633"/>
                  <a:pt x="1585" y="7577"/>
                  <a:pt x="1474" y="7468"/>
                </a:cubicBezTo>
                <a:cubicBezTo>
                  <a:pt x="1256" y="7247"/>
                  <a:pt x="1253" y="6894"/>
                  <a:pt x="1468" y="6673"/>
                </a:cubicBezTo>
                <a:lnTo>
                  <a:pt x="3352" y="4789"/>
                </a:lnTo>
                <a:cubicBezTo>
                  <a:pt x="3575" y="4566"/>
                  <a:pt x="3575" y="4210"/>
                  <a:pt x="3352" y="3986"/>
                </a:cubicBezTo>
                <a:lnTo>
                  <a:pt x="1468" y="2102"/>
                </a:lnTo>
                <a:cubicBezTo>
                  <a:pt x="1253" y="1882"/>
                  <a:pt x="1256" y="1528"/>
                  <a:pt x="1474" y="1308"/>
                </a:cubicBezTo>
                <a:cubicBezTo>
                  <a:pt x="1585" y="1198"/>
                  <a:pt x="1730" y="1143"/>
                  <a:pt x="1875" y="1143"/>
                </a:cubicBezTo>
                <a:cubicBezTo>
                  <a:pt x="2017" y="1143"/>
                  <a:pt x="2159" y="1196"/>
                  <a:pt x="2268" y="1302"/>
                </a:cubicBezTo>
                <a:lnTo>
                  <a:pt x="2277" y="1308"/>
                </a:lnTo>
                <a:lnTo>
                  <a:pt x="4161" y="3126"/>
                </a:lnTo>
                <a:cubicBezTo>
                  <a:pt x="4271" y="3231"/>
                  <a:pt x="4412" y="3284"/>
                  <a:pt x="4554" y="3284"/>
                </a:cubicBezTo>
                <a:cubicBezTo>
                  <a:pt x="4695" y="3284"/>
                  <a:pt x="4836" y="3231"/>
                  <a:pt x="4946" y="3126"/>
                </a:cubicBezTo>
                <a:lnTo>
                  <a:pt x="6830" y="1308"/>
                </a:lnTo>
                <a:lnTo>
                  <a:pt x="6839" y="1302"/>
                </a:lnTo>
                <a:cubicBezTo>
                  <a:pt x="6948" y="1196"/>
                  <a:pt x="7090" y="1143"/>
                  <a:pt x="7232" y="1143"/>
                </a:cubicBezTo>
                <a:close/>
                <a:moveTo>
                  <a:pt x="1865" y="0"/>
                </a:moveTo>
                <a:cubicBezTo>
                  <a:pt x="1430" y="0"/>
                  <a:pt x="995" y="166"/>
                  <a:pt x="664" y="499"/>
                </a:cubicBezTo>
                <a:cubicBezTo>
                  <a:pt x="0" y="1163"/>
                  <a:pt x="3" y="2241"/>
                  <a:pt x="667" y="2902"/>
                </a:cubicBezTo>
                <a:lnTo>
                  <a:pt x="2153" y="4388"/>
                </a:lnTo>
                <a:lnTo>
                  <a:pt x="667" y="5873"/>
                </a:lnTo>
                <a:cubicBezTo>
                  <a:pt x="0" y="6535"/>
                  <a:pt x="0" y="7610"/>
                  <a:pt x="661" y="8274"/>
                </a:cubicBezTo>
                <a:cubicBezTo>
                  <a:pt x="995" y="8607"/>
                  <a:pt x="1431" y="8774"/>
                  <a:pt x="1868" y="8774"/>
                </a:cubicBezTo>
                <a:cubicBezTo>
                  <a:pt x="2301" y="8774"/>
                  <a:pt x="2734" y="8609"/>
                  <a:pt x="3065" y="8280"/>
                </a:cubicBezTo>
                <a:lnTo>
                  <a:pt x="4554" y="6846"/>
                </a:lnTo>
                <a:lnTo>
                  <a:pt x="6042" y="8280"/>
                </a:lnTo>
                <a:cubicBezTo>
                  <a:pt x="6373" y="8609"/>
                  <a:pt x="6806" y="8774"/>
                  <a:pt x="7239" y="8774"/>
                </a:cubicBezTo>
                <a:cubicBezTo>
                  <a:pt x="7675" y="8774"/>
                  <a:pt x="8111" y="8607"/>
                  <a:pt x="8443" y="8274"/>
                </a:cubicBezTo>
                <a:cubicBezTo>
                  <a:pt x="9104" y="7610"/>
                  <a:pt x="9104" y="6535"/>
                  <a:pt x="8440" y="5873"/>
                </a:cubicBezTo>
                <a:lnTo>
                  <a:pt x="6957" y="4388"/>
                </a:lnTo>
                <a:lnTo>
                  <a:pt x="8440" y="2902"/>
                </a:lnTo>
                <a:cubicBezTo>
                  <a:pt x="8760" y="2585"/>
                  <a:pt x="8938" y="2153"/>
                  <a:pt x="8938" y="1703"/>
                </a:cubicBezTo>
                <a:cubicBezTo>
                  <a:pt x="8938" y="1018"/>
                  <a:pt x="8524" y="399"/>
                  <a:pt x="7893" y="133"/>
                </a:cubicBezTo>
                <a:cubicBezTo>
                  <a:pt x="7682" y="46"/>
                  <a:pt x="7460" y="3"/>
                  <a:pt x="7239" y="3"/>
                </a:cubicBezTo>
                <a:cubicBezTo>
                  <a:pt x="6799" y="3"/>
                  <a:pt x="6366" y="174"/>
                  <a:pt x="6042" y="496"/>
                </a:cubicBezTo>
                <a:lnTo>
                  <a:pt x="4554" y="1930"/>
                </a:lnTo>
                <a:lnTo>
                  <a:pt x="3065" y="496"/>
                </a:lnTo>
                <a:cubicBezTo>
                  <a:pt x="2733" y="165"/>
                  <a:pt x="2299" y="0"/>
                  <a:pt x="1865" y="0"/>
                </a:cubicBezTo>
                <a:close/>
              </a:path>
            </a:pathLst>
          </a:custGeom>
          <a:solidFill>
            <a:srgbClr val="01597F"/>
          </a:solidFill>
          <a:ln w="9525" cap="flat">
            <a:noFill/>
            <a:prstDash val="solid"/>
            <a:miter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</a:pPr>
            <a:endParaRPr sz="1400" kern="0">
              <a:solidFill>
                <a:srgbClr val="435D74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9" name="Google Shape;10920;p79">
            <a:extLst>
              <a:ext uri="{FF2B5EF4-FFF2-40B4-BE49-F238E27FC236}">
                <a16:creationId xmlns:a16="http://schemas.microsoft.com/office/drawing/2014/main" id="{3694CBFD-B0C7-B537-8D9F-08B0F34B4BCF}"/>
              </a:ext>
            </a:extLst>
          </p:cNvPr>
          <p:cNvGrpSpPr/>
          <p:nvPr/>
        </p:nvGrpSpPr>
        <p:grpSpPr>
          <a:xfrm>
            <a:off x="3667594" y="3090848"/>
            <a:ext cx="600073" cy="606004"/>
            <a:chOff x="-31166825" y="1939525"/>
            <a:chExt cx="293800" cy="291425"/>
          </a:xfrm>
        </p:grpSpPr>
        <p:sp>
          <p:nvSpPr>
            <p:cNvPr id="30" name="Google Shape;10921;p79">
              <a:extLst>
                <a:ext uri="{FF2B5EF4-FFF2-40B4-BE49-F238E27FC236}">
                  <a16:creationId xmlns:a16="http://schemas.microsoft.com/office/drawing/2014/main" id="{D040A6F2-8D7E-0DBA-3695-D72DB493AF3A}"/>
                </a:ext>
              </a:extLst>
            </p:cNvPr>
            <p:cNvSpPr/>
            <p:nvPr/>
          </p:nvSpPr>
          <p:spPr>
            <a:xfrm>
              <a:off x="-31166825" y="1939525"/>
              <a:ext cx="224500" cy="291425"/>
            </a:xfrm>
            <a:custGeom>
              <a:avLst/>
              <a:gdLst/>
              <a:ahLst/>
              <a:cxnLst/>
              <a:rect l="l" t="t" r="r" b="b"/>
              <a:pathLst>
                <a:path w="8980" h="11657" extrusionOk="0">
                  <a:moveTo>
                    <a:pt x="5892" y="662"/>
                  </a:moveTo>
                  <a:cubicBezTo>
                    <a:pt x="6081" y="662"/>
                    <a:pt x="6239" y="819"/>
                    <a:pt x="6239" y="1040"/>
                  </a:cubicBezTo>
                  <a:lnTo>
                    <a:pt x="6239" y="1386"/>
                  </a:lnTo>
                  <a:lnTo>
                    <a:pt x="2805" y="1386"/>
                  </a:lnTo>
                  <a:lnTo>
                    <a:pt x="2805" y="1040"/>
                  </a:lnTo>
                  <a:cubicBezTo>
                    <a:pt x="2805" y="819"/>
                    <a:pt x="2962" y="662"/>
                    <a:pt x="3120" y="662"/>
                  </a:cubicBezTo>
                  <a:close/>
                  <a:moveTo>
                    <a:pt x="8035" y="1323"/>
                  </a:moveTo>
                  <a:cubicBezTo>
                    <a:pt x="8255" y="1323"/>
                    <a:pt x="8413" y="1512"/>
                    <a:pt x="8413" y="1701"/>
                  </a:cubicBezTo>
                  <a:lnTo>
                    <a:pt x="8413" y="10617"/>
                  </a:lnTo>
                  <a:cubicBezTo>
                    <a:pt x="8413" y="10838"/>
                    <a:pt x="8255" y="10995"/>
                    <a:pt x="8035" y="10995"/>
                  </a:cubicBezTo>
                  <a:lnTo>
                    <a:pt x="1166" y="10995"/>
                  </a:lnTo>
                  <a:cubicBezTo>
                    <a:pt x="946" y="10995"/>
                    <a:pt x="788" y="10838"/>
                    <a:pt x="788" y="10617"/>
                  </a:cubicBezTo>
                  <a:lnTo>
                    <a:pt x="788" y="1701"/>
                  </a:lnTo>
                  <a:lnTo>
                    <a:pt x="757" y="1701"/>
                  </a:lnTo>
                  <a:cubicBezTo>
                    <a:pt x="757" y="1512"/>
                    <a:pt x="914" y="1323"/>
                    <a:pt x="1103" y="1323"/>
                  </a:cubicBezTo>
                  <a:lnTo>
                    <a:pt x="2143" y="1323"/>
                  </a:lnTo>
                  <a:lnTo>
                    <a:pt x="2143" y="1701"/>
                  </a:lnTo>
                  <a:cubicBezTo>
                    <a:pt x="2143" y="1890"/>
                    <a:pt x="2301" y="2048"/>
                    <a:pt x="2490" y="2048"/>
                  </a:cubicBezTo>
                  <a:lnTo>
                    <a:pt x="6617" y="2048"/>
                  </a:lnTo>
                  <a:cubicBezTo>
                    <a:pt x="6837" y="2048"/>
                    <a:pt x="6995" y="1890"/>
                    <a:pt x="6995" y="1701"/>
                  </a:cubicBezTo>
                  <a:lnTo>
                    <a:pt x="6995" y="1323"/>
                  </a:lnTo>
                  <a:close/>
                  <a:moveTo>
                    <a:pt x="3120" y="0"/>
                  </a:moveTo>
                  <a:cubicBezTo>
                    <a:pt x="2679" y="0"/>
                    <a:pt x="2301" y="284"/>
                    <a:pt x="2143" y="662"/>
                  </a:cubicBezTo>
                  <a:lnTo>
                    <a:pt x="1040" y="662"/>
                  </a:lnTo>
                  <a:cubicBezTo>
                    <a:pt x="473" y="662"/>
                    <a:pt x="1" y="1134"/>
                    <a:pt x="1" y="1701"/>
                  </a:cubicBezTo>
                  <a:lnTo>
                    <a:pt x="1" y="10649"/>
                  </a:lnTo>
                  <a:cubicBezTo>
                    <a:pt x="64" y="11216"/>
                    <a:pt x="536" y="11657"/>
                    <a:pt x="1072" y="11657"/>
                  </a:cubicBezTo>
                  <a:lnTo>
                    <a:pt x="7971" y="11657"/>
                  </a:lnTo>
                  <a:cubicBezTo>
                    <a:pt x="8507" y="11657"/>
                    <a:pt x="8980" y="11184"/>
                    <a:pt x="8980" y="10649"/>
                  </a:cubicBezTo>
                  <a:lnTo>
                    <a:pt x="8980" y="1701"/>
                  </a:lnTo>
                  <a:cubicBezTo>
                    <a:pt x="8980" y="1134"/>
                    <a:pt x="8507" y="662"/>
                    <a:pt x="7971" y="662"/>
                  </a:cubicBezTo>
                  <a:lnTo>
                    <a:pt x="6869" y="662"/>
                  </a:lnTo>
                  <a:cubicBezTo>
                    <a:pt x="6711" y="284"/>
                    <a:pt x="6365" y="0"/>
                    <a:pt x="5892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10922;p79">
              <a:extLst>
                <a:ext uri="{FF2B5EF4-FFF2-40B4-BE49-F238E27FC236}">
                  <a16:creationId xmlns:a16="http://schemas.microsoft.com/office/drawing/2014/main" id="{51DB2155-536A-8166-FF48-5D271F41B555}"/>
                </a:ext>
              </a:extLst>
            </p:cNvPr>
            <p:cNvSpPr/>
            <p:nvPr/>
          </p:nvSpPr>
          <p:spPr>
            <a:xfrm>
              <a:off x="-31131375" y="214507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6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6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4"/>
                  </a:lnTo>
                  <a:cubicBezTo>
                    <a:pt x="0" y="1954"/>
                    <a:pt x="158" y="2112"/>
                    <a:pt x="379" y="2112"/>
                  </a:cubicBezTo>
                  <a:lnTo>
                    <a:pt x="1733" y="2112"/>
                  </a:lnTo>
                  <a:cubicBezTo>
                    <a:pt x="1954" y="2112"/>
                    <a:pt x="2111" y="1954"/>
                    <a:pt x="2111" y="1734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10923;p79">
              <a:extLst>
                <a:ext uri="{FF2B5EF4-FFF2-40B4-BE49-F238E27FC236}">
                  <a16:creationId xmlns:a16="http://schemas.microsoft.com/office/drawing/2014/main" id="{39466034-484F-EA76-5CC2-1907CBACE986}"/>
                </a:ext>
              </a:extLst>
            </p:cNvPr>
            <p:cNvSpPr/>
            <p:nvPr/>
          </p:nvSpPr>
          <p:spPr>
            <a:xfrm>
              <a:off x="-31131375" y="207655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55" y="694"/>
                  </a:moveTo>
                  <a:lnTo>
                    <a:pt x="1355" y="1356"/>
                  </a:lnTo>
                  <a:lnTo>
                    <a:pt x="694" y="1356"/>
                  </a:lnTo>
                  <a:lnTo>
                    <a:pt x="694" y="694"/>
                  </a:lnTo>
                  <a:close/>
                  <a:moveTo>
                    <a:pt x="379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79" y="2080"/>
                  </a:cubicBezTo>
                  <a:lnTo>
                    <a:pt x="1733" y="2080"/>
                  </a:lnTo>
                  <a:cubicBezTo>
                    <a:pt x="1954" y="2080"/>
                    <a:pt x="2111" y="1923"/>
                    <a:pt x="2111" y="1734"/>
                  </a:cubicBezTo>
                  <a:lnTo>
                    <a:pt x="2111" y="348"/>
                  </a:ln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10924;p79">
              <a:extLst>
                <a:ext uri="{FF2B5EF4-FFF2-40B4-BE49-F238E27FC236}">
                  <a16:creationId xmlns:a16="http://schemas.microsoft.com/office/drawing/2014/main" id="{6A224DBA-9AF6-15E3-E2F7-15C161087066}"/>
                </a:ext>
              </a:extLst>
            </p:cNvPr>
            <p:cNvSpPr/>
            <p:nvPr/>
          </p:nvSpPr>
          <p:spPr>
            <a:xfrm>
              <a:off x="-31131375" y="20072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5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5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79" y="2111"/>
                  </a:cubicBezTo>
                  <a:lnTo>
                    <a:pt x="1733" y="2111"/>
                  </a:lnTo>
                  <a:cubicBezTo>
                    <a:pt x="1954" y="2111"/>
                    <a:pt x="2111" y="1954"/>
                    <a:pt x="2111" y="1733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10925;p79">
              <a:extLst>
                <a:ext uri="{FF2B5EF4-FFF2-40B4-BE49-F238E27FC236}">
                  <a16:creationId xmlns:a16="http://schemas.microsoft.com/office/drawing/2014/main" id="{5505DC8D-10DC-F579-4348-9A5436346E5B}"/>
                </a:ext>
              </a:extLst>
            </p:cNvPr>
            <p:cNvSpPr/>
            <p:nvPr/>
          </p:nvSpPr>
          <p:spPr>
            <a:xfrm>
              <a:off x="-31062075" y="2007250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057" y="725"/>
                  </a:lnTo>
                  <a:cubicBezTo>
                    <a:pt x="3277" y="725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10926;p79">
              <a:extLst>
                <a:ext uri="{FF2B5EF4-FFF2-40B4-BE49-F238E27FC236}">
                  <a16:creationId xmlns:a16="http://schemas.microsoft.com/office/drawing/2014/main" id="{CDF1B568-468D-F3D4-334F-815E8AB7EE26}"/>
                </a:ext>
              </a:extLst>
            </p:cNvPr>
            <p:cNvSpPr/>
            <p:nvPr/>
          </p:nvSpPr>
          <p:spPr>
            <a:xfrm>
              <a:off x="-31062075" y="2041900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Google Shape;10927;p79">
              <a:extLst>
                <a:ext uri="{FF2B5EF4-FFF2-40B4-BE49-F238E27FC236}">
                  <a16:creationId xmlns:a16="http://schemas.microsoft.com/office/drawing/2014/main" id="{A4B2B680-097B-8A66-FF1F-DBD070F6F5B5}"/>
                </a:ext>
              </a:extLst>
            </p:cNvPr>
            <p:cNvSpPr/>
            <p:nvPr/>
          </p:nvSpPr>
          <p:spPr>
            <a:xfrm>
              <a:off x="-31062075" y="2076550"/>
              <a:ext cx="85875" cy="17375"/>
            </a:xfrm>
            <a:custGeom>
              <a:avLst/>
              <a:gdLst/>
              <a:ahLst/>
              <a:cxnLst/>
              <a:rect l="l" t="t" r="r" b="b"/>
              <a:pathLst>
                <a:path w="3435" h="695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3057" y="694"/>
                  </a:lnTo>
                  <a:cubicBezTo>
                    <a:pt x="3277" y="694"/>
                    <a:pt x="3435" y="537"/>
                    <a:pt x="3435" y="348"/>
                  </a:cubicBezTo>
                  <a:cubicBezTo>
                    <a:pt x="3435" y="159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10928;p79">
              <a:extLst>
                <a:ext uri="{FF2B5EF4-FFF2-40B4-BE49-F238E27FC236}">
                  <a16:creationId xmlns:a16="http://schemas.microsoft.com/office/drawing/2014/main" id="{E585C019-ABBF-D601-86CC-B26CFAE20E95}"/>
                </a:ext>
              </a:extLst>
            </p:cNvPr>
            <p:cNvSpPr/>
            <p:nvPr/>
          </p:nvSpPr>
          <p:spPr>
            <a:xfrm>
              <a:off x="-31062075" y="21104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90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10929;p79">
              <a:extLst>
                <a:ext uri="{FF2B5EF4-FFF2-40B4-BE49-F238E27FC236}">
                  <a16:creationId xmlns:a16="http://schemas.microsoft.com/office/drawing/2014/main" id="{096F776E-419B-E921-D3BA-CF5045197149}"/>
                </a:ext>
              </a:extLst>
            </p:cNvPr>
            <p:cNvSpPr/>
            <p:nvPr/>
          </p:nvSpPr>
          <p:spPr>
            <a:xfrm>
              <a:off x="-31062075" y="2145075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3057" y="726"/>
                  </a:lnTo>
                  <a:cubicBezTo>
                    <a:pt x="3277" y="726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" name="Google Shape;10930;p79">
              <a:extLst>
                <a:ext uri="{FF2B5EF4-FFF2-40B4-BE49-F238E27FC236}">
                  <a16:creationId xmlns:a16="http://schemas.microsoft.com/office/drawing/2014/main" id="{7DD74214-7831-D206-7352-6D0DE7FDE502}"/>
                </a:ext>
              </a:extLst>
            </p:cNvPr>
            <p:cNvSpPr/>
            <p:nvPr/>
          </p:nvSpPr>
          <p:spPr>
            <a:xfrm>
              <a:off x="-31062075" y="2179750"/>
              <a:ext cx="52025" cy="18125"/>
            </a:xfrm>
            <a:custGeom>
              <a:avLst/>
              <a:gdLst/>
              <a:ahLst/>
              <a:cxnLst/>
              <a:rect l="l" t="t" r="r" b="b"/>
              <a:pathLst>
                <a:path w="2081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7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" name="Google Shape;10931;p79">
              <a:extLst>
                <a:ext uri="{FF2B5EF4-FFF2-40B4-BE49-F238E27FC236}">
                  <a16:creationId xmlns:a16="http://schemas.microsoft.com/office/drawing/2014/main" id="{2F6DBE82-D35D-5681-380A-F3895819201A}"/>
                </a:ext>
              </a:extLst>
            </p:cNvPr>
            <p:cNvSpPr/>
            <p:nvPr/>
          </p:nvSpPr>
          <p:spPr>
            <a:xfrm>
              <a:off x="-30924225" y="1974175"/>
              <a:ext cx="51200" cy="240250"/>
            </a:xfrm>
            <a:custGeom>
              <a:avLst/>
              <a:gdLst/>
              <a:ahLst/>
              <a:cxnLst/>
              <a:rect l="l" t="t" r="r" b="b"/>
              <a:pathLst>
                <a:path w="2048" h="9610" extrusionOk="0">
                  <a:moveTo>
                    <a:pt x="1008" y="662"/>
                  </a:moveTo>
                  <a:cubicBezTo>
                    <a:pt x="1229" y="662"/>
                    <a:pt x="1386" y="819"/>
                    <a:pt x="1386" y="1009"/>
                  </a:cubicBezTo>
                  <a:lnTo>
                    <a:pt x="1386" y="2080"/>
                  </a:lnTo>
                  <a:lnTo>
                    <a:pt x="725" y="2080"/>
                  </a:lnTo>
                  <a:lnTo>
                    <a:pt x="725" y="1009"/>
                  </a:lnTo>
                  <a:lnTo>
                    <a:pt x="662" y="1009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1323" y="2741"/>
                  </a:moveTo>
                  <a:lnTo>
                    <a:pt x="1323" y="6900"/>
                  </a:lnTo>
                  <a:lnTo>
                    <a:pt x="662" y="6900"/>
                  </a:lnTo>
                  <a:lnTo>
                    <a:pt x="662" y="2741"/>
                  </a:lnTo>
                  <a:close/>
                  <a:moveTo>
                    <a:pt x="1260" y="7562"/>
                  </a:moveTo>
                  <a:lnTo>
                    <a:pt x="1008" y="8192"/>
                  </a:lnTo>
                  <a:lnTo>
                    <a:pt x="819" y="7562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7215"/>
                  </a:lnTo>
                  <a:lnTo>
                    <a:pt x="0" y="7309"/>
                  </a:lnTo>
                  <a:lnTo>
                    <a:pt x="662" y="9357"/>
                  </a:lnTo>
                  <a:cubicBezTo>
                    <a:pt x="693" y="9515"/>
                    <a:pt x="819" y="9609"/>
                    <a:pt x="977" y="9609"/>
                  </a:cubicBezTo>
                  <a:cubicBezTo>
                    <a:pt x="1134" y="9609"/>
                    <a:pt x="1260" y="9515"/>
                    <a:pt x="1292" y="9357"/>
                  </a:cubicBezTo>
                  <a:lnTo>
                    <a:pt x="1954" y="7309"/>
                  </a:lnTo>
                  <a:lnTo>
                    <a:pt x="1954" y="7215"/>
                  </a:lnTo>
                  <a:lnTo>
                    <a:pt x="1954" y="1009"/>
                  </a:lnTo>
                  <a:cubicBezTo>
                    <a:pt x="2048" y="441"/>
                    <a:pt x="1576" y="0"/>
                    <a:pt x="1008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10131;p76">
            <a:extLst>
              <a:ext uri="{FF2B5EF4-FFF2-40B4-BE49-F238E27FC236}">
                <a16:creationId xmlns:a16="http://schemas.microsoft.com/office/drawing/2014/main" id="{21574AA8-37C4-5765-162B-01BAE4E599C8}"/>
              </a:ext>
            </a:extLst>
          </p:cNvPr>
          <p:cNvSpPr/>
          <p:nvPr/>
        </p:nvSpPr>
        <p:spPr>
          <a:xfrm rot="18847813">
            <a:off x="3236489" y="4565542"/>
            <a:ext cx="253925" cy="248810"/>
          </a:xfrm>
          <a:custGeom>
            <a:avLst/>
            <a:gdLst/>
            <a:ahLst/>
            <a:cxnLst/>
            <a:rect l="l" t="t" r="r" b="b"/>
            <a:pathLst>
              <a:path w="9104" h="8774" extrusionOk="0">
                <a:moveTo>
                  <a:pt x="7232" y="1143"/>
                </a:moveTo>
                <a:cubicBezTo>
                  <a:pt x="7377" y="1143"/>
                  <a:pt x="7522" y="1198"/>
                  <a:pt x="7633" y="1308"/>
                </a:cubicBezTo>
                <a:cubicBezTo>
                  <a:pt x="7851" y="1528"/>
                  <a:pt x="7854" y="1882"/>
                  <a:pt x="7639" y="2102"/>
                </a:cubicBezTo>
                <a:lnTo>
                  <a:pt x="5755" y="3986"/>
                </a:lnTo>
                <a:cubicBezTo>
                  <a:pt x="5532" y="4210"/>
                  <a:pt x="5532" y="4566"/>
                  <a:pt x="5755" y="4789"/>
                </a:cubicBezTo>
                <a:lnTo>
                  <a:pt x="7639" y="6673"/>
                </a:lnTo>
                <a:cubicBezTo>
                  <a:pt x="7854" y="6894"/>
                  <a:pt x="7851" y="7247"/>
                  <a:pt x="7633" y="7468"/>
                </a:cubicBezTo>
                <a:cubicBezTo>
                  <a:pt x="7522" y="7577"/>
                  <a:pt x="7377" y="7633"/>
                  <a:pt x="7232" y="7633"/>
                </a:cubicBezTo>
                <a:cubicBezTo>
                  <a:pt x="7090" y="7633"/>
                  <a:pt x="6948" y="7580"/>
                  <a:pt x="6839" y="7474"/>
                </a:cubicBezTo>
                <a:lnTo>
                  <a:pt x="6830" y="7468"/>
                </a:lnTo>
                <a:lnTo>
                  <a:pt x="4946" y="5650"/>
                </a:lnTo>
                <a:cubicBezTo>
                  <a:pt x="4836" y="5544"/>
                  <a:pt x="4695" y="5491"/>
                  <a:pt x="4554" y="5491"/>
                </a:cubicBezTo>
                <a:cubicBezTo>
                  <a:pt x="4412" y="5491"/>
                  <a:pt x="4271" y="5544"/>
                  <a:pt x="4161" y="5650"/>
                </a:cubicBezTo>
                <a:lnTo>
                  <a:pt x="2277" y="7468"/>
                </a:lnTo>
                <a:lnTo>
                  <a:pt x="2268" y="7474"/>
                </a:lnTo>
                <a:cubicBezTo>
                  <a:pt x="2159" y="7580"/>
                  <a:pt x="2017" y="7633"/>
                  <a:pt x="1875" y="7633"/>
                </a:cubicBezTo>
                <a:cubicBezTo>
                  <a:pt x="1730" y="7633"/>
                  <a:pt x="1585" y="7577"/>
                  <a:pt x="1474" y="7468"/>
                </a:cubicBezTo>
                <a:cubicBezTo>
                  <a:pt x="1256" y="7247"/>
                  <a:pt x="1253" y="6894"/>
                  <a:pt x="1468" y="6673"/>
                </a:cubicBezTo>
                <a:lnTo>
                  <a:pt x="3352" y="4789"/>
                </a:lnTo>
                <a:cubicBezTo>
                  <a:pt x="3575" y="4566"/>
                  <a:pt x="3575" y="4210"/>
                  <a:pt x="3352" y="3986"/>
                </a:cubicBezTo>
                <a:lnTo>
                  <a:pt x="1468" y="2102"/>
                </a:lnTo>
                <a:cubicBezTo>
                  <a:pt x="1253" y="1882"/>
                  <a:pt x="1256" y="1528"/>
                  <a:pt x="1474" y="1308"/>
                </a:cubicBezTo>
                <a:cubicBezTo>
                  <a:pt x="1585" y="1198"/>
                  <a:pt x="1730" y="1143"/>
                  <a:pt x="1875" y="1143"/>
                </a:cubicBezTo>
                <a:cubicBezTo>
                  <a:pt x="2017" y="1143"/>
                  <a:pt x="2159" y="1196"/>
                  <a:pt x="2268" y="1302"/>
                </a:cubicBezTo>
                <a:lnTo>
                  <a:pt x="2277" y="1308"/>
                </a:lnTo>
                <a:lnTo>
                  <a:pt x="4161" y="3126"/>
                </a:lnTo>
                <a:cubicBezTo>
                  <a:pt x="4271" y="3231"/>
                  <a:pt x="4412" y="3284"/>
                  <a:pt x="4554" y="3284"/>
                </a:cubicBezTo>
                <a:cubicBezTo>
                  <a:pt x="4695" y="3284"/>
                  <a:pt x="4836" y="3231"/>
                  <a:pt x="4946" y="3126"/>
                </a:cubicBezTo>
                <a:lnTo>
                  <a:pt x="6830" y="1308"/>
                </a:lnTo>
                <a:lnTo>
                  <a:pt x="6839" y="1302"/>
                </a:lnTo>
                <a:cubicBezTo>
                  <a:pt x="6948" y="1196"/>
                  <a:pt x="7090" y="1143"/>
                  <a:pt x="7232" y="1143"/>
                </a:cubicBezTo>
                <a:close/>
                <a:moveTo>
                  <a:pt x="1865" y="0"/>
                </a:moveTo>
                <a:cubicBezTo>
                  <a:pt x="1430" y="0"/>
                  <a:pt x="995" y="166"/>
                  <a:pt x="664" y="499"/>
                </a:cubicBezTo>
                <a:cubicBezTo>
                  <a:pt x="0" y="1163"/>
                  <a:pt x="3" y="2241"/>
                  <a:pt x="667" y="2902"/>
                </a:cubicBezTo>
                <a:lnTo>
                  <a:pt x="2153" y="4388"/>
                </a:lnTo>
                <a:lnTo>
                  <a:pt x="667" y="5873"/>
                </a:lnTo>
                <a:cubicBezTo>
                  <a:pt x="0" y="6535"/>
                  <a:pt x="0" y="7610"/>
                  <a:pt x="661" y="8274"/>
                </a:cubicBezTo>
                <a:cubicBezTo>
                  <a:pt x="995" y="8607"/>
                  <a:pt x="1431" y="8774"/>
                  <a:pt x="1868" y="8774"/>
                </a:cubicBezTo>
                <a:cubicBezTo>
                  <a:pt x="2301" y="8774"/>
                  <a:pt x="2734" y="8609"/>
                  <a:pt x="3065" y="8280"/>
                </a:cubicBezTo>
                <a:lnTo>
                  <a:pt x="4554" y="6846"/>
                </a:lnTo>
                <a:lnTo>
                  <a:pt x="6042" y="8280"/>
                </a:lnTo>
                <a:cubicBezTo>
                  <a:pt x="6373" y="8609"/>
                  <a:pt x="6806" y="8774"/>
                  <a:pt x="7239" y="8774"/>
                </a:cubicBezTo>
                <a:cubicBezTo>
                  <a:pt x="7675" y="8774"/>
                  <a:pt x="8111" y="8607"/>
                  <a:pt x="8443" y="8274"/>
                </a:cubicBezTo>
                <a:cubicBezTo>
                  <a:pt x="9104" y="7610"/>
                  <a:pt x="9104" y="6535"/>
                  <a:pt x="8440" y="5873"/>
                </a:cubicBezTo>
                <a:lnTo>
                  <a:pt x="6957" y="4388"/>
                </a:lnTo>
                <a:lnTo>
                  <a:pt x="8440" y="2902"/>
                </a:lnTo>
                <a:cubicBezTo>
                  <a:pt x="8760" y="2585"/>
                  <a:pt x="8938" y="2153"/>
                  <a:pt x="8938" y="1703"/>
                </a:cubicBezTo>
                <a:cubicBezTo>
                  <a:pt x="8938" y="1018"/>
                  <a:pt x="8524" y="399"/>
                  <a:pt x="7893" y="133"/>
                </a:cubicBezTo>
                <a:cubicBezTo>
                  <a:pt x="7682" y="46"/>
                  <a:pt x="7460" y="3"/>
                  <a:pt x="7239" y="3"/>
                </a:cubicBezTo>
                <a:cubicBezTo>
                  <a:pt x="6799" y="3"/>
                  <a:pt x="6366" y="174"/>
                  <a:pt x="6042" y="496"/>
                </a:cubicBezTo>
                <a:lnTo>
                  <a:pt x="4554" y="1930"/>
                </a:lnTo>
                <a:lnTo>
                  <a:pt x="3065" y="496"/>
                </a:lnTo>
                <a:cubicBezTo>
                  <a:pt x="2733" y="165"/>
                  <a:pt x="2299" y="0"/>
                  <a:pt x="1865" y="0"/>
                </a:cubicBezTo>
                <a:close/>
              </a:path>
            </a:pathLst>
          </a:custGeom>
          <a:solidFill>
            <a:srgbClr val="01597F"/>
          </a:solidFill>
          <a:ln w="9525" cap="flat">
            <a:noFill/>
            <a:prstDash val="solid"/>
            <a:miter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</a:pPr>
            <a:endParaRPr sz="1400" kern="0">
              <a:solidFill>
                <a:srgbClr val="435D74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2" name="Google Shape;10920;p79">
            <a:extLst>
              <a:ext uri="{FF2B5EF4-FFF2-40B4-BE49-F238E27FC236}">
                <a16:creationId xmlns:a16="http://schemas.microsoft.com/office/drawing/2014/main" id="{25673235-F1EF-81B9-F6C3-C01C93FF8A2C}"/>
              </a:ext>
            </a:extLst>
          </p:cNvPr>
          <p:cNvGrpSpPr/>
          <p:nvPr/>
        </p:nvGrpSpPr>
        <p:grpSpPr>
          <a:xfrm>
            <a:off x="3667594" y="4353911"/>
            <a:ext cx="600073" cy="606004"/>
            <a:chOff x="-31166825" y="1939525"/>
            <a:chExt cx="293800" cy="291425"/>
          </a:xfrm>
        </p:grpSpPr>
        <p:sp>
          <p:nvSpPr>
            <p:cNvPr id="43" name="Google Shape;10921;p79">
              <a:extLst>
                <a:ext uri="{FF2B5EF4-FFF2-40B4-BE49-F238E27FC236}">
                  <a16:creationId xmlns:a16="http://schemas.microsoft.com/office/drawing/2014/main" id="{CC70953D-3F1F-1E83-9C26-AAD373BAACA5}"/>
                </a:ext>
              </a:extLst>
            </p:cNvPr>
            <p:cNvSpPr/>
            <p:nvPr/>
          </p:nvSpPr>
          <p:spPr>
            <a:xfrm>
              <a:off x="-31166825" y="1939525"/>
              <a:ext cx="224500" cy="291425"/>
            </a:xfrm>
            <a:custGeom>
              <a:avLst/>
              <a:gdLst/>
              <a:ahLst/>
              <a:cxnLst/>
              <a:rect l="l" t="t" r="r" b="b"/>
              <a:pathLst>
                <a:path w="8980" h="11657" extrusionOk="0">
                  <a:moveTo>
                    <a:pt x="5892" y="662"/>
                  </a:moveTo>
                  <a:cubicBezTo>
                    <a:pt x="6081" y="662"/>
                    <a:pt x="6239" y="819"/>
                    <a:pt x="6239" y="1040"/>
                  </a:cubicBezTo>
                  <a:lnTo>
                    <a:pt x="6239" y="1386"/>
                  </a:lnTo>
                  <a:lnTo>
                    <a:pt x="2805" y="1386"/>
                  </a:lnTo>
                  <a:lnTo>
                    <a:pt x="2805" y="1040"/>
                  </a:lnTo>
                  <a:cubicBezTo>
                    <a:pt x="2805" y="819"/>
                    <a:pt x="2962" y="662"/>
                    <a:pt x="3120" y="662"/>
                  </a:cubicBezTo>
                  <a:close/>
                  <a:moveTo>
                    <a:pt x="8035" y="1323"/>
                  </a:moveTo>
                  <a:cubicBezTo>
                    <a:pt x="8255" y="1323"/>
                    <a:pt x="8413" y="1512"/>
                    <a:pt x="8413" y="1701"/>
                  </a:cubicBezTo>
                  <a:lnTo>
                    <a:pt x="8413" y="10617"/>
                  </a:lnTo>
                  <a:cubicBezTo>
                    <a:pt x="8413" y="10838"/>
                    <a:pt x="8255" y="10995"/>
                    <a:pt x="8035" y="10995"/>
                  </a:cubicBezTo>
                  <a:lnTo>
                    <a:pt x="1166" y="10995"/>
                  </a:lnTo>
                  <a:cubicBezTo>
                    <a:pt x="946" y="10995"/>
                    <a:pt x="788" y="10838"/>
                    <a:pt x="788" y="10617"/>
                  </a:cubicBezTo>
                  <a:lnTo>
                    <a:pt x="788" y="1701"/>
                  </a:lnTo>
                  <a:lnTo>
                    <a:pt x="757" y="1701"/>
                  </a:lnTo>
                  <a:cubicBezTo>
                    <a:pt x="757" y="1512"/>
                    <a:pt x="914" y="1323"/>
                    <a:pt x="1103" y="1323"/>
                  </a:cubicBezTo>
                  <a:lnTo>
                    <a:pt x="2143" y="1323"/>
                  </a:lnTo>
                  <a:lnTo>
                    <a:pt x="2143" y="1701"/>
                  </a:lnTo>
                  <a:cubicBezTo>
                    <a:pt x="2143" y="1890"/>
                    <a:pt x="2301" y="2048"/>
                    <a:pt x="2490" y="2048"/>
                  </a:cubicBezTo>
                  <a:lnTo>
                    <a:pt x="6617" y="2048"/>
                  </a:lnTo>
                  <a:cubicBezTo>
                    <a:pt x="6837" y="2048"/>
                    <a:pt x="6995" y="1890"/>
                    <a:pt x="6995" y="1701"/>
                  </a:cubicBezTo>
                  <a:lnTo>
                    <a:pt x="6995" y="1323"/>
                  </a:lnTo>
                  <a:close/>
                  <a:moveTo>
                    <a:pt x="3120" y="0"/>
                  </a:moveTo>
                  <a:cubicBezTo>
                    <a:pt x="2679" y="0"/>
                    <a:pt x="2301" y="284"/>
                    <a:pt x="2143" y="662"/>
                  </a:cubicBezTo>
                  <a:lnTo>
                    <a:pt x="1040" y="662"/>
                  </a:lnTo>
                  <a:cubicBezTo>
                    <a:pt x="473" y="662"/>
                    <a:pt x="1" y="1134"/>
                    <a:pt x="1" y="1701"/>
                  </a:cubicBezTo>
                  <a:lnTo>
                    <a:pt x="1" y="10649"/>
                  </a:lnTo>
                  <a:cubicBezTo>
                    <a:pt x="64" y="11216"/>
                    <a:pt x="536" y="11657"/>
                    <a:pt x="1072" y="11657"/>
                  </a:cubicBezTo>
                  <a:lnTo>
                    <a:pt x="7971" y="11657"/>
                  </a:lnTo>
                  <a:cubicBezTo>
                    <a:pt x="8507" y="11657"/>
                    <a:pt x="8980" y="11184"/>
                    <a:pt x="8980" y="10649"/>
                  </a:cubicBezTo>
                  <a:lnTo>
                    <a:pt x="8980" y="1701"/>
                  </a:lnTo>
                  <a:cubicBezTo>
                    <a:pt x="8980" y="1134"/>
                    <a:pt x="8507" y="662"/>
                    <a:pt x="7971" y="662"/>
                  </a:cubicBezTo>
                  <a:lnTo>
                    <a:pt x="6869" y="662"/>
                  </a:lnTo>
                  <a:cubicBezTo>
                    <a:pt x="6711" y="284"/>
                    <a:pt x="6365" y="0"/>
                    <a:pt x="5892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10922;p79">
              <a:extLst>
                <a:ext uri="{FF2B5EF4-FFF2-40B4-BE49-F238E27FC236}">
                  <a16:creationId xmlns:a16="http://schemas.microsoft.com/office/drawing/2014/main" id="{9FF7931C-ACCC-708A-713E-4E2A85ECB137}"/>
                </a:ext>
              </a:extLst>
            </p:cNvPr>
            <p:cNvSpPr/>
            <p:nvPr/>
          </p:nvSpPr>
          <p:spPr>
            <a:xfrm>
              <a:off x="-31131375" y="214507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6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6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4"/>
                  </a:lnTo>
                  <a:cubicBezTo>
                    <a:pt x="0" y="1954"/>
                    <a:pt x="158" y="2112"/>
                    <a:pt x="379" y="2112"/>
                  </a:cubicBezTo>
                  <a:lnTo>
                    <a:pt x="1733" y="2112"/>
                  </a:lnTo>
                  <a:cubicBezTo>
                    <a:pt x="1954" y="2112"/>
                    <a:pt x="2111" y="1954"/>
                    <a:pt x="2111" y="1734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10923;p79">
              <a:extLst>
                <a:ext uri="{FF2B5EF4-FFF2-40B4-BE49-F238E27FC236}">
                  <a16:creationId xmlns:a16="http://schemas.microsoft.com/office/drawing/2014/main" id="{AE708CCD-C9E6-A67B-F7E5-CD6BBE4D49ED}"/>
                </a:ext>
              </a:extLst>
            </p:cNvPr>
            <p:cNvSpPr/>
            <p:nvPr/>
          </p:nvSpPr>
          <p:spPr>
            <a:xfrm>
              <a:off x="-31131375" y="207655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55" y="694"/>
                  </a:moveTo>
                  <a:lnTo>
                    <a:pt x="1355" y="1356"/>
                  </a:lnTo>
                  <a:lnTo>
                    <a:pt x="694" y="1356"/>
                  </a:lnTo>
                  <a:lnTo>
                    <a:pt x="694" y="694"/>
                  </a:lnTo>
                  <a:close/>
                  <a:moveTo>
                    <a:pt x="379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79" y="2080"/>
                  </a:cubicBezTo>
                  <a:lnTo>
                    <a:pt x="1733" y="2080"/>
                  </a:lnTo>
                  <a:cubicBezTo>
                    <a:pt x="1954" y="2080"/>
                    <a:pt x="2111" y="1923"/>
                    <a:pt x="2111" y="1734"/>
                  </a:cubicBezTo>
                  <a:lnTo>
                    <a:pt x="2111" y="348"/>
                  </a:ln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10924;p79">
              <a:extLst>
                <a:ext uri="{FF2B5EF4-FFF2-40B4-BE49-F238E27FC236}">
                  <a16:creationId xmlns:a16="http://schemas.microsoft.com/office/drawing/2014/main" id="{2E8AA69C-7230-3581-468D-586B73DC0819}"/>
                </a:ext>
              </a:extLst>
            </p:cNvPr>
            <p:cNvSpPr/>
            <p:nvPr/>
          </p:nvSpPr>
          <p:spPr>
            <a:xfrm>
              <a:off x="-31131375" y="20072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5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5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79" y="2111"/>
                  </a:cubicBezTo>
                  <a:lnTo>
                    <a:pt x="1733" y="2111"/>
                  </a:lnTo>
                  <a:cubicBezTo>
                    <a:pt x="1954" y="2111"/>
                    <a:pt x="2111" y="1954"/>
                    <a:pt x="2111" y="1733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" name="Google Shape;10925;p79">
              <a:extLst>
                <a:ext uri="{FF2B5EF4-FFF2-40B4-BE49-F238E27FC236}">
                  <a16:creationId xmlns:a16="http://schemas.microsoft.com/office/drawing/2014/main" id="{9F52FF9B-417D-9DFB-B409-D819E7D391FE}"/>
                </a:ext>
              </a:extLst>
            </p:cNvPr>
            <p:cNvSpPr/>
            <p:nvPr/>
          </p:nvSpPr>
          <p:spPr>
            <a:xfrm>
              <a:off x="-31062075" y="2007250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057" y="725"/>
                  </a:lnTo>
                  <a:cubicBezTo>
                    <a:pt x="3277" y="725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10926;p79">
              <a:extLst>
                <a:ext uri="{FF2B5EF4-FFF2-40B4-BE49-F238E27FC236}">
                  <a16:creationId xmlns:a16="http://schemas.microsoft.com/office/drawing/2014/main" id="{08378188-6BDF-7397-82CF-250333434274}"/>
                </a:ext>
              </a:extLst>
            </p:cNvPr>
            <p:cNvSpPr/>
            <p:nvPr/>
          </p:nvSpPr>
          <p:spPr>
            <a:xfrm>
              <a:off x="-31062075" y="2041900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10927;p79">
              <a:extLst>
                <a:ext uri="{FF2B5EF4-FFF2-40B4-BE49-F238E27FC236}">
                  <a16:creationId xmlns:a16="http://schemas.microsoft.com/office/drawing/2014/main" id="{A4EAC6A2-FC78-469D-466D-68A151606F18}"/>
                </a:ext>
              </a:extLst>
            </p:cNvPr>
            <p:cNvSpPr/>
            <p:nvPr/>
          </p:nvSpPr>
          <p:spPr>
            <a:xfrm>
              <a:off x="-31062075" y="2076550"/>
              <a:ext cx="85875" cy="17375"/>
            </a:xfrm>
            <a:custGeom>
              <a:avLst/>
              <a:gdLst/>
              <a:ahLst/>
              <a:cxnLst/>
              <a:rect l="l" t="t" r="r" b="b"/>
              <a:pathLst>
                <a:path w="3435" h="695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3057" y="694"/>
                  </a:lnTo>
                  <a:cubicBezTo>
                    <a:pt x="3277" y="694"/>
                    <a:pt x="3435" y="537"/>
                    <a:pt x="3435" y="348"/>
                  </a:cubicBezTo>
                  <a:cubicBezTo>
                    <a:pt x="3435" y="159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10928;p79">
              <a:extLst>
                <a:ext uri="{FF2B5EF4-FFF2-40B4-BE49-F238E27FC236}">
                  <a16:creationId xmlns:a16="http://schemas.microsoft.com/office/drawing/2014/main" id="{59DF4E5A-269B-F70B-628A-DEF94230F7D0}"/>
                </a:ext>
              </a:extLst>
            </p:cNvPr>
            <p:cNvSpPr/>
            <p:nvPr/>
          </p:nvSpPr>
          <p:spPr>
            <a:xfrm>
              <a:off x="-31062075" y="21104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90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10929;p79">
              <a:extLst>
                <a:ext uri="{FF2B5EF4-FFF2-40B4-BE49-F238E27FC236}">
                  <a16:creationId xmlns:a16="http://schemas.microsoft.com/office/drawing/2014/main" id="{DB68019C-EC43-4BF1-4405-0EA323772F5E}"/>
                </a:ext>
              </a:extLst>
            </p:cNvPr>
            <p:cNvSpPr/>
            <p:nvPr/>
          </p:nvSpPr>
          <p:spPr>
            <a:xfrm>
              <a:off x="-31062075" y="2145075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3057" y="726"/>
                  </a:lnTo>
                  <a:cubicBezTo>
                    <a:pt x="3277" y="726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10930;p79">
              <a:extLst>
                <a:ext uri="{FF2B5EF4-FFF2-40B4-BE49-F238E27FC236}">
                  <a16:creationId xmlns:a16="http://schemas.microsoft.com/office/drawing/2014/main" id="{CAEB2FFA-6F1C-BB88-4106-7125F07FB799}"/>
                </a:ext>
              </a:extLst>
            </p:cNvPr>
            <p:cNvSpPr/>
            <p:nvPr/>
          </p:nvSpPr>
          <p:spPr>
            <a:xfrm>
              <a:off x="-31062075" y="2179750"/>
              <a:ext cx="52025" cy="18125"/>
            </a:xfrm>
            <a:custGeom>
              <a:avLst/>
              <a:gdLst/>
              <a:ahLst/>
              <a:cxnLst/>
              <a:rect l="l" t="t" r="r" b="b"/>
              <a:pathLst>
                <a:path w="2081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7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10931;p79">
              <a:extLst>
                <a:ext uri="{FF2B5EF4-FFF2-40B4-BE49-F238E27FC236}">
                  <a16:creationId xmlns:a16="http://schemas.microsoft.com/office/drawing/2014/main" id="{8124BC34-555D-7173-BDD4-DA46F81F4670}"/>
                </a:ext>
              </a:extLst>
            </p:cNvPr>
            <p:cNvSpPr/>
            <p:nvPr/>
          </p:nvSpPr>
          <p:spPr>
            <a:xfrm>
              <a:off x="-30924225" y="1974175"/>
              <a:ext cx="51200" cy="240250"/>
            </a:xfrm>
            <a:custGeom>
              <a:avLst/>
              <a:gdLst/>
              <a:ahLst/>
              <a:cxnLst/>
              <a:rect l="l" t="t" r="r" b="b"/>
              <a:pathLst>
                <a:path w="2048" h="9610" extrusionOk="0">
                  <a:moveTo>
                    <a:pt x="1008" y="662"/>
                  </a:moveTo>
                  <a:cubicBezTo>
                    <a:pt x="1229" y="662"/>
                    <a:pt x="1386" y="819"/>
                    <a:pt x="1386" y="1009"/>
                  </a:cubicBezTo>
                  <a:lnTo>
                    <a:pt x="1386" y="2080"/>
                  </a:lnTo>
                  <a:lnTo>
                    <a:pt x="725" y="2080"/>
                  </a:lnTo>
                  <a:lnTo>
                    <a:pt x="725" y="1009"/>
                  </a:lnTo>
                  <a:lnTo>
                    <a:pt x="662" y="1009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1323" y="2741"/>
                  </a:moveTo>
                  <a:lnTo>
                    <a:pt x="1323" y="6900"/>
                  </a:lnTo>
                  <a:lnTo>
                    <a:pt x="662" y="6900"/>
                  </a:lnTo>
                  <a:lnTo>
                    <a:pt x="662" y="2741"/>
                  </a:lnTo>
                  <a:close/>
                  <a:moveTo>
                    <a:pt x="1260" y="7562"/>
                  </a:moveTo>
                  <a:lnTo>
                    <a:pt x="1008" y="8192"/>
                  </a:lnTo>
                  <a:lnTo>
                    <a:pt x="819" y="7562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7215"/>
                  </a:lnTo>
                  <a:lnTo>
                    <a:pt x="0" y="7309"/>
                  </a:lnTo>
                  <a:lnTo>
                    <a:pt x="662" y="9357"/>
                  </a:lnTo>
                  <a:cubicBezTo>
                    <a:pt x="693" y="9515"/>
                    <a:pt x="819" y="9609"/>
                    <a:pt x="977" y="9609"/>
                  </a:cubicBezTo>
                  <a:cubicBezTo>
                    <a:pt x="1134" y="9609"/>
                    <a:pt x="1260" y="9515"/>
                    <a:pt x="1292" y="9357"/>
                  </a:cubicBezTo>
                  <a:lnTo>
                    <a:pt x="1954" y="7309"/>
                  </a:lnTo>
                  <a:lnTo>
                    <a:pt x="1954" y="7215"/>
                  </a:lnTo>
                  <a:lnTo>
                    <a:pt x="1954" y="1009"/>
                  </a:lnTo>
                  <a:cubicBezTo>
                    <a:pt x="2048" y="441"/>
                    <a:pt x="1576" y="0"/>
                    <a:pt x="1008" y="0"/>
                  </a:cubicBezTo>
                  <a:close/>
                </a:path>
              </a:pathLst>
            </a:custGeom>
            <a:solidFill>
              <a:srgbClr val="01597F"/>
            </a:solidFill>
            <a:ln w="9525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4" name="Google Shape;10840;p79">
            <a:extLst>
              <a:ext uri="{FF2B5EF4-FFF2-40B4-BE49-F238E27FC236}">
                <a16:creationId xmlns:a16="http://schemas.microsoft.com/office/drawing/2014/main" id="{8E227DC0-46DE-3130-4BA8-91CCD7AC57FE}"/>
              </a:ext>
            </a:extLst>
          </p:cNvPr>
          <p:cNvGrpSpPr/>
          <p:nvPr/>
        </p:nvGrpSpPr>
        <p:grpSpPr>
          <a:xfrm>
            <a:off x="2455608" y="4369386"/>
            <a:ext cx="632740" cy="641123"/>
            <a:chOff x="-35495600" y="2631825"/>
            <a:chExt cx="292225" cy="291450"/>
          </a:xfrm>
        </p:grpSpPr>
        <p:sp>
          <p:nvSpPr>
            <p:cNvPr id="55" name="Google Shape;10841;p79">
              <a:extLst>
                <a:ext uri="{FF2B5EF4-FFF2-40B4-BE49-F238E27FC236}">
                  <a16:creationId xmlns:a16="http://schemas.microsoft.com/office/drawing/2014/main" id="{FB1AF0B4-08BE-CACD-3345-7990E3766BF5}"/>
                </a:ext>
              </a:extLst>
            </p:cNvPr>
            <p:cNvSpPr/>
            <p:nvPr/>
          </p:nvSpPr>
          <p:spPr>
            <a:xfrm>
              <a:off x="-35495600" y="2735025"/>
              <a:ext cx="137075" cy="188250"/>
            </a:xfrm>
            <a:custGeom>
              <a:avLst/>
              <a:gdLst/>
              <a:ahLst/>
              <a:cxnLst/>
              <a:rect l="l" t="t" r="r" b="b"/>
              <a:pathLst>
                <a:path w="5483" h="7530" extrusionOk="0">
                  <a:moveTo>
                    <a:pt x="4443" y="662"/>
                  </a:moveTo>
                  <a:cubicBezTo>
                    <a:pt x="4663" y="662"/>
                    <a:pt x="4821" y="819"/>
                    <a:pt x="4821" y="1040"/>
                  </a:cubicBezTo>
                  <a:lnTo>
                    <a:pt x="4821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725" y="819"/>
                    <a:pt x="820" y="662"/>
                    <a:pt x="1040" y="662"/>
                  </a:cubicBezTo>
                  <a:close/>
                  <a:moveTo>
                    <a:pt x="4821" y="2048"/>
                  </a:moveTo>
                  <a:lnTo>
                    <a:pt x="4821" y="5482"/>
                  </a:lnTo>
                  <a:lnTo>
                    <a:pt x="662" y="5482"/>
                  </a:lnTo>
                  <a:lnTo>
                    <a:pt x="662" y="2048"/>
                  </a:lnTo>
                  <a:close/>
                  <a:moveTo>
                    <a:pt x="4852" y="6143"/>
                  </a:moveTo>
                  <a:lnTo>
                    <a:pt x="4852" y="6490"/>
                  </a:lnTo>
                  <a:cubicBezTo>
                    <a:pt x="4821" y="6711"/>
                    <a:pt x="4663" y="6868"/>
                    <a:pt x="4506" y="6868"/>
                  </a:cubicBezTo>
                  <a:lnTo>
                    <a:pt x="1072" y="6868"/>
                  </a:lnTo>
                  <a:cubicBezTo>
                    <a:pt x="883" y="6868"/>
                    <a:pt x="725" y="6711"/>
                    <a:pt x="725" y="6490"/>
                  </a:cubicBezTo>
                  <a:lnTo>
                    <a:pt x="725" y="6143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6490"/>
                  </a:lnTo>
                  <a:cubicBezTo>
                    <a:pt x="0" y="7057"/>
                    <a:pt x="473" y="7530"/>
                    <a:pt x="1040" y="7530"/>
                  </a:cubicBezTo>
                  <a:lnTo>
                    <a:pt x="4443" y="7530"/>
                  </a:lnTo>
                  <a:cubicBezTo>
                    <a:pt x="5010" y="7530"/>
                    <a:pt x="5482" y="7057"/>
                    <a:pt x="5482" y="6490"/>
                  </a:cubicBezTo>
                  <a:lnTo>
                    <a:pt x="5482" y="1040"/>
                  </a:lnTo>
                  <a:cubicBezTo>
                    <a:pt x="5482" y="473"/>
                    <a:pt x="5010" y="0"/>
                    <a:pt x="4443" y="0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10842;p79">
              <a:extLst>
                <a:ext uri="{FF2B5EF4-FFF2-40B4-BE49-F238E27FC236}">
                  <a16:creationId xmlns:a16="http://schemas.microsoft.com/office/drawing/2014/main" id="{0972E31D-9B2F-8878-4192-AE6BA4D2C674}"/>
                </a:ext>
              </a:extLst>
            </p:cNvPr>
            <p:cNvSpPr/>
            <p:nvPr/>
          </p:nvSpPr>
          <p:spPr>
            <a:xfrm>
              <a:off x="-35339650" y="2631825"/>
              <a:ext cx="136275" cy="188275"/>
            </a:xfrm>
            <a:custGeom>
              <a:avLst/>
              <a:gdLst/>
              <a:ahLst/>
              <a:cxnLst/>
              <a:rect l="l" t="t" r="r" b="b"/>
              <a:pathLst>
                <a:path w="5451" h="7531" extrusionOk="0">
                  <a:moveTo>
                    <a:pt x="4411" y="662"/>
                  </a:moveTo>
                  <a:cubicBezTo>
                    <a:pt x="4600" y="662"/>
                    <a:pt x="4758" y="820"/>
                    <a:pt x="4758" y="1009"/>
                  </a:cubicBezTo>
                  <a:lnTo>
                    <a:pt x="4758" y="1387"/>
                  </a:lnTo>
                  <a:lnTo>
                    <a:pt x="631" y="1387"/>
                  </a:lnTo>
                  <a:lnTo>
                    <a:pt x="631" y="1009"/>
                  </a:lnTo>
                  <a:cubicBezTo>
                    <a:pt x="631" y="820"/>
                    <a:pt x="788" y="662"/>
                    <a:pt x="977" y="662"/>
                  </a:cubicBezTo>
                  <a:close/>
                  <a:moveTo>
                    <a:pt x="4758" y="2049"/>
                  </a:moveTo>
                  <a:lnTo>
                    <a:pt x="4758" y="5483"/>
                  </a:lnTo>
                  <a:lnTo>
                    <a:pt x="631" y="5483"/>
                  </a:lnTo>
                  <a:lnTo>
                    <a:pt x="631" y="2049"/>
                  </a:lnTo>
                  <a:close/>
                  <a:moveTo>
                    <a:pt x="4789" y="6144"/>
                  </a:moveTo>
                  <a:lnTo>
                    <a:pt x="4789" y="6491"/>
                  </a:lnTo>
                  <a:cubicBezTo>
                    <a:pt x="4758" y="6680"/>
                    <a:pt x="4600" y="6837"/>
                    <a:pt x="4443" y="6837"/>
                  </a:cubicBezTo>
                  <a:lnTo>
                    <a:pt x="1009" y="6837"/>
                  </a:lnTo>
                  <a:cubicBezTo>
                    <a:pt x="820" y="6837"/>
                    <a:pt x="662" y="6680"/>
                    <a:pt x="662" y="6491"/>
                  </a:cubicBezTo>
                  <a:lnTo>
                    <a:pt x="662" y="6144"/>
                  </a:ln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6491"/>
                  </a:lnTo>
                  <a:cubicBezTo>
                    <a:pt x="0" y="7058"/>
                    <a:pt x="473" y="7531"/>
                    <a:pt x="1009" y="7531"/>
                  </a:cubicBezTo>
                  <a:lnTo>
                    <a:pt x="4443" y="7531"/>
                  </a:lnTo>
                  <a:cubicBezTo>
                    <a:pt x="4978" y="7531"/>
                    <a:pt x="5451" y="7058"/>
                    <a:pt x="5451" y="6491"/>
                  </a:cubicBezTo>
                  <a:lnTo>
                    <a:pt x="5451" y="1009"/>
                  </a:lnTo>
                  <a:cubicBezTo>
                    <a:pt x="5451" y="442"/>
                    <a:pt x="4978" y="1"/>
                    <a:pt x="4443" y="1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10843;p79">
              <a:extLst>
                <a:ext uri="{FF2B5EF4-FFF2-40B4-BE49-F238E27FC236}">
                  <a16:creationId xmlns:a16="http://schemas.microsoft.com/office/drawing/2014/main" id="{D12D64FE-9776-878E-248D-151ED7FD9897}"/>
                </a:ext>
              </a:extLst>
            </p:cNvPr>
            <p:cNvSpPr/>
            <p:nvPr/>
          </p:nvSpPr>
          <p:spPr>
            <a:xfrm>
              <a:off x="-35341225" y="2836625"/>
              <a:ext cx="85075" cy="84500"/>
            </a:xfrm>
            <a:custGeom>
              <a:avLst/>
              <a:gdLst/>
              <a:ahLst/>
              <a:cxnLst/>
              <a:rect l="l" t="t" r="r" b="b"/>
              <a:pathLst>
                <a:path w="3403" h="3380" extrusionOk="0">
                  <a:moveTo>
                    <a:pt x="3056" y="0"/>
                  </a:moveTo>
                  <a:cubicBezTo>
                    <a:pt x="2836" y="0"/>
                    <a:pt x="2678" y="158"/>
                    <a:pt x="2678" y="347"/>
                  </a:cubicBezTo>
                  <a:lnTo>
                    <a:pt x="2678" y="1008"/>
                  </a:lnTo>
                  <a:cubicBezTo>
                    <a:pt x="2678" y="1575"/>
                    <a:pt x="2206" y="2048"/>
                    <a:pt x="1670" y="2048"/>
                  </a:cubicBezTo>
                  <a:lnTo>
                    <a:pt x="1103" y="2048"/>
                  </a:lnTo>
                  <a:lnTo>
                    <a:pt x="1229" y="1922"/>
                  </a:lnTo>
                  <a:cubicBezTo>
                    <a:pt x="1418" y="1859"/>
                    <a:pt x="1418" y="1638"/>
                    <a:pt x="1261" y="1481"/>
                  </a:cubicBezTo>
                  <a:cubicBezTo>
                    <a:pt x="1213" y="1418"/>
                    <a:pt x="1127" y="1386"/>
                    <a:pt x="1036" y="1386"/>
                  </a:cubicBezTo>
                  <a:cubicBezTo>
                    <a:pt x="946" y="1386"/>
                    <a:pt x="851" y="1418"/>
                    <a:pt x="788" y="1481"/>
                  </a:cubicBezTo>
                  <a:lnTo>
                    <a:pt x="126" y="2142"/>
                  </a:lnTo>
                  <a:cubicBezTo>
                    <a:pt x="0" y="2268"/>
                    <a:pt x="0" y="2521"/>
                    <a:pt x="126" y="2615"/>
                  </a:cubicBezTo>
                  <a:lnTo>
                    <a:pt x="788" y="3308"/>
                  </a:lnTo>
                  <a:cubicBezTo>
                    <a:pt x="851" y="3355"/>
                    <a:pt x="946" y="3379"/>
                    <a:pt x="1036" y="3379"/>
                  </a:cubicBezTo>
                  <a:cubicBezTo>
                    <a:pt x="1127" y="3379"/>
                    <a:pt x="1213" y="3355"/>
                    <a:pt x="1261" y="3308"/>
                  </a:cubicBezTo>
                  <a:cubicBezTo>
                    <a:pt x="1387" y="3182"/>
                    <a:pt x="1387" y="2930"/>
                    <a:pt x="1261" y="2836"/>
                  </a:cubicBezTo>
                  <a:lnTo>
                    <a:pt x="1166" y="2710"/>
                  </a:lnTo>
                  <a:lnTo>
                    <a:pt x="1702" y="2710"/>
                  </a:lnTo>
                  <a:cubicBezTo>
                    <a:pt x="2647" y="2710"/>
                    <a:pt x="3403" y="1953"/>
                    <a:pt x="3403" y="1008"/>
                  </a:cubicBezTo>
                  <a:lnTo>
                    <a:pt x="3403" y="347"/>
                  </a:lnTo>
                  <a:cubicBezTo>
                    <a:pt x="3403" y="158"/>
                    <a:pt x="3245" y="0"/>
                    <a:pt x="3056" y="0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10844;p79">
              <a:extLst>
                <a:ext uri="{FF2B5EF4-FFF2-40B4-BE49-F238E27FC236}">
                  <a16:creationId xmlns:a16="http://schemas.microsoft.com/office/drawing/2014/main" id="{53C5DED2-558C-C752-D5E5-EE5CE60590C9}"/>
                </a:ext>
              </a:extLst>
            </p:cNvPr>
            <p:cNvSpPr/>
            <p:nvPr/>
          </p:nvSpPr>
          <p:spPr>
            <a:xfrm>
              <a:off x="-35442050" y="2632625"/>
              <a:ext cx="84300" cy="85075"/>
            </a:xfrm>
            <a:custGeom>
              <a:avLst/>
              <a:gdLst/>
              <a:ahLst/>
              <a:cxnLst/>
              <a:rect l="l" t="t" r="r" b="b"/>
              <a:pathLst>
                <a:path w="3372" h="3403" extrusionOk="0">
                  <a:moveTo>
                    <a:pt x="2348" y="0"/>
                  </a:moveTo>
                  <a:cubicBezTo>
                    <a:pt x="2261" y="0"/>
                    <a:pt x="2175" y="32"/>
                    <a:pt x="2112" y="95"/>
                  </a:cubicBezTo>
                  <a:cubicBezTo>
                    <a:pt x="1986" y="189"/>
                    <a:pt x="1986" y="441"/>
                    <a:pt x="2112" y="567"/>
                  </a:cubicBezTo>
                  <a:lnTo>
                    <a:pt x="2238" y="662"/>
                  </a:lnTo>
                  <a:lnTo>
                    <a:pt x="1671" y="662"/>
                  </a:lnTo>
                  <a:cubicBezTo>
                    <a:pt x="725" y="662"/>
                    <a:pt x="1" y="1418"/>
                    <a:pt x="1" y="2363"/>
                  </a:cubicBezTo>
                  <a:lnTo>
                    <a:pt x="1" y="3025"/>
                  </a:lnTo>
                  <a:cubicBezTo>
                    <a:pt x="1" y="3245"/>
                    <a:pt x="158" y="3403"/>
                    <a:pt x="347" y="3403"/>
                  </a:cubicBezTo>
                  <a:cubicBezTo>
                    <a:pt x="536" y="3403"/>
                    <a:pt x="694" y="3245"/>
                    <a:pt x="694" y="3025"/>
                  </a:cubicBezTo>
                  <a:lnTo>
                    <a:pt x="694" y="2363"/>
                  </a:lnTo>
                  <a:cubicBezTo>
                    <a:pt x="694" y="1828"/>
                    <a:pt x="1166" y="1355"/>
                    <a:pt x="1734" y="1355"/>
                  </a:cubicBezTo>
                  <a:lnTo>
                    <a:pt x="2269" y="1355"/>
                  </a:lnTo>
                  <a:lnTo>
                    <a:pt x="2143" y="1450"/>
                  </a:lnTo>
                  <a:cubicBezTo>
                    <a:pt x="1954" y="1544"/>
                    <a:pt x="1954" y="1765"/>
                    <a:pt x="2112" y="1891"/>
                  </a:cubicBezTo>
                  <a:cubicBezTo>
                    <a:pt x="2175" y="1954"/>
                    <a:pt x="2261" y="1985"/>
                    <a:pt x="2348" y="1985"/>
                  </a:cubicBezTo>
                  <a:cubicBezTo>
                    <a:pt x="2435" y="1985"/>
                    <a:pt x="2521" y="1954"/>
                    <a:pt x="2584" y="1891"/>
                  </a:cubicBezTo>
                  <a:lnTo>
                    <a:pt x="3246" y="1229"/>
                  </a:lnTo>
                  <a:cubicBezTo>
                    <a:pt x="3372" y="1103"/>
                    <a:pt x="3372" y="883"/>
                    <a:pt x="3246" y="756"/>
                  </a:cubicBezTo>
                  <a:lnTo>
                    <a:pt x="2584" y="95"/>
                  </a:lnTo>
                  <a:cubicBezTo>
                    <a:pt x="2521" y="32"/>
                    <a:pt x="2435" y="0"/>
                    <a:pt x="2348" y="0"/>
                  </a:cubicBez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400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3919694-E740-8E06-12B9-30255599E4FA}"/>
              </a:ext>
            </a:extLst>
          </p:cNvPr>
          <p:cNvGrpSpPr/>
          <p:nvPr/>
        </p:nvGrpSpPr>
        <p:grpSpPr>
          <a:xfrm>
            <a:off x="3291450" y="5641714"/>
            <a:ext cx="144000" cy="538464"/>
            <a:chOff x="6081941" y="4965371"/>
            <a:chExt cx="144000" cy="538464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9DD7B3D-9E1D-9D0D-89B5-7F4F1D5315B7}"/>
                </a:ext>
              </a:extLst>
            </p:cNvPr>
            <p:cNvSpPr/>
            <p:nvPr/>
          </p:nvSpPr>
          <p:spPr>
            <a:xfrm>
              <a:off x="6081941" y="4965371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defRPr/>
              </a:pPr>
              <a:endParaRPr lang="en-IL" sz="1400" kern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C52AC28-0474-1152-CE8C-0CDA8A1B197F}"/>
                </a:ext>
              </a:extLst>
            </p:cNvPr>
            <p:cNvSpPr/>
            <p:nvPr/>
          </p:nvSpPr>
          <p:spPr>
            <a:xfrm>
              <a:off x="6081941" y="5162603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defRPr/>
              </a:pPr>
              <a:endParaRPr lang="en-IL" sz="1400" kern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484299C-084E-5ED3-EE62-1D1405659290}"/>
                </a:ext>
              </a:extLst>
            </p:cNvPr>
            <p:cNvSpPr/>
            <p:nvPr/>
          </p:nvSpPr>
          <p:spPr>
            <a:xfrm>
              <a:off x="6081941" y="5359835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defRPr/>
              </a:pPr>
              <a:endParaRPr lang="en-IL" sz="1400" kern="0">
                <a:solidFill>
                  <a:srgbClr val="FFFFFF"/>
                </a:solidFill>
                <a:latin typeface="Arial"/>
                <a:sym typeface="Arial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54B67AB2-5266-AED9-7ED1-5A4B07207BCB}"/>
              </a:ext>
            </a:extLst>
          </p:cNvPr>
          <p:cNvSpPr txBox="1"/>
          <p:nvPr/>
        </p:nvSpPr>
        <p:spPr>
          <a:xfrm>
            <a:off x="3331357" y="3827679"/>
            <a:ext cx="1233698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</a:t>
            </a:r>
            <a:endParaRPr lang="he-IL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F8510F1-0957-A5E0-181B-16B087CB384C}"/>
              </a:ext>
            </a:extLst>
          </p:cNvPr>
          <p:cNvSpPr txBox="1"/>
          <p:nvPr/>
        </p:nvSpPr>
        <p:spPr>
          <a:xfrm>
            <a:off x="2135056" y="3830775"/>
            <a:ext cx="1233698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</a:t>
            </a:r>
            <a:endParaRPr lang="he-IL" sz="1650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072ED23-4EE7-9681-B667-ACCAFAD570E8}"/>
              </a:ext>
            </a:extLst>
          </p:cNvPr>
          <p:cNvSpPr txBox="1"/>
          <p:nvPr/>
        </p:nvSpPr>
        <p:spPr>
          <a:xfrm>
            <a:off x="3329042" y="5035984"/>
            <a:ext cx="1233698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</a:t>
            </a:r>
            <a:endParaRPr lang="he-IL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26CA5AD-A962-689F-E91D-5BB355B50AE7}"/>
              </a:ext>
            </a:extLst>
          </p:cNvPr>
          <p:cNvSpPr txBox="1"/>
          <p:nvPr/>
        </p:nvSpPr>
        <p:spPr>
          <a:xfrm>
            <a:off x="2132741" y="5039081"/>
            <a:ext cx="1233698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concurrent system</a:t>
            </a:r>
            <a:endParaRPr lang="he-IL" sz="1650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09CEFC4B-5ACA-A8A1-3FB5-D0F9D7575A5E}"/>
              </a:ext>
            </a:extLst>
          </p:cNvPr>
          <p:cNvCxnSpPr>
            <a:cxnSpLocks/>
          </p:cNvCxnSpPr>
          <p:nvPr/>
        </p:nvCxnSpPr>
        <p:spPr>
          <a:xfrm>
            <a:off x="4711700" y="3462667"/>
            <a:ext cx="975222" cy="0"/>
          </a:xfrm>
          <a:prstGeom prst="straightConnector1">
            <a:avLst/>
          </a:prstGeom>
          <a:noFill/>
          <a:ln w="38100" cap="flat" cmpd="sng" algn="ctr">
            <a:solidFill>
              <a:srgbClr val="01597F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BD7D1E7B-2FF4-CC49-BD08-82A142920366}"/>
              </a:ext>
            </a:extLst>
          </p:cNvPr>
          <p:cNvCxnSpPr>
            <a:cxnSpLocks/>
          </p:cNvCxnSpPr>
          <p:nvPr/>
        </p:nvCxnSpPr>
        <p:spPr>
          <a:xfrm flipV="1">
            <a:off x="4661914" y="3609230"/>
            <a:ext cx="1019672" cy="1101265"/>
          </a:xfrm>
          <a:prstGeom prst="straightConnector1">
            <a:avLst/>
          </a:prstGeom>
          <a:noFill/>
          <a:ln w="38100" cap="flat" cmpd="sng" algn="ctr">
            <a:solidFill>
              <a:srgbClr val="01597F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552678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1" grpId="0" animBg="1"/>
      <p:bldP spid="63" grpId="0"/>
      <p:bldP spid="192" grpId="0"/>
      <p:bldP spid="193" grpId="0"/>
      <p:bldP spid="19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28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THIS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FM guarantees — and what it does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0F1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→ meets its spec on all behaviors.      UNSAT → a bug, with a counterexample.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Guaranteed — but only relative to three things: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encoding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say what the code does?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0" y="333756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66344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63440" y="40233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the property we wanted?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38160" y="333756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41248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12480" y="40233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 solving is undecidable — it may never answer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where an LLM can help — and where it </a:t>
            </a: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must not be trusted!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5B097-FB2E-AACA-1D27-19B62CB2E4DA}"/>
              </a:ext>
            </a:extLst>
          </p:cNvPr>
          <p:cNvSpPr txBox="1"/>
          <p:nvPr/>
        </p:nvSpPr>
        <p:spPr>
          <a:xfrm>
            <a:off x="676141" y="1062507"/>
            <a:ext cx="833263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</a:rPr>
              <a:t>Can LLM help us find invariants?</a:t>
            </a:r>
            <a:endParaRPr lang="en-IL" sz="3400" b="1" dirty="0">
              <a:solidFill>
                <a:srgbClr val="0000FF"/>
              </a:solidFill>
              <a:latin typeface="Cambria" pitchFamily="34" charset="0"/>
              <a:ea typeface="Cambria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28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loop, concretely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5F64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any generator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63240" y="2651760"/>
            <a:ext cx="1783080" cy="0"/>
          </a:xfrm>
          <a:prstGeom prst="line">
            <a:avLst/>
          </a:prstGeom>
          <a:noFill/>
          <a:ln w="25400">
            <a:solidFill>
              <a:srgbClr val="5F6480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06324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0" y="1965960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80960" y="2651760"/>
            <a:ext cx="182880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9509760" y="19659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509760" y="19659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1812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63640" y="3337560"/>
            <a:ext cx="0" cy="86868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6263640" y="4206240"/>
            <a:ext cx="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828800" y="4206240"/>
            <a:ext cx="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192024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valid — send back the failed candidate + counterexample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box is the central building block. The pale box is replaceable.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valid → the same information Floyd’s checks gave a human. 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7659-B2C8-BB1C-7541-97A6072B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4A984-2FE9-D25A-4D46-36AF1A95F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talk presents a very limited view of what formal verification is:</a:t>
            </a:r>
            <a:br>
              <a:rPr lang="en-US" dirty="0"/>
            </a:br>
            <a:r>
              <a:rPr lang="en-US" dirty="0"/>
              <a:t>an invariant finding for proving a program correctness</a:t>
            </a:r>
          </a:p>
          <a:p>
            <a:pPr lvl="1"/>
            <a:r>
              <a:rPr lang="en-US" dirty="0"/>
              <a:t>Floyd method and solvers can handle program with much richer structures</a:t>
            </a:r>
          </a:p>
          <a:p>
            <a:pPr lvl="1"/>
            <a:r>
              <a:rPr lang="en-US" dirty="0"/>
              <a:t>More complex specifications</a:t>
            </a:r>
          </a:p>
          <a:p>
            <a:endParaRPr lang="en-US" dirty="0"/>
          </a:p>
          <a:p>
            <a:r>
              <a:rPr lang="en-US" dirty="0"/>
              <a:t>Recent works apply LLM in different ways to assist formal methods</a:t>
            </a:r>
          </a:p>
          <a:p>
            <a:pPr lvl="1"/>
            <a:r>
              <a:rPr lang="en-US" dirty="0"/>
              <a:t>NOT to replace them</a:t>
            </a:r>
          </a:p>
          <a:p>
            <a:pPr lvl="1"/>
            <a:r>
              <a:rPr lang="en-US" dirty="0"/>
              <a:t>They do not guarantee correctness unless they are checked by a formal checker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38F12-D532-130F-7BC4-E29C1107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98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4124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7552" y="5029200"/>
            <a:ext cx="8046720" cy="0"/>
          </a:xfrm>
          <a:prstGeom prst="line">
            <a:avLst/>
          </a:prstGeom>
          <a:noFill/>
          <a:ln w="25400">
            <a:solidFill>
              <a:srgbClr val="3A40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4956048"/>
            <a:ext cx="155448" cy="155448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8AE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human writes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8AE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1967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37760" y="4956048"/>
            <a:ext cx="155448" cy="155448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8AE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solver finds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0" y="4956048"/>
            <a:ext cx="155448" cy="155448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6968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8AE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LLM guesses it — a solver still checks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A8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okThemeNew">
  <a:themeElements>
    <a:clrScheme name="Custom 2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FFFF00"/>
      </a:accent2>
      <a:accent3>
        <a:srgbClr val="FF0000"/>
      </a:accent3>
      <a:accent4>
        <a:srgbClr val="008E00"/>
      </a:accent4>
      <a:accent5>
        <a:srgbClr val="45A5ED"/>
      </a:accent5>
      <a:accent6>
        <a:srgbClr val="0000FF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okThemeNew" id="{C82F7818-D64C-6D4A-9055-59B64CE3D983}" vid="{5E01472F-F872-6849-BC4F-4BD1C77CB7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BookThemeNew</Template>
  <TotalTime>18251</TotalTime>
  <Words>1664</Words>
  <Application>Microsoft Office PowerPoint</Application>
  <PresentationFormat>Widescreen</PresentationFormat>
  <Paragraphs>312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Aptos</vt:lpstr>
      <vt:lpstr>Arial</vt:lpstr>
      <vt:lpstr>Calibri</vt:lpstr>
      <vt:lpstr>Calibri Light</vt:lpstr>
      <vt:lpstr>Cambria</vt:lpstr>
      <vt:lpstr>Cambria Math</vt:lpstr>
      <vt:lpstr>Courier New</vt:lpstr>
      <vt:lpstr>Dosis</vt:lpstr>
      <vt:lpstr>Symbol</vt:lpstr>
      <vt:lpstr>Times New Roman</vt:lpstr>
      <vt:lpstr>BookThemeNew</vt:lpstr>
      <vt:lpstr>Office Theme</vt:lpstr>
      <vt:lpstr>PowerPoint Presentation</vt:lpstr>
      <vt:lpstr> From Program Verification to Constrained Horn Clauses</vt:lpstr>
      <vt:lpstr>PowerPoint Presentation</vt:lpstr>
      <vt:lpstr>Program Verification </vt:lpstr>
      <vt:lpstr>Program Verification</vt:lpstr>
      <vt:lpstr>An Example of Verification Problem </vt:lpstr>
      <vt:lpstr>Program Verification (Floyd method)</vt:lpstr>
      <vt:lpstr>Program Verification (Floyd method)</vt:lpstr>
      <vt:lpstr>Program Verification (Floyd method)</vt:lpstr>
      <vt:lpstr>Program Verification (Floyd method)</vt:lpstr>
      <vt:lpstr>PowerPoint Presentation</vt:lpstr>
      <vt:lpstr>PowerPoint Presentation</vt:lpstr>
      <vt:lpstr>Back to Program Verification</vt:lpstr>
      <vt:lpstr>Program Verification via CHCs</vt:lpstr>
      <vt:lpstr>Constrained Horn Clauses (CHCs)</vt:lpstr>
      <vt:lpstr>An Example Verification Problem</vt:lpstr>
      <vt:lpstr>An Example Verification Problem</vt:lpstr>
      <vt:lpstr>Derivations</vt:lpstr>
      <vt:lpstr>Proving Satisfiability with Interpretations</vt:lpstr>
      <vt:lpstr>PowerPoint Presentation</vt:lpstr>
      <vt:lpstr>Program Verification via CHCs</vt:lpstr>
      <vt:lpstr>Applications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Logic</dc:title>
  <dc:creator>Orna Grumberg</dc:creator>
  <cp:lastModifiedBy>Orna Grumberg</cp:lastModifiedBy>
  <cp:revision>1412</cp:revision>
  <dcterms:created xsi:type="dcterms:W3CDTF">2020-06-21T13:53:03Z</dcterms:created>
  <dcterms:modified xsi:type="dcterms:W3CDTF">2026-08-13T20:00:06Z</dcterms:modified>
</cp:coreProperties>
</file>