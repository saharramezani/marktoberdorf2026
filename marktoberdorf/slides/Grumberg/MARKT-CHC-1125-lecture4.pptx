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8" r:id="rId1"/>
  </p:sldMasterIdLst>
  <p:notesMasterIdLst>
    <p:notesMasterId r:id="rId28"/>
  </p:notesMasterIdLst>
  <p:sldIdLst>
    <p:sldId id="343" r:id="rId2"/>
    <p:sldId id="866" r:id="rId3"/>
    <p:sldId id="794" r:id="rId4"/>
    <p:sldId id="770" r:id="rId5"/>
    <p:sldId id="780" r:id="rId6"/>
    <p:sldId id="779" r:id="rId7"/>
    <p:sldId id="783" r:id="rId8"/>
    <p:sldId id="265" r:id="rId9"/>
    <p:sldId id="269" r:id="rId10"/>
    <p:sldId id="785" r:id="rId11"/>
    <p:sldId id="882" r:id="rId12"/>
    <p:sldId id="788" r:id="rId13"/>
    <p:sldId id="782" r:id="rId14"/>
    <p:sldId id="789" r:id="rId15"/>
    <p:sldId id="790" r:id="rId16"/>
    <p:sldId id="791" r:id="rId17"/>
    <p:sldId id="997" r:id="rId18"/>
    <p:sldId id="862" r:id="rId19"/>
    <p:sldId id="810" r:id="rId20"/>
    <p:sldId id="820" r:id="rId21"/>
    <p:sldId id="871" r:id="rId22"/>
    <p:sldId id="817" r:id="rId23"/>
    <p:sldId id="836" r:id="rId24"/>
    <p:sldId id="879" r:id="rId25"/>
    <p:sldId id="999" r:id="rId26"/>
    <p:sldId id="92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886573-EFDC-481F-B176-F478E7A76EFD}">
          <p14:sldIdLst>
            <p14:sldId id="343"/>
          </p14:sldIdLst>
        </p14:section>
        <p14:section name="Backups" id="{C5B6A420-4D0F-4AE5-93A5-F082A5DE342C}">
          <p14:sldIdLst>
            <p14:sldId id="866"/>
            <p14:sldId id="794"/>
            <p14:sldId id="770"/>
            <p14:sldId id="780"/>
            <p14:sldId id="779"/>
            <p14:sldId id="783"/>
            <p14:sldId id="265"/>
            <p14:sldId id="269"/>
            <p14:sldId id="785"/>
            <p14:sldId id="882"/>
            <p14:sldId id="788"/>
            <p14:sldId id="782"/>
            <p14:sldId id="789"/>
            <p14:sldId id="790"/>
            <p14:sldId id="791"/>
            <p14:sldId id="997"/>
            <p14:sldId id="862"/>
            <p14:sldId id="810"/>
            <p14:sldId id="820"/>
            <p14:sldId id="871"/>
            <p14:sldId id="817"/>
            <p14:sldId id="836"/>
            <p14:sldId id="879"/>
            <p14:sldId id="999"/>
            <p14:sldId id="92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07A7"/>
    <a:srgbClr val="0000FF"/>
    <a:srgbClr val="EAB200"/>
    <a:srgbClr val="D3501B"/>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010" autoAdjust="0"/>
    <p:restoredTop sz="94660" autoAdjust="0"/>
  </p:normalViewPr>
  <p:slideViewPr>
    <p:cSldViewPr snapToGrid="0">
      <p:cViewPr varScale="1">
        <p:scale>
          <a:sx n="84" d="100"/>
          <a:sy n="84" d="100"/>
        </p:scale>
        <p:origin x="393" y="45"/>
      </p:cViewPr>
      <p:guideLst>
        <p:guide orient="horz" pos="2160"/>
        <p:guide pos="3840"/>
      </p:guideLst>
    </p:cSldViewPr>
  </p:slideViewPr>
  <p:outlineViewPr>
    <p:cViewPr>
      <p:scale>
        <a:sx n="33" d="100"/>
        <a:sy n="33" d="100"/>
      </p:scale>
      <p:origin x="0" y="16251"/>
    </p:cViewPr>
  </p:outlineViewPr>
  <p:notesTextViewPr>
    <p:cViewPr>
      <p:scale>
        <a:sx n="1" d="1"/>
        <a:sy n="1" d="1"/>
      </p:scale>
      <p:origin x="0" y="0"/>
    </p:cViewPr>
  </p:notesTextViewPr>
  <p:sorterViewPr>
    <p:cViewPr varScale="1">
      <p:scale>
        <a:sx n="100" d="100"/>
        <a:sy n="100" d="100"/>
      </p:scale>
      <p:origin x="0" y="-10683"/>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22BF3-8149-44B9-9744-C614AF96F935}" type="datetimeFigureOut">
              <a:rPr lang="en-US" smtClean="0"/>
              <a:t>8/15/2026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672A8-944D-454C-B36A-F4D10AF28EB0}" type="slidenum">
              <a:rPr lang="en-US" smtClean="0"/>
              <a:t>‹#›</a:t>
            </a:fld>
            <a:endParaRPr lang="en-US"/>
          </a:p>
        </p:txBody>
      </p:sp>
    </p:spTree>
    <p:extLst>
      <p:ext uri="{BB962C8B-B14F-4D97-AF65-F5344CB8AC3E}">
        <p14:creationId xmlns:p14="http://schemas.microsoft.com/office/powerpoint/2010/main" val="3174677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Perhaps mention the motivation after the example on the next slide</a:t>
            </a:r>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3</a:t>
            </a:fld>
            <a:endParaRPr lang="en-IL"/>
          </a:p>
        </p:txBody>
      </p:sp>
    </p:spTree>
    <p:extLst>
      <p:ext uri="{BB962C8B-B14F-4D97-AF65-F5344CB8AC3E}">
        <p14:creationId xmlns:p14="http://schemas.microsoft.com/office/powerpoint/2010/main" val="311557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4</a:t>
            </a:fld>
            <a:endParaRPr lang="en-IL"/>
          </a:p>
        </p:txBody>
      </p:sp>
    </p:spTree>
    <p:extLst>
      <p:ext uri="{BB962C8B-B14F-4D97-AF65-F5344CB8AC3E}">
        <p14:creationId xmlns:p14="http://schemas.microsoft.com/office/powerpoint/2010/main" val="1403903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6</a:t>
            </a:fld>
            <a:endParaRPr lang="en-IL"/>
          </a:p>
        </p:txBody>
      </p:sp>
    </p:spTree>
    <p:extLst>
      <p:ext uri="{BB962C8B-B14F-4D97-AF65-F5344CB8AC3E}">
        <p14:creationId xmlns:p14="http://schemas.microsoft.com/office/powerpoint/2010/main" val="1830225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7</a:t>
            </a:fld>
            <a:endParaRPr lang="en-IL"/>
          </a:p>
        </p:txBody>
      </p:sp>
    </p:spTree>
    <p:extLst>
      <p:ext uri="{BB962C8B-B14F-4D97-AF65-F5344CB8AC3E}">
        <p14:creationId xmlns:p14="http://schemas.microsoft.com/office/powerpoint/2010/main" val="1501418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9</a:t>
            </a:fld>
            <a:endParaRPr lang="en-IL"/>
          </a:p>
        </p:txBody>
      </p:sp>
    </p:spTree>
    <p:extLst>
      <p:ext uri="{BB962C8B-B14F-4D97-AF65-F5344CB8AC3E}">
        <p14:creationId xmlns:p14="http://schemas.microsoft.com/office/powerpoint/2010/main" val="3550040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10</a:t>
            </a:fld>
            <a:endParaRPr lang="en-IL"/>
          </a:p>
        </p:txBody>
      </p:sp>
    </p:spTree>
    <p:extLst>
      <p:ext uri="{BB962C8B-B14F-4D97-AF65-F5344CB8AC3E}">
        <p14:creationId xmlns:p14="http://schemas.microsoft.com/office/powerpoint/2010/main" val="460855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851AF-4A6C-3B87-E531-5B32494D5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91569-C55F-214D-3B31-759666880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98D75-7D19-097C-8EC6-4270F7B2F129}"/>
              </a:ext>
            </a:extLst>
          </p:cNvPr>
          <p:cNvSpPr>
            <a:spLocks noGrp="1"/>
          </p:cNvSpPr>
          <p:nvPr>
            <p:ph type="body" idx="1"/>
          </p:nvPr>
        </p:nvSpPr>
        <p:spPr/>
        <p:txBody>
          <a:bodyPr/>
          <a:lstStyle/>
          <a:p>
            <a:r>
              <a:rPr lang="en-US" dirty="0"/>
              <a:t>Freedom is obtained from non-reachable states at D1 and from states that are not doomed at either F or T (don’t cares).</a:t>
            </a:r>
          </a:p>
          <a:p>
            <a:r>
              <a:rPr lang="en-US" dirty="0"/>
              <a:t>Intuitively not(D1) represents the reachable states at D1</a:t>
            </a:r>
            <a:endParaRPr lang="en-IL" dirty="0"/>
          </a:p>
        </p:txBody>
      </p:sp>
      <p:sp>
        <p:nvSpPr>
          <p:cNvPr id="4" name="Slide Number Placeholder 3">
            <a:extLst>
              <a:ext uri="{FF2B5EF4-FFF2-40B4-BE49-F238E27FC236}">
                <a16:creationId xmlns:a16="http://schemas.microsoft.com/office/drawing/2014/main" id="{C3DE1B16-FE8E-87DA-EFEA-7B421FB1CE50}"/>
              </a:ext>
            </a:extLst>
          </p:cNvPr>
          <p:cNvSpPr>
            <a:spLocks noGrp="1"/>
          </p:cNvSpPr>
          <p:nvPr>
            <p:ph type="sldNum" sz="quarter" idx="5"/>
          </p:nvPr>
        </p:nvSpPr>
        <p:spPr/>
        <p:txBody>
          <a:bodyPr/>
          <a:lstStyle/>
          <a:p>
            <a:fld id="{CBCF03CC-86BC-4ABC-A83D-2B246C22E0EB}" type="slidenum">
              <a:rPr lang="en-IL" smtClean="0"/>
              <a:t>11</a:t>
            </a:fld>
            <a:endParaRPr lang="en-IL"/>
          </a:p>
        </p:txBody>
      </p:sp>
    </p:spTree>
    <p:extLst>
      <p:ext uri="{BB962C8B-B14F-4D97-AF65-F5344CB8AC3E}">
        <p14:creationId xmlns:p14="http://schemas.microsoft.com/office/powerpoint/2010/main" val="3278252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Freedom is obtained from non-reachable states at D1 and from states that are not doomed at neither F or T (don’t cares).</a:t>
            </a:r>
          </a:p>
          <a:p>
            <a:r>
              <a:rPr lang="en-US" dirty="0"/>
              <a:t>Intuitively not(D1) represents the reachable states at D1</a:t>
            </a:r>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12</a:t>
            </a:fld>
            <a:endParaRPr lang="en-IL"/>
          </a:p>
        </p:txBody>
      </p:sp>
    </p:spTree>
    <p:extLst>
      <p:ext uri="{BB962C8B-B14F-4D97-AF65-F5344CB8AC3E}">
        <p14:creationId xmlns:p14="http://schemas.microsoft.com/office/powerpoint/2010/main" val="4141336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13</a:t>
            </a:fld>
            <a:endParaRPr lang="en-IL"/>
          </a:p>
        </p:txBody>
      </p:sp>
    </p:spTree>
    <p:extLst>
      <p:ext uri="{BB962C8B-B14F-4D97-AF65-F5344CB8AC3E}">
        <p14:creationId xmlns:p14="http://schemas.microsoft.com/office/powerpoint/2010/main" val="41361098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of condition is the specification for </a:t>
            </a:r>
            <a:r>
              <a:rPr lang="en-US" dirty="0" err="1"/>
              <a:t>SyGuS</a:t>
            </a:r>
            <a:r>
              <a:rPr lang="en-US" dirty="0"/>
              <a:t>.</a:t>
            </a:r>
            <a:endParaRPr lang="en-US" sz="1800" b="0" i="0" dirty="0">
              <a:solidFill>
                <a:srgbClr val="000000"/>
              </a:solidFill>
              <a:effectLst/>
              <a:latin typeface="NimbusRomNo9L-Regu"/>
            </a:endParaRPr>
          </a:p>
          <a:p>
            <a:r>
              <a:rPr lang="en-US" sz="1800" b="0" i="0" dirty="0">
                <a:solidFill>
                  <a:srgbClr val="000000"/>
                </a:solidFill>
                <a:effectLst/>
                <a:latin typeface="NimbusRomNo9L-Regu"/>
              </a:rPr>
              <a:t>We emphasize that the implications in the different locations are independent, thus allowing synthesis of the conditions separately, one by one. Separate synthesis of conditions cannot be done trivially in regular SYGUS, due to the dependency between conditions in the synthesized program.</a:t>
            </a:r>
          </a:p>
          <a:p>
            <a:r>
              <a:rPr lang="en-US" dirty="0"/>
              <a:t>Both </a:t>
            </a:r>
            <a:r>
              <a:rPr lang="en-US" dirty="0" err="1"/>
              <a:t>CoSyn</a:t>
            </a:r>
            <a:r>
              <a:rPr lang="en-US" dirty="0"/>
              <a:t> and </a:t>
            </a:r>
            <a:r>
              <a:rPr lang="en-US" dirty="0" err="1"/>
              <a:t>SyGuS</a:t>
            </a:r>
            <a:r>
              <a:rPr lang="en-US" dirty="0"/>
              <a:t> can timeout, of course.</a:t>
            </a:r>
            <a:br>
              <a:rPr lang="en-US" dirty="0"/>
            </a:br>
            <a:br>
              <a:rPr lang="en-US" dirty="0"/>
            </a:br>
            <a:endParaRPr lang="he-IL" dirty="0"/>
          </a:p>
          <a:p>
            <a:r>
              <a:rPr lang="en-US" dirty="0"/>
              <a:t>Timeout is of course also an option</a:t>
            </a:r>
          </a:p>
          <a:p>
            <a:endParaRPr lang="en-IL" dirty="0"/>
          </a:p>
        </p:txBody>
      </p:sp>
      <p:sp>
        <p:nvSpPr>
          <p:cNvPr id="4" name="Slide Number Placeholder 3"/>
          <p:cNvSpPr>
            <a:spLocks noGrp="1"/>
          </p:cNvSpPr>
          <p:nvPr>
            <p:ph type="sldNum" sz="quarter" idx="5"/>
          </p:nvPr>
        </p:nvSpPr>
        <p:spPr/>
        <p:txBody>
          <a:bodyPr/>
          <a:lstStyle/>
          <a:p>
            <a:fld id="{CBCF03CC-86BC-4ABC-A83D-2B246C22E0EB}" type="slidenum">
              <a:rPr lang="en-IL" smtClean="0"/>
              <a:t>15</a:t>
            </a:fld>
            <a:endParaRPr lang="en-IL"/>
          </a:p>
        </p:txBody>
      </p:sp>
    </p:spTree>
    <p:extLst>
      <p:ext uri="{BB962C8B-B14F-4D97-AF65-F5344CB8AC3E}">
        <p14:creationId xmlns:p14="http://schemas.microsoft.com/office/powerpoint/2010/main" val="1307070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365DD-5CDB-A14C-B891-FE82D8E4374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a:extLst>
              <a:ext uri="{FF2B5EF4-FFF2-40B4-BE49-F238E27FC236}">
                <a16:creationId xmlns:a16="http://schemas.microsoft.com/office/drawing/2014/main" id="{BC29C0BE-9C70-AB41-A52B-E6776717FC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6" name="Slide Number Placeholder 5">
            <a:extLst>
              <a:ext uri="{FF2B5EF4-FFF2-40B4-BE49-F238E27FC236}">
                <a16:creationId xmlns:a16="http://schemas.microsoft.com/office/drawing/2014/main" id="{04506A16-3576-1343-A38E-A78D03BE968C}"/>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2728441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ubsection 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365DD-5CDB-A14C-B891-FE82D8E43744}"/>
              </a:ext>
            </a:extLst>
          </p:cNvPr>
          <p:cNvSpPr>
            <a:spLocks noGrp="1"/>
          </p:cNvSpPr>
          <p:nvPr>
            <p:ph type="ctrTitle" hasCustomPrompt="1"/>
          </p:nvPr>
        </p:nvSpPr>
        <p:spPr>
          <a:xfrm>
            <a:off x="1524000" y="1122363"/>
            <a:ext cx="9144000" cy="2387600"/>
          </a:xfrm>
        </p:spPr>
        <p:txBody>
          <a:bodyPr anchor="b">
            <a:normAutofit/>
          </a:bodyPr>
          <a:lstStyle>
            <a:lvl1pPr algn="ctr">
              <a:defRPr sz="4000"/>
            </a:lvl1pPr>
          </a:lstStyle>
          <a:p>
            <a:r>
              <a:rPr lang="en-GB" dirty="0"/>
              <a:t>Click to edit Subsection</a:t>
            </a:r>
            <a:br>
              <a:rPr lang="en-GB" dirty="0"/>
            </a:br>
            <a:r>
              <a:rPr lang="en-GB" dirty="0"/>
              <a:t>title style</a:t>
            </a:r>
            <a:endParaRPr lang="en-US" dirty="0"/>
          </a:p>
        </p:txBody>
      </p:sp>
      <p:sp>
        <p:nvSpPr>
          <p:cNvPr id="3" name="Subtitle 2">
            <a:extLst>
              <a:ext uri="{FF2B5EF4-FFF2-40B4-BE49-F238E27FC236}">
                <a16:creationId xmlns:a16="http://schemas.microsoft.com/office/drawing/2014/main" id="{BC29C0BE-9C70-AB41-A52B-E6776717FC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5" name="Footer Placeholder 4">
            <a:extLst>
              <a:ext uri="{FF2B5EF4-FFF2-40B4-BE49-F238E27FC236}">
                <a16:creationId xmlns:a16="http://schemas.microsoft.com/office/drawing/2014/main" id="{53D5EE5C-2C7B-C443-918D-BD4E0D707080}"/>
              </a:ext>
            </a:extLst>
          </p:cNvPr>
          <p:cNvSpPr>
            <a:spLocks noGrp="1"/>
          </p:cNvSpPr>
          <p:nvPr>
            <p:ph type="ftr" sz="quarter" idx="11"/>
          </p:nvPr>
        </p:nvSpPr>
        <p:spPr>
          <a:xfrm>
            <a:off x="838200" y="6356350"/>
            <a:ext cx="4114800" cy="365125"/>
          </a:xfrm>
          <a:prstGeom prst="rect">
            <a:avLst/>
          </a:prstGeom>
        </p:spPr>
        <p:txBody>
          <a:bodyPr/>
          <a:lstStyle>
            <a:lvl1pPr algn="l">
              <a:defRPr/>
            </a:lvl1pPr>
          </a:lstStyle>
          <a:p>
            <a:pPr algn="l"/>
            <a:r>
              <a:rPr lang="en-US"/>
              <a:t>Chapter 3</a:t>
            </a:r>
            <a:endParaRPr lang="en-US" dirty="0"/>
          </a:p>
        </p:txBody>
      </p:sp>
      <p:sp>
        <p:nvSpPr>
          <p:cNvPr id="6" name="Slide Number Placeholder 5">
            <a:extLst>
              <a:ext uri="{FF2B5EF4-FFF2-40B4-BE49-F238E27FC236}">
                <a16:creationId xmlns:a16="http://schemas.microsoft.com/office/drawing/2014/main" id="{04506A16-3576-1343-A38E-A78D03BE968C}"/>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3642151365"/>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3879-14EB-974D-89E7-40CAD847A28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1CE8CDA-532D-0B43-8C9E-8EEF920ABAD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A00846E4-8C49-324E-8448-B31C52B07BEE}"/>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651344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72AD8-B8CA-9649-8CF1-1B184F5F428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FB8C325-CE1F-0948-BD6F-C863366782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E48F37F-6DDF-7347-BFE7-8C96CBAB53C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Slide Number Placeholder 6">
            <a:extLst>
              <a:ext uri="{FF2B5EF4-FFF2-40B4-BE49-F238E27FC236}">
                <a16:creationId xmlns:a16="http://schemas.microsoft.com/office/drawing/2014/main" id="{6931F288-355C-124B-9A9D-731CB8533961}"/>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2612704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3A1E6-003D-F042-9995-612D70A131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2934635-6191-634F-BC79-803827D182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A94B411-B241-8B4D-8296-9EABF10D29F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C290EC6-F0D6-C149-B2E9-4D4092FA25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AD31D69-486C-B94B-9E64-773D9A1EBE1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Slide Number Placeholder 8">
            <a:extLst>
              <a:ext uri="{FF2B5EF4-FFF2-40B4-BE49-F238E27FC236}">
                <a16:creationId xmlns:a16="http://schemas.microsoft.com/office/drawing/2014/main" id="{6DEB8901-F3BC-D443-90F9-213AA1E1DF1D}"/>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2331390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BA247-9709-9449-899C-5209155370EF}"/>
              </a:ext>
            </a:extLst>
          </p:cNvPr>
          <p:cNvSpPr>
            <a:spLocks noGrp="1"/>
          </p:cNvSpPr>
          <p:nvPr>
            <p:ph type="title"/>
          </p:nvPr>
        </p:nvSpPr>
        <p:spPr/>
        <p:txBody>
          <a:bodyPr/>
          <a:lstStyle/>
          <a:p>
            <a:r>
              <a:rPr lang="en-GB"/>
              <a:t>Click to edit Master title style</a:t>
            </a:r>
            <a:endParaRPr lang="en-US"/>
          </a:p>
        </p:txBody>
      </p:sp>
      <p:sp>
        <p:nvSpPr>
          <p:cNvPr id="5" name="Slide Number Placeholder 4">
            <a:extLst>
              <a:ext uri="{FF2B5EF4-FFF2-40B4-BE49-F238E27FC236}">
                <a16:creationId xmlns:a16="http://schemas.microsoft.com/office/drawing/2014/main" id="{527B38A8-2811-7D4A-9C67-C5063C13FCD7}"/>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488188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296654-735D-E340-A169-6C2C723A02D5}"/>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2268956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02576-0DAE-AD46-85F1-FCF8D73E82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E932E9D-848A-004B-8B9C-460388BB17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E929AF2-1356-B848-A4A2-FD955B20A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9478058F-FF27-0147-AADD-0CC162E339C6}"/>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2893225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5FC22-EBEF-4040-BAE8-F896AC29DD2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008CAF8-5D2E-7845-83F6-BCF2427443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4" name="Text Placeholder 3">
            <a:extLst>
              <a:ext uri="{FF2B5EF4-FFF2-40B4-BE49-F238E27FC236}">
                <a16:creationId xmlns:a16="http://schemas.microsoft.com/office/drawing/2014/main" id="{7D8F1D4A-0A2F-B849-8921-07BD411911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7" name="Slide Number Placeholder 6">
            <a:extLst>
              <a:ext uri="{FF2B5EF4-FFF2-40B4-BE49-F238E27FC236}">
                <a16:creationId xmlns:a16="http://schemas.microsoft.com/office/drawing/2014/main" id="{9B9B3800-E015-2640-AF3D-93D08D0D1357}"/>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3746694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Note for the Lecturer">
    <p:bg>
      <p:bgPr>
        <a:solidFill>
          <a:srgbClr val="FFFF8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B3879-14EB-974D-89E7-40CAD847A286}"/>
              </a:ext>
            </a:extLst>
          </p:cNvPr>
          <p:cNvSpPr>
            <a:spLocks noGrp="1"/>
          </p:cNvSpPr>
          <p:nvPr>
            <p:ph type="title" hasCustomPrompt="1"/>
          </p:nvPr>
        </p:nvSpPr>
        <p:spPr/>
        <p:txBody>
          <a:bodyPr/>
          <a:lstStyle/>
          <a:p>
            <a:r>
              <a:rPr lang="en-GB" dirty="0"/>
              <a:t>Note for the Lecturer</a:t>
            </a:r>
            <a:endParaRPr lang="en-US" dirty="0"/>
          </a:p>
        </p:txBody>
      </p:sp>
      <p:sp>
        <p:nvSpPr>
          <p:cNvPr id="3" name="Content Placeholder 2">
            <a:extLst>
              <a:ext uri="{FF2B5EF4-FFF2-40B4-BE49-F238E27FC236}">
                <a16:creationId xmlns:a16="http://schemas.microsoft.com/office/drawing/2014/main" id="{21CE8CDA-532D-0B43-8C9E-8EEF920ABAD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Slide Number Placeholder 5">
            <a:extLst>
              <a:ext uri="{FF2B5EF4-FFF2-40B4-BE49-F238E27FC236}">
                <a16:creationId xmlns:a16="http://schemas.microsoft.com/office/drawing/2014/main" id="{A00846E4-8C49-324E-8448-B31C52B07BEE}"/>
              </a:ext>
            </a:extLst>
          </p:cNvPr>
          <p:cNvSpPr>
            <a:spLocks noGrp="1"/>
          </p:cNvSpPr>
          <p:nvPr>
            <p:ph type="sldNum" sz="quarter" idx="12"/>
          </p:nvPr>
        </p:nvSpPr>
        <p:spPr/>
        <p:txBody>
          <a:bodyPr/>
          <a:lstStyle/>
          <a:p>
            <a:fld id="{2D155C46-B3B3-224E-8B19-B7676C4F0E9B}" type="slidenum">
              <a:rPr lang="en-US" smtClean="0"/>
              <a:t>‹#›</a:t>
            </a:fld>
            <a:endParaRPr lang="en-US"/>
          </a:p>
        </p:txBody>
      </p:sp>
    </p:spTree>
    <p:extLst>
      <p:ext uri="{BB962C8B-B14F-4D97-AF65-F5344CB8AC3E}">
        <p14:creationId xmlns:p14="http://schemas.microsoft.com/office/powerpoint/2010/main" val="3016841868"/>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E95F8C-516E-D84E-9AA4-655AE85DC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8AC7DA8A-7C69-7346-A2C6-C58069E406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DEC0D813-4D44-1C4A-AE6A-0D2173F5F4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55C46-B3B3-224E-8B19-B7676C4F0E9B}" type="slidenum">
              <a:rPr lang="en-US" smtClean="0"/>
              <a:t>‹#›</a:t>
            </a:fld>
            <a:endParaRPr lang="en-US"/>
          </a:p>
        </p:txBody>
      </p:sp>
    </p:spTree>
    <p:extLst>
      <p:ext uri="{BB962C8B-B14F-4D97-AF65-F5344CB8AC3E}">
        <p14:creationId xmlns:p14="http://schemas.microsoft.com/office/powerpoint/2010/main" val="207636019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Lst>
  <p:hf hdr="0" dt="0"/>
  <p:txStyles>
    <p:titleStyle>
      <a:lvl1pPr algn="ctr" defTabSz="914400" rtl="0" eaLnBrk="1" latinLnBrk="0" hangingPunct="1">
        <a:lnSpc>
          <a:spcPct val="90000"/>
        </a:lnSpc>
        <a:spcBef>
          <a:spcPct val="0"/>
        </a:spcBef>
        <a:buNone/>
        <a:defRPr sz="3600" b="0" kern="1200">
          <a:solidFill>
            <a:schemeClr val="accent6"/>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500.png"/><Relationship Id="rId3" Type="http://schemas.openxmlformats.org/officeDocument/2006/relationships/image" Target="../media/image1000.png"/><Relationship Id="rId7" Type="http://schemas.openxmlformats.org/officeDocument/2006/relationships/image" Target="../media/image140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00.png"/><Relationship Id="rId5" Type="http://schemas.openxmlformats.org/officeDocument/2006/relationships/image" Target="../media/image1200.png"/><Relationship Id="rId4" Type="http://schemas.openxmlformats.org/officeDocument/2006/relationships/image" Target="../media/image1100.png"/><Relationship Id="rId9" Type="http://schemas.openxmlformats.org/officeDocument/2006/relationships/image" Target="../media/image1600.png"/></Relationships>
</file>

<file path=ppt/slides/_rels/slide10.xml.rels><?xml version="1.0" encoding="UTF-8" standalone="yes"?>
<Relationships xmlns="http://schemas.openxmlformats.org/package/2006/relationships"><Relationship Id="rId8" Type="http://schemas.openxmlformats.org/officeDocument/2006/relationships/image" Target="../media/image1500.png"/><Relationship Id="rId13" Type="http://schemas.openxmlformats.org/officeDocument/2006/relationships/image" Target="../media/image1900.png"/><Relationship Id="rId3" Type="http://schemas.openxmlformats.org/officeDocument/2006/relationships/image" Target="../media/image1000.png"/><Relationship Id="rId7" Type="http://schemas.openxmlformats.org/officeDocument/2006/relationships/image" Target="../media/image1400.png"/><Relationship Id="rId12" Type="http://schemas.openxmlformats.org/officeDocument/2006/relationships/image" Target="../media/image181.png"/><Relationship Id="rId2" Type="http://schemas.openxmlformats.org/officeDocument/2006/relationships/notesSlide" Target="../notesSlides/notesSlide6.xml"/><Relationship Id="rId16" Type="http://schemas.openxmlformats.org/officeDocument/2006/relationships/image" Target="../media/image2200.png"/><Relationship Id="rId1" Type="http://schemas.openxmlformats.org/officeDocument/2006/relationships/slideLayout" Target="../slideLayouts/slideLayout6.xml"/><Relationship Id="rId6" Type="http://schemas.openxmlformats.org/officeDocument/2006/relationships/image" Target="../media/image1300.png"/><Relationship Id="rId11" Type="http://schemas.openxmlformats.org/officeDocument/2006/relationships/image" Target="../media/image1700.png"/><Relationship Id="rId5" Type="http://schemas.openxmlformats.org/officeDocument/2006/relationships/image" Target="../media/image1200.png"/><Relationship Id="rId15" Type="http://schemas.openxmlformats.org/officeDocument/2006/relationships/image" Target="../media/image2100.png"/><Relationship Id="rId10" Type="http://schemas.openxmlformats.org/officeDocument/2006/relationships/image" Target="../media/image2.png"/><Relationship Id="rId4" Type="http://schemas.openxmlformats.org/officeDocument/2006/relationships/image" Target="../media/image1100.png"/><Relationship Id="rId9" Type="http://schemas.openxmlformats.org/officeDocument/2006/relationships/image" Target="../media/image1600.png"/><Relationship Id="rId14" Type="http://schemas.openxmlformats.org/officeDocument/2006/relationships/image" Target="../media/image2000.png"/></Relationships>
</file>

<file path=ppt/slides/_rels/slide11.xml.rels><?xml version="1.0" encoding="UTF-8" standalone="yes"?>
<Relationships xmlns="http://schemas.openxmlformats.org/package/2006/relationships"><Relationship Id="rId3" Type="http://schemas.openxmlformats.org/officeDocument/2006/relationships/image" Target="../media/image2300.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3.jpeg"/><Relationship Id="rId5" Type="http://schemas.openxmlformats.org/officeDocument/2006/relationships/image" Target="../media/image2500.png"/><Relationship Id="rId4" Type="http://schemas.openxmlformats.org/officeDocument/2006/relationships/image" Target="../media/image2400.png"/></Relationships>
</file>

<file path=ppt/slides/_rels/slide12.xml.rels><?xml version="1.0" encoding="UTF-8" standalone="yes"?>
<Relationships xmlns="http://schemas.openxmlformats.org/package/2006/relationships"><Relationship Id="rId8" Type="http://schemas.openxmlformats.org/officeDocument/2006/relationships/image" Target="../media/image2900.png"/><Relationship Id="rId13" Type="http://schemas.openxmlformats.org/officeDocument/2006/relationships/image" Target="../media/image11.png"/><Relationship Id="rId3" Type="http://schemas.openxmlformats.org/officeDocument/2006/relationships/image" Target="../media/image2300.png"/><Relationship Id="rId7" Type="http://schemas.openxmlformats.org/officeDocument/2006/relationships/image" Target="../media/image280.png"/><Relationship Id="rId12" Type="http://schemas.openxmlformats.org/officeDocument/2006/relationships/image" Target="../media/image3300.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jpeg"/><Relationship Id="rId11" Type="http://schemas.openxmlformats.org/officeDocument/2006/relationships/image" Target="../media/image3000.png"/><Relationship Id="rId5" Type="http://schemas.openxmlformats.org/officeDocument/2006/relationships/image" Target="../media/image2500.png"/><Relationship Id="rId10" Type="http://schemas.openxmlformats.org/officeDocument/2006/relationships/image" Target="../media/image5.jpeg"/><Relationship Id="rId4" Type="http://schemas.openxmlformats.org/officeDocument/2006/relationships/image" Target="../media/image2400.png"/><Relationship Id="rId9" Type="http://schemas.openxmlformats.org/officeDocument/2006/relationships/image" Target="../media/image4.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579B-689D-531B-23A2-8ADEBA052237}"/>
            </a:ext>
          </a:extLst>
        </p:cNvPr>
        <p:cNvGrpSpPr/>
        <p:nvPr/>
      </p:nvGrpSpPr>
      <p:grpSpPr>
        <a:xfrm>
          <a:off x="0" y="0"/>
          <a:ext cx="0" cy="0"/>
          <a:chOff x="0" y="0"/>
          <a:chExt cx="0" cy="0"/>
        </a:xfrm>
      </p:grpSpPr>
      <p:sp>
        <p:nvSpPr>
          <p:cNvPr id="3" name="Google Shape;3858;p16">
            <a:extLst>
              <a:ext uri="{FF2B5EF4-FFF2-40B4-BE49-F238E27FC236}">
                <a16:creationId xmlns:a16="http://schemas.microsoft.com/office/drawing/2014/main" id="{8F74E3E5-7B9E-731C-915C-0BF37C1EEBCE}"/>
              </a:ext>
            </a:extLst>
          </p:cNvPr>
          <p:cNvSpPr txBox="1">
            <a:spLocks/>
          </p:cNvSpPr>
          <p:nvPr/>
        </p:nvSpPr>
        <p:spPr>
          <a:xfrm>
            <a:off x="914399" y="1518407"/>
            <a:ext cx="7970293" cy="2402447"/>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5400" b="1" i="0" u="none" strike="noStrike" kern="1200" cap="none" spc="0" normalizeH="0" baseline="0" noProof="0" dirty="0">
                <a:solidFill>
                  <a:srgbClr val="156082"/>
                </a:solidFill>
                <a:effectLst/>
                <a:uLnTx/>
                <a:uFillTx/>
                <a:latin typeface="Dosis" pitchFamily="2" charset="0"/>
                <a:ea typeface="+mj-ea"/>
                <a:cs typeface="+mj-cs"/>
              </a:rPr>
              <a:t>Constrained Horn Clauses and their Applications</a:t>
            </a:r>
            <a:endParaRPr kumimoji="0" lang="en-GB" sz="4400" b="0" i="0" u="none" strike="noStrike" kern="1200" cap="none" spc="0" normalizeH="0" baseline="0" noProof="0" dirty="0">
              <a:solidFill>
                <a:srgbClr val="AA8F6A"/>
              </a:solidFill>
              <a:effectLst/>
              <a:uLnTx/>
              <a:uFillTx/>
              <a:latin typeface="Dosis" pitchFamily="2" charset="0"/>
              <a:ea typeface="+mj-ea"/>
              <a:cs typeface="+mj-cs"/>
            </a:endParaRPr>
          </a:p>
        </p:txBody>
      </p:sp>
      <p:sp>
        <p:nvSpPr>
          <p:cNvPr id="5" name="Google Shape;3859;p16">
            <a:extLst>
              <a:ext uri="{FF2B5EF4-FFF2-40B4-BE49-F238E27FC236}">
                <a16:creationId xmlns:a16="http://schemas.microsoft.com/office/drawing/2014/main" id="{F4D872B1-E14F-7B92-AF36-0C2330A4351F}"/>
              </a:ext>
            </a:extLst>
          </p:cNvPr>
          <p:cNvSpPr txBox="1">
            <a:spLocks/>
          </p:cNvSpPr>
          <p:nvPr/>
        </p:nvSpPr>
        <p:spPr>
          <a:xfrm>
            <a:off x="914400" y="4228559"/>
            <a:ext cx="7218727" cy="104640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schemeClr val="accent3"/>
                </a:solidFill>
                <a:effectLst/>
                <a:uLnTx/>
                <a:uFillTx/>
                <a:latin typeface="Dosis" pitchFamily="2" charset="0"/>
                <a:ea typeface="+mn-ea"/>
                <a:cs typeface="+mn-cs"/>
              </a:rPr>
              <a:t>Lecture 4</a:t>
            </a:r>
          </a:p>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0972A0"/>
                </a:solidFill>
                <a:effectLst/>
                <a:uLnTx/>
                <a:uFillTx/>
                <a:latin typeface="Dosis" pitchFamily="2" charset="0"/>
                <a:ea typeface="+mn-ea"/>
                <a:cs typeface="+mn-cs"/>
              </a:rPr>
              <a:t>Orna Grumberg, </a:t>
            </a:r>
            <a:r>
              <a:rPr lang="en-US" sz="3200" dirty="0">
                <a:solidFill>
                  <a:srgbClr val="0972A0"/>
                </a:solidFill>
                <a:latin typeface="Dosis" pitchFamily="2" charset="0"/>
              </a:rPr>
              <a:t>Technion</a:t>
            </a:r>
            <a:endParaRPr kumimoji="0" lang="en-US" sz="3200" b="0" i="0" u="none" strike="noStrike" kern="1200" cap="none" spc="0" normalizeH="0" baseline="0" noProof="0" dirty="0">
              <a:ln>
                <a:noFill/>
              </a:ln>
              <a:solidFill>
                <a:srgbClr val="0972A0"/>
              </a:solidFill>
              <a:effectLst/>
              <a:uLnTx/>
              <a:uFillTx/>
              <a:latin typeface="Dosis" pitchFamily="2" charset="0"/>
              <a:ea typeface="+mn-ea"/>
              <a:cs typeface="+mn-cs"/>
            </a:endParaRPr>
          </a:p>
        </p:txBody>
      </p:sp>
    </p:spTree>
    <p:extLst>
      <p:ext uri="{BB962C8B-B14F-4D97-AF65-F5344CB8AC3E}">
        <p14:creationId xmlns:p14="http://schemas.microsoft.com/office/powerpoint/2010/main" val="4073303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B3D01-A313-DF5A-9F17-9B7EA843CD71}"/>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8737D838-25EA-0EA0-1695-E95E2D903CCD}"/>
              </a:ext>
            </a:extLst>
          </p:cNvPr>
          <p:cNvSpPr>
            <a:spLocks noGrp="1"/>
          </p:cNvSpPr>
          <p:nvPr>
            <p:ph type="ctrTitle"/>
          </p:nvPr>
        </p:nvSpPr>
        <p:spPr>
          <a:xfrm>
            <a:off x="1090696" y="780341"/>
            <a:ext cx="9144000" cy="852211"/>
          </a:xfrm>
        </p:spPr>
        <p:txBody>
          <a:bodyPr>
            <a:noAutofit/>
          </a:bodyPr>
          <a:lstStyle/>
          <a:p>
            <a:pPr>
              <a:lnSpc>
                <a:spcPct val="150000"/>
              </a:lnSpc>
            </a:pPr>
            <a:r>
              <a:rPr lang="en-US" sz="3600" b="1" dirty="0">
                <a:solidFill>
                  <a:srgbClr val="FC3D69"/>
                </a:solidFill>
                <a:latin typeface="Trebuchet MS" panose="020B0603020202020204" pitchFamily="34" charset="0"/>
              </a:rPr>
              <a:t>Condition Synthesis Realizability via</a:t>
            </a:r>
          </a:p>
        </p:txBody>
      </p:sp>
      <p:sp>
        <p:nvSpPr>
          <p:cNvPr id="8" name="TextBox 7">
            <a:extLst>
              <a:ext uri="{FF2B5EF4-FFF2-40B4-BE49-F238E27FC236}">
                <a16:creationId xmlns:a16="http://schemas.microsoft.com/office/drawing/2014/main" id="{12351593-0726-F6F8-051D-39298D1F8CD6}"/>
              </a:ext>
            </a:extLst>
          </p:cNvPr>
          <p:cNvSpPr txBox="1"/>
          <p:nvPr/>
        </p:nvSpPr>
        <p:spPr>
          <a:xfrm>
            <a:off x="1488054" y="1505828"/>
            <a:ext cx="8349284" cy="821572"/>
          </a:xfrm>
          <a:prstGeom prst="rect">
            <a:avLst/>
          </a:prstGeom>
          <a:noFill/>
        </p:spPr>
        <p:txBody>
          <a:bodyPr wrap="square" rtlCol="0">
            <a:spAutoFit/>
          </a:bodyPr>
          <a:lstStyle/>
          <a:p>
            <a:pPr lvl="0" algn="ctr">
              <a:lnSpc>
                <a:spcPct val="150000"/>
              </a:lnSpc>
              <a:spcBef>
                <a:spcPct val="0"/>
              </a:spcBef>
              <a:defRPr/>
            </a:pPr>
            <a:r>
              <a:rPr lang="en-US" sz="3600" b="1" dirty="0">
                <a:solidFill>
                  <a:srgbClr val="FC3D69"/>
                </a:solidFill>
                <a:latin typeface="Trebuchet MS" panose="020B0603020202020204" pitchFamily="34" charset="0"/>
              </a:rPr>
              <a:t>Constrained Horn Clauses</a:t>
            </a:r>
            <a:endParaRPr kumimoji="0" lang="en-US" sz="3600" b="1" i="0" u="none" strike="noStrike" kern="1200" cap="none" spc="0" normalizeH="0" baseline="0" noProof="0" dirty="0">
              <a:ln>
                <a:noFill/>
              </a:ln>
              <a:solidFill>
                <a:srgbClr val="FC3D69"/>
              </a:solidFill>
              <a:effectLst/>
              <a:uLnTx/>
              <a:uFillTx/>
              <a:latin typeface="Trebuchet MS" panose="020B0603020202020204" pitchFamily="34" charset="0"/>
              <a:ea typeface="+mn-ea"/>
              <a:cs typeface="+mn-cs"/>
            </a:endParaRPr>
          </a:p>
        </p:txBody>
      </p:sp>
      <p:sp>
        <p:nvSpPr>
          <p:cNvPr id="5" name="Subtitle 2">
            <a:extLst>
              <a:ext uri="{FF2B5EF4-FFF2-40B4-BE49-F238E27FC236}">
                <a16:creationId xmlns:a16="http://schemas.microsoft.com/office/drawing/2014/main" id="{B4C3788E-7D75-0850-5365-EE2CBA486576}"/>
              </a:ext>
            </a:extLst>
          </p:cNvPr>
          <p:cNvSpPr>
            <a:spLocks noGrp="1"/>
          </p:cNvSpPr>
          <p:nvPr>
            <p:ph type="subTitle" idx="1"/>
          </p:nvPr>
        </p:nvSpPr>
        <p:spPr>
          <a:xfrm>
            <a:off x="1090696" y="3560164"/>
            <a:ext cx="9144000" cy="1122480"/>
          </a:xfrm>
        </p:spPr>
        <p:txBody>
          <a:bodyPr>
            <a:normAutofit/>
          </a:bodyPr>
          <a:lstStyle/>
          <a:p>
            <a:pPr lvl="0" eaLnBrk="0" fontAlgn="base" hangingPunct="0">
              <a:lnSpc>
                <a:spcPct val="100000"/>
              </a:lnSpc>
              <a:spcBef>
                <a:spcPct val="20000"/>
              </a:spcBef>
              <a:spcAft>
                <a:spcPct val="0"/>
              </a:spcAft>
            </a:pPr>
            <a:endParaRPr lang="en-US" sz="2800" kern="0" dirty="0">
              <a:solidFill>
                <a:srgbClr val="000000"/>
              </a:solidFill>
              <a:latin typeface="Comic Sans MS"/>
            </a:endParaRPr>
          </a:p>
          <a:p>
            <a:pPr lvl="0" eaLnBrk="0" fontAlgn="base" hangingPunct="0">
              <a:lnSpc>
                <a:spcPct val="100000"/>
              </a:lnSpc>
              <a:spcBef>
                <a:spcPct val="20000"/>
              </a:spcBef>
              <a:spcAft>
                <a:spcPct val="0"/>
              </a:spcAft>
            </a:pPr>
            <a:r>
              <a:rPr lang="en-GB" sz="2800" b="1" kern="0" dirty="0">
                <a:solidFill>
                  <a:srgbClr val="002060"/>
                </a:solidFill>
                <a:latin typeface="Comic Sans MS"/>
              </a:rPr>
              <a:t>            </a:t>
            </a:r>
            <a:endParaRPr lang="en-US" dirty="0"/>
          </a:p>
        </p:txBody>
      </p:sp>
      <p:sp>
        <p:nvSpPr>
          <p:cNvPr id="2" name="Subtitle 2">
            <a:extLst>
              <a:ext uri="{FF2B5EF4-FFF2-40B4-BE49-F238E27FC236}">
                <a16:creationId xmlns:a16="http://schemas.microsoft.com/office/drawing/2014/main" id="{52E4E4D8-ED1B-FEF8-B7C0-2BB7662D80A7}"/>
              </a:ext>
            </a:extLst>
          </p:cNvPr>
          <p:cNvSpPr txBox="1">
            <a:spLocks/>
          </p:cNvSpPr>
          <p:nvPr/>
        </p:nvSpPr>
        <p:spPr>
          <a:xfrm>
            <a:off x="952864" y="2541329"/>
            <a:ext cx="9144000" cy="20098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eaLnBrk="0" fontAlgn="base" hangingPunct="0">
              <a:lnSpc>
                <a:spcPct val="100000"/>
              </a:lnSpc>
              <a:spcBef>
                <a:spcPct val="20000"/>
              </a:spcBef>
              <a:spcAft>
                <a:spcPct val="0"/>
              </a:spcAft>
            </a:pPr>
            <a:endParaRPr lang="en-US" sz="1000" kern="0" dirty="0">
              <a:solidFill>
                <a:srgbClr val="000000"/>
              </a:solidFill>
              <a:latin typeface="Comic Sans MS"/>
            </a:endParaRPr>
          </a:p>
          <a:p>
            <a:endParaRPr lang="en-US" dirty="0"/>
          </a:p>
          <a:p>
            <a:r>
              <a:rPr lang="en-US" dirty="0"/>
              <a:t>Bat-</a:t>
            </a:r>
            <a:r>
              <a:rPr lang="en-US" dirty="0" err="1"/>
              <a:t>chen</a:t>
            </a:r>
            <a:r>
              <a:rPr lang="en-US" dirty="0"/>
              <a:t> Rothenberg, Orna Grumberg, Yakir Vizel, Eytan Singher</a:t>
            </a:r>
          </a:p>
          <a:p>
            <a:r>
              <a:rPr lang="en-US" dirty="0"/>
              <a:t>NFM 2023</a:t>
            </a:r>
          </a:p>
          <a:p>
            <a:endParaRPr lang="en-US" dirty="0"/>
          </a:p>
        </p:txBody>
      </p:sp>
    </p:spTree>
    <p:extLst>
      <p:ext uri="{BB962C8B-B14F-4D97-AF65-F5344CB8AC3E}">
        <p14:creationId xmlns:p14="http://schemas.microsoft.com/office/powerpoint/2010/main" val="284540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C3D69"/>
                </a:solidFill>
              </a:rPr>
              <a:t>Condition Synthesis</a:t>
            </a:r>
          </a:p>
        </p:txBody>
      </p:sp>
      <p:sp>
        <p:nvSpPr>
          <p:cNvPr id="3" name="Content Placeholder 2"/>
          <p:cNvSpPr>
            <a:spLocks noGrp="1"/>
          </p:cNvSpPr>
          <p:nvPr>
            <p:ph idx="1"/>
          </p:nvPr>
        </p:nvSpPr>
        <p:spPr/>
        <p:txBody>
          <a:bodyPr>
            <a:normAutofit/>
          </a:bodyPr>
          <a:lstStyle/>
          <a:p>
            <a:r>
              <a:rPr lang="en-US" dirty="0"/>
              <a:t>Receives as input a </a:t>
            </a:r>
            <a:r>
              <a:rPr lang="en-US" dirty="0">
                <a:solidFill>
                  <a:srgbClr val="0000FF"/>
                </a:solidFill>
                <a:latin typeface="+mn-lt"/>
              </a:rPr>
              <a:t>partial program</a:t>
            </a:r>
            <a:r>
              <a:rPr lang="en-US" dirty="0"/>
              <a:t>, where conditions are missing in conditional branches (e.g., if/while statements), and a </a:t>
            </a:r>
            <a:r>
              <a:rPr lang="en-US" dirty="0">
                <a:solidFill>
                  <a:srgbClr val="0000FF"/>
                </a:solidFill>
              </a:rPr>
              <a:t>specification</a:t>
            </a:r>
            <a:endParaRPr lang="en-US" dirty="0"/>
          </a:p>
          <a:p>
            <a:pPr lvl="1"/>
            <a:r>
              <a:rPr lang="en-US" dirty="0"/>
              <a:t>As </a:t>
            </a:r>
            <a:r>
              <a:rPr lang="en-US" dirty="0">
                <a:solidFill>
                  <a:schemeClr val="accent6"/>
                </a:solidFill>
              </a:rPr>
              <a:t>assertions</a:t>
            </a:r>
            <a:r>
              <a:rPr lang="en-US" dirty="0"/>
              <a:t> in the code </a:t>
            </a:r>
          </a:p>
          <a:p>
            <a:endParaRPr lang="en-US" dirty="0"/>
          </a:p>
          <a:p>
            <a:r>
              <a:rPr lang="en-US" dirty="0"/>
              <a:t>A </a:t>
            </a:r>
            <a:r>
              <a:rPr lang="en-US" dirty="0">
                <a:solidFill>
                  <a:srgbClr val="0000FF"/>
                </a:solidFill>
              </a:rPr>
              <a:t>solution</a:t>
            </a:r>
            <a:r>
              <a:rPr lang="en-US" dirty="0"/>
              <a:t> to this problem is a set of conditions to fill-in the holes such that the resulting program </a:t>
            </a:r>
            <a:r>
              <a:rPr lang="en-US" dirty="0">
                <a:solidFill>
                  <a:srgbClr val="0000FF"/>
                </a:solidFill>
              </a:rPr>
              <a:t>meets the specification</a:t>
            </a:r>
            <a:r>
              <a:rPr lang="en-US" dirty="0"/>
              <a:t>. </a:t>
            </a:r>
          </a:p>
          <a:p>
            <a:pPr marL="0" indent="0">
              <a:buNone/>
            </a:pPr>
            <a:endParaRPr lang="en-US" dirty="0"/>
          </a:p>
          <a:p>
            <a:r>
              <a:rPr lang="en-US" dirty="0">
                <a:solidFill>
                  <a:srgbClr val="FF0000"/>
                </a:solidFill>
              </a:rPr>
              <a:t>Motivation:</a:t>
            </a:r>
            <a:r>
              <a:rPr lang="en-US" dirty="0"/>
              <a:t> automated program repair</a:t>
            </a:r>
          </a:p>
        </p:txBody>
      </p:sp>
      <p:sp>
        <p:nvSpPr>
          <p:cNvPr id="4" name="Slide Number Placeholder 3">
            <a:extLst>
              <a:ext uri="{FF2B5EF4-FFF2-40B4-BE49-F238E27FC236}">
                <a16:creationId xmlns:a16="http://schemas.microsoft.com/office/drawing/2014/main" id="{86539134-7C38-4E33-8E42-1F86203436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68F78-0373-4497-8506-82E0664339AD}" type="slidenum">
              <a:rPr kumimoji="0" lang="en-US" sz="12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21303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C3D69"/>
                </a:solidFill>
              </a:rPr>
              <a:t>Doomed initial states</a:t>
            </a:r>
          </a:p>
        </p:txBody>
      </p:sp>
      <p:sp>
        <p:nvSpPr>
          <p:cNvPr id="3" name="Content Placeholder 2"/>
          <p:cNvSpPr>
            <a:spLocks noGrp="1"/>
          </p:cNvSpPr>
          <p:nvPr>
            <p:ph idx="1"/>
          </p:nvPr>
        </p:nvSpPr>
        <p:spPr/>
        <p:txBody>
          <a:bodyPr>
            <a:normAutofit/>
          </a:bodyPr>
          <a:lstStyle/>
          <a:p>
            <a:r>
              <a:rPr lang="en-US" dirty="0"/>
              <a:t>An initial state is called </a:t>
            </a:r>
            <a:r>
              <a:rPr lang="en-US" i="1" dirty="0">
                <a:solidFill>
                  <a:srgbClr val="FF0000"/>
                </a:solidFill>
              </a:rPr>
              <a:t>doomed</a:t>
            </a:r>
            <a:r>
              <a:rPr lang="en-US" i="1" dirty="0"/>
              <a:t> </a:t>
            </a:r>
            <a:r>
              <a:rPr lang="en-US" dirty="0"/>
              <a:t>if it eventually reaches an error state along </a:t>
            </a:r>
            <a:r>
              <a:rPr lang="en-US" b="1" i="1" dirty="0">
                <a:solidFill>
                  <a:srgbClr val="FF0000"/>
                </a:solidFill>
              </a:rPr>
              <a:t>every</a:t>
            </a:r>
            <a:r>
              <a:rPr lang="en-US" i="1" dirty="0"/>
              <a:t> </a:t>
            </a:r>
            <a:r>
              <a:rPr lang="en-US" dirty="0"/>
              <a:t>run of the program. </a:t>
            </a:r>
            <a:br>
              <a:rPr lang="en-US" dirty="0"/>
            </a:br>
            <a:endParaRPr lang="en-US" dirty="0"/>
          </a:p>
          <a:p>
            <a:r>
              <a:rPr lang="en-US" dirty="0"/>
              <a:t>For a doomed initial state </a:t>
            </a:r>
            <a:r>
              <a:rPr lang="en-US" i="1" dirty="0"/>
              <a:t>σ</a:t>
            </a:r>
            <a:r>
              <a:rPr lang="en-US" dirty="0"/>
              <a:t>, there is no way to make the program safe by forcing </a:t>
            </a:r>
            <a:r>
              <a:rPr lang="en-US" i="1" dirty="0"/>
              <a:t>σ </a:t>
            </a:r>
            <a:r>
              <a:rPr lang="en-US" dirty="0"/>
              <a:t>(</a:t>
            </a:r>
            <a:r>
              <a:rPr lang="en-US" dirty="0">
                <a:solidFill>
                  <a:schemeClr val="accent6"/>
                </a:solidFill>
              </a:rPr>
              <a:t>via conditions</a:t>
            </a:r>
            <a:r>
              <a:rPr lang="en-US" dirty="0"/>
              <a:t>) to follow one computation or another. </a:t>
            </a:r>
            <a:r>
              <a:rPr lang="en-US" dirty="0">
                <a:solidFill>
                  <a:srgbClr val="FF0000"/>
                </a:solidFill>
              </a:rPr>
              <a:t>It will lead to a failure anyway</a:t>
            </a:r>
            <a:r>
              <a:rPr lang="en-US" dirty="0"/>
              <a:t>. </a:t>
            </a:r>
            <a:br>
              <a:rPr lang="en-US" dirty="0"/>
            </a:br>
            <a:endParaRPr lang="en-US" dirty="0"/>
          </a:p>
          <a:p>
            <a:r>
              <a:rPr lang="en-US" dirty="0"/>
              <a:t>The problem is </a:t>
            </a:r>
            <a:r>
              <a:rPr lang="en-US" b="1" dirty="0">
                <a:solidFill>
                  <a:srgbClr val="0000FF"/>
                </a:solidFill>
              </a:rPr>
              <a:t>unrealizable</a:t>
            </a:r>
            <a:r>
              <a:rPr lang="en-US" dirty="0"/>
              <a:t> </a:t>
            </a:r>
            <a:r>
              <a:rPr lang="en-US" dirty="0" err="1"/>
              <a:t>iff</a:t>
            </a:r>
            <a:r>
              <a:rPr lang="en-US" dirty="0"/>
              <a:t> </a:t>
            </a:r>
            <a:br>
              <a:rPr lang="en-US" dirty="0"/>
            </a:br>
            <a:r>
              <a:rPr lang="en-US" dirty="0"/>
              <a:t>there exists a</a:t>
            </a:r>
            <a:r>
              <a:rPr lang="en-US" dirty="0">
                <a:solidFill>
                  <a:srgbClr val="FF0000"/>
                </a:solidFill>
              </a:rPr>
              <a:t> </a:t>
            </a:r>
            <a:r>
              <a:rPr lang="en-US" b="1" dirty="0">
                <a:solidFill>
                  <a:srgbClr val="0000FF"/>
                </a:solidFill>
              </a:rPr>
              <a:t>doomed initial state</a:t>
            </a:r>
            <a:br>
              <a:rPr lang="en-US" dirty="0">
                <a:solidFill>
                  <a:srgbClr val="FF0000"/>
                </a:solidFill>
              </a:rPr>
            </a:br>
            <a:endParaRPr lang="en-US" dirty="0">
              <a:solidFill>
                <a:srgbClr val="FF0000"/>
              </a:solidFill>
            </a:endParaRPr>
          </a:p>
        </p:txBody>
      </p:sp>
      <p:sp>
        <p:nvSpPr>
          <p:cNvPr id="4" name="Slide Number Placeholder 3">
            <a:extLst>
              <a:ext uri="{FF2B5EF4-FFF2-40B4-BE49-F238E27FC236}">
                <a16:creationId xmlns:a16="http://schemas.microsoft.com/office/drawing/2014/main" id="{86539134-7C38-4E33-8E42-1F86203436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68F78-0373-4497-8506-82E0664339AD}" type="slidenum">
              <a:rPr kumimoji="0" lang="en-US" sz="12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762636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75C3-B555-6DA8-57B7-87FAE59679B4}"/>
              </a:ext>
            </a:extLst>
          </p:cNvPr>
          <p:cNvSpPr>
            <a:spLocks noGrp="1"/>
          </p:cNvSpPr>
          <p:nvPr>
            <p:ph type="title"/>
          </p:nvPr>
        </p:nvSpPr>
        <p:spPr/>
        <p:txBody>
          <a:bodyPr/>
          <a:lstStyle/>
          <a:p>
            <a:pPr algn="ctr"/>
            <a:r>
              <a:rPr lang="en-US" dirty="0">
                <a:solidFill>
                  <a:srgbClr val="FC3D69"/>
                </a:solidFill>
              </a:rPr>
              <a:t>Correctness </a:t>
            </a:r>
            <a:r>
              <a:rPr lang="en-US" dirty="0" err="1">
                <a:solidFill>
                  <a:srgbClr val="FC3D69"/>
                </a:solidFill>
              </a:rPr>
              <a:t>Evidance</a:t>
            </a:r>
            <a:endParaRPr lang="en-IL" dirty="0"/>
          </a:p>
        </p:txBody>
      </p:sp>
      <p:sp>
        <p:nvSpPr>
          <p:cNvPr id="3" name="Slide Number Placeholder 2">
            <a:extLst>
              <a:ext uri="{FF2B5EF4-FFF2-40B4-BE49-F238E27FC236}">
                <a16:creationId xmlns:a16="http://schemas.microsoft.com/office/drawing/2014/main" id="{D8F3B302-4AF5-7AFB-647D-7E5E2F4DF899}"/>
              </a:ext>
            </a:extLst>
          </p:cNvPr>
          <p:cNvSpPr>
            <a:spLocks noGrp="1"/>
          </p:cNvSpPr>
          <p:nvPr>
            <p:ph type="sldNum" sz="quarter" idx="12"/>
          </p:nvPr>
        </p:nvSpPr>
        <p:spPr/>
        <p:txBody>
          <a:bodyPr/>
          <a:lstStyle/>
          <a:p>
            <a:fld id="{17E68F78-0373-4497-8506-82E0664339AD}" type="slidenum">
              <a:rPr lang="en-US" smtClean="0"/>
              <a:t>5</a:t>
            </a:fld>
            <a:endParaRPr lang="en-US"/>
          </a:p>
        </p:txBody>
      </p:sp>
      <p:sp>
        <p:nvSpPr>
          <p:cNvPr id="4" name="TextBox 3">
            <a:extLst>
              <a:ext uri="{FF2B5EF4-FFF2-40B4-BE49-F238E27FC236}">
                <a16:creationId xmlns:a16="http://schemas.microsoft.com/office/drawing/2014/main" id="{9F45E5BB-ABD3-BE6D-5A9F-3AB48DFE7608}"/>
              </a:ext>
            </a:extLst>
          </p:cNvPr>
          <p:cNvSpPr txBox="1"/>
          <p:nvPr/>
        </p:nvSpPr>
        <p:spPr>
          <a:xfrm>
            <a:off x="1163202" y="2049296"/>
            <a:ext cx="2840842" cy="830997"/>
          </a:xfrm>
          <a:prstGeom prst="rect">
            <a:avLst/>
          </a:prstGeom>
          <a:noFill/>
        </p:spPr>
        <p:txBody>
          <a:bodyPr wrap="none" rtlCol="0">
            <a:spAutoFit/>
          </a:bodyPr>
          <a:lstStyle/>
          <a:p>
            <a:r>
              <a:rPr lang="en-US" sz="2400" dirty="0"/>
              <a:t>Condition synthesis</a:t>
            </a:r>
          </a:p>
          <a:p>
            <a:r>
              <a:rPr lang="en-US" sz="2400" dirty="0"/>
              <a:t>problem</a:t>
            </a:r>
            <a:endParaRPr lang="en-IL" sz="2400" dirty="0"/>
          </a:p>
        </p:txBody>
      </p:sp>
      <p:sp>
        <p:nvSpPr>
          <p:cNvPr id="6" name="Rectangle 5">
            <a:extLst>
              <a:ext uri="{FF2B5EF4-FFF2-40B4-BE49-F238E27FC236}">
                <a16:creationId xmlns:a16="http://schemas.microsoft.com/office/drawing/2014/main" id="{0BADEF60-3EC1-EE28-F799-0F20186EFCA1}"/>
              </a:ext>
            </a:extLst>
          </p:cNvPr>
          <p:cNvSpPr/>
          <p:nvPr/>
        </p:nvSpPr>
        <p:spPr>
          <a:xfrm>
            <a:off x="4412687" y="2024373"/>
            <a:ext cx="2573079" cy="17543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effectLst>
                  <a:outerShdw blurRad="38100" dist="38100" dir="2700000" algn="tl">
                    <a:srgbClr val="000000">
                      <a:alpha val="43137"/>
                    </a:srgbClr>
                  </a:outerShdw>
                </a:effectLst>
              </a:rPr>
              <a:t>CoSyn</a:t>
            </a:r>
            <a:endParaRPr lang="en-IL" sz="3600"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764D86D-46A7-E175-EDC8-69438CB06581}"/>
              </a:ext>
            </a:extLst>
          </p:cNvPr>
          <p:cNvSpPr txBox="1"/>
          <p:nvPr/>
        </p:nvSpPr>
        <p:spPr>
          <a:xfrm>
            <a:off x="7773286" y="1951205"/>
            <a:ext cx="2899144" cy="461665"/>
          </a:xfrm>
          <a:prstGeom prst="rect">
            <a:avLst/>
          </a:prstGeom>
          <a:noFill/>
        </p:spPr>
        <p:txBody>
          <a:bodyPr wrap="square" rtlCol="0">
            <a:spAutoFit/>
          </a:bodyPr>
          <a:lstStyle/>
          <a:p>
            <a:r>
              <a:rPr lang="en-US" sz="2400" dirty="0"/>
              <a:t>Unrealizable </a:t>
            </a:r>
          </a:p>
        </p:txBody>
      </p:sp>
      <p:sp>
        <p:nvSpPr>
          <p:cNvPr id="8" name="TextBox 7">
            <a:extLst>
              <a:ext uri="{FF2B5EF4-FFF2-40B4-BE49-F238E27FC236}">
                <a16:creationId xmlns:a16="http://schemas.microsoft.com/office/drawing/2014/main" id="{5C4FC1D4-AF11-3854-56DF-08E658801512}"/>
              </a:ext>
            </a:extLst>
          </p:cNvPr>
          <p:cNvSpPr txBox="1"/>
          <p:nvPr/>
        </p:nvSpPr>
        <p:spPr>
          <a:xfrm>
            <a:off x="7773286" y="3166651"/>
            <a:ext cx="2899144" cy="461665"/>
          </a:xfrm>
          <a:prstGeom prst="rect">
            <a:avLst/>
          </a:prstGeom>
          <a:noFill/>
        </p:spPr>
        <p:txBody>
          <a:bodyPr wrap="square" rtlCol="0">
            <a:spAutoFit/>
          </a:bodyPr>
          <a:lstStyle/>
          <a:p>
            <a:r>
              <a:rPr lang="en-US" sz="2400" dirty="0"/>
              <a:t>Realizable </a:t>
            </a:r>
          </a:p>
        </p:txBody>
      </p:sp>
      <p:pic>
        <p:nvPicPr>
          <p:cNvPr id="10" name="Graphic 9" descr="Document with solid fill">
            <a:extLst>
              <a:ext uri="{FF2B5EF4-FFF2-40B4-BE49-F238E27FC236}">
                <a16:creationId xmlns:a16="http://schemas.microsoft.com/office/drawing/2014/main" id="{D1505E7D-C516-C5C5-7127-8E70AD215D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36766" y="2444359"/>
            <a:ext cx="914400" cy="914400"/>
          </a:xfrm>
          <a:prstGeom prst="rect">
            <a:avLst/>
          </a:prstGeom>
        </p:spPr>
      </p:pic>
      <p:sp>
        <p:nvSpPr>
          <p:cNvPr id="12" name="TextBox 11">
            <a:extLst>
              <a:ext uri="{FF2B5EF4-FFF2-40B4-BE49-F238E27FC236}">
                <a16:creationId xmlns:a16="http://schemas.microsoft.com/office/drawing/2014/main" id="{694C7BF3-7DA8-A69F-FC73-9617EEFC4F0F}"/>
              </a:ext>
            </a:extLst>
          </p:cNvPr>
          <p:cNvSpPr txBox="1"/>
          <p:nvPr/>
        </p:nvSpPr>
        <p:spPr>
          <a:xfrm>
            <a:off x="8285598" y="2488721"/>
            <a:ext cx="2743200" cy="369332"/>
          </a:xfrm>
          <a:prstGeom prst="rect">
            <a:avLst/>
          </a:prstGeom>
          <a:noFill/>
        </p:spPr>
        <p:txBody>
          <a:bodyPr wrap="square">
            <a:spAutoFit/>
          </a:bodyPr>
          <a:lstStyle/>
          <a:p>
            <a:r>
              <a:rPr lang="en-US" dirty="0"/>
              <a:t>+ doomed initial state</a:t>
            </a:r>
            <a:endParaRPr lang="en-IL" dirty="0"/>
          </a:p>
        </p:txBody>
      </p:sp>
      <p:sp>
        <p:nvSpPr>
          <p:cNvPr id="14" name="TextBox 13">
            <a:extLst>
              <a:ext uri="{FF2B5EF4-FFF2-40B4-BE49-F238E27FC236}">
                <a16:creationId xmlns:a16="http://schemas.microsoft.com/office/drawing/2014/main" id="{A868F229-7840-DB66-5381-C72021610238}"/>
              </a:ext>
            </a:extLst>
          </p:cNvPr>
          <p:cNvSpPr txBox="1"/>
          <p:nvPr/>
        </p:nvSpPr>
        <p:spPr>
          <a:xfrm>
            <a:off x="8265927" y="3649180"/>
            <a:ext cx="4000501" cy="369332"/>
          </a:xfrm>
          <a:prstGeom prst="rect">
            <a:avLst/>
          </a:prstGeom>
          <a:noFill/>
        </p:spPr>
        <p:txBody>
          <a:bodyPr wrap="square">
            <a:spAutoFit/>
          </a:bodyPr>
          <a:lstStyle/>
          <a:p>
            <a:r>
              <a:rPr lang="en-US" dirty="0"/>
              <a:t>+ range of conditions for each hole</a:t>
            </a:r>
            <a:endParaRPr lang="en-IL" dirty="0"/>
          </a:p>
        </p:txBody>
      </p:sp>
      <p:cxnSp>
        <p:nvCxnSpPr>
          <p:cNvPr id="16" name="Straight Arrow Connector 15">
            <a:extLst>
              <a:ext uri="{FF2B5EF4-FFF2-40B4-BE49-F238E27FC236}">
                <a16:creationId xmlns:a16="http://schemas.microsoft.com/office/drawing/2014/main" id="{BC8B261F-C4F3-93B8-629A-14FE5E8F9401}"/>
              </a:ext>
            </a:extLst>
          </p:cNvPr>
          <p:cNvCxnSpPr>
            <a:cxnSpLocks/>
            <a:stCxn id="6" idx="3"/>
            <a:endCxn id="7" idx="1"/>
          </p:cNvCxnSpPr>
          <p:nvPr/>
        </p:nvCxnSpPr>
        <p:spPr>
          <a:xfrm flipV="1">
            <a:off x="6985766" y="2182038"/>
            <a:ext cx="787520" cy="7195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820F087-2135-271F-EDDC-3661A65203D1}"/>
              </a:ext>
            </a:extLst>
          </p:cNvPr>
          <p:cNvCxnSpPr>
            <a:stCxn id="6" idx="3"/>
            <a:endCxn id="8" idx="1"/>
          </p:cNvCxnSpPr>
          <p:nvPr/>
        </p:nvCxnSpPr>
        <p:spPr>
          <a:xfrm>
            <a:off x="6985766" y="2901559"/>
            <a:ext cx="787520" cy="4959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BB3F312-3CF8-877F-E125-ADB4CAA0E8E3}"/>
              </a:ext>
            </a:extLst>
          </p:cNvPr>
          <p:cNvCxnSpPr>
            <a:stCxn id="10" idx="3"/>
            <a:endCxn id="6" idx="1"/>
          </p:cNvCxnSpPr>
          <p:nvPr/>
        </p:nvCxnSpPr>
        <p:spPr>
          <a:xfrm>
            <a:off x="3751166" y="2901559"/>
            <a:ext cx="661521"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0043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2"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C3D69"/>
                </a:solidFill>
              </a:rPr>
              <a:t>Reduction to CHC</a:t>
            </a:r>
          </a:p>
        </p:txBody>
      </p:sp>
      <p:sp>
        <p:nvSpPr>
          <p:cNvPr id="3" name="Content Placeholder 2"/>
          <p:cNvSpPr>
            <a:spLocks noGrp="1"/>
          </p:cNvSpPr>
          <p:nvPr>
            <p:ph idx="1"/>
          </p:nvPr>
        </p:nvSpPr>
        <p:spPr/>
        <p:txBody>
          <a:bodyPr>
            <a:normAutofit/>
          </a:bodyPr>
          <a:lstStyle/>
          <a:p>
            <a:r>
              <a:rPr lang="en-US" dirty="0"/>
              <a:t>The problem is </a:t>
            </a:r>
            <a:r>
              <a:rPr lang="en-US" dirty="0">
                <a:solidFill>
                  <a:srgbClr val="0000FF"/>
                </a:solidFill>
              </a:rPr>
              <a:t>unrealizable</a:t>
            </a:r>
            <a:r>
              <a:rPr lang="en-US" dirty="0"/>
              <a:t> </a:t>
            </a:r>
            <a:r>
              <a:rPr lang="en-US" dirty="0" err="1"/>
              <a:t>iff</a:t>
            </a:r>
            <a:r>
              <a:rPr lang="en-US" dirty="0"/>
              <a:t> there exists a </a:t>
            </a:r>
            <a:r>
              <a:rPr lang="en-US" dirty="0">
                <a:solidFill>
                  <a:srgbClr val="0000FF"/>
                </a:solidFill>
              </a:rPr>
              <a:t>doomed initial state.</a:t>
            </a:r>
          </a:p>
          <a:p>
            <a:r>
              <a:rPr lang="en-US" dirty="0"/>
              <a:t>To check for the existence of a doomed initial state, COSYN uses a </a:t>
            </a:r>
            <a:r>
              <a:rPr lang="en-US" dirty="0">
                <a:solidFill>
                  <a:srgbClr val="FF0000"/>
                </a:solidFill>
              </a:rPr>
              <a:t>reduction</a:t>
            </a:r>
            <a:r>
              <a:rPr lang="en-US" dirty="0"/>
              <a:t> to </a:t>
            </a:r>
            <a:r>
              <a:rPr lang="en-US" dirty="0">
                <a:solidFill>
                  <a:srgbClr val="0000FF"/>
                </a:solidFill>
              </a:rPr>
              <a:t>Constrained Horn Clauses (CHC). </a:t>
            </a:r>
            <a:br>
              <a:rPr lang="en-US" dirty="0"/>
            </a:br>
            <a:r>
              <a:rPr lang="en-US" dirty="0"/>
              <a:t> </a:t>
            </a:r>
            <a:br>
              <a:rPr lang="en-US" dirty="0"/>
            </a:br>
            <a:endParaRPr lang="en-US" dirty="0"/>
          </a:p>
        </p:txBody>
      </p:sp>
      <p:sp>
        <p:nvSpPr>
          <p:cNvPr id="4" name="Slide Number Placeholder 3">
            <a:extLst>
              <a:ext uri="{FF2B5EF4-FFF2-40B4-BE49-F238E27FC236}">
                <a16:creationId xmlns:a16="http://schemas.microsoft.com/office/drawing/2014/main" id="{86539134-7C38-4E33-8E42-1F86203436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68F78-0373-4497-8506-82E0664339AD}" type="slidenum">
              <a:rPr kumimoji="0" lang="en-US" sz="12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652127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C3D69"/>
                </a:solidFill>
              </a:rPr>
              <a:t>Reduction to CHC – cont.</a:t>
            </a:r>
          </a:p>
        </p:txBody>
      </p:sp>
      <p:sp>
        <p:nvSpPr>
          <p:cNvPr id="3" name="Content Placeholder 2"/>
          <p:cNvSpPr>
            <a:spLocks noGrp="1"/>
          </p:cNvSpPr>
          <p:nvPr>
            <p:ph idx="1"/>
          </p:nvPr>
        </p:nvSpPr>
        <p:spPr/>
        <p:txBody>
          <a:bodyPr>
            <a:normAutofit/>
          </a:bodyPr>
          <a:lstStyle/>
          <a:p>
            <a:r>
              <a:rPr lang="en-US" dirty="0"/>
              <a:t>A state is doomed at location l if along every path from l to the assertion, the assertion fails.</a:t>
            </a:r>
          </a:p>
          <a:p>
            <a:r>
              <a:rPr lang="en-US" dirty="0"/>
              <a:t>Our reduction calculates doomed states </a:t>
            </a:r>
            <a:r>
              <a:rPr lang="en-US" dirty="0">
                <a:solidFill>
                  <a:srgbClr val="0000FF"/>
                </a:solidFill>
              </a:rPr>
              <a:t>backwards</a:t>
            </a:r>
            <a:r>
              <a:rPr lang="en-US" dirty="0"/>
              <a:t>, starting from the </a:t>
            </a:r>
            <a:r>
              <a:rPr lang="en-US" dirty="0">
                <a:solidFill>
                  <a:srgbClr val="0000FF"/>
                </a:solidFill>
              </a:rPr>
              <a:t>negation of the assertion</a:t>
            </a:r>
            <a:r>
              <a:rPr lang="en-US" dirty="0"/>
              <a:t>.</a:t>
            </a:r>
            <a:br>
              <a:rPr lang="en-US" dirty="0"/>
            </a:br>
            <a:r>
              <a:rPr lang="en-US" dirty="0"/>
              <a:t> </a:t>
            </a:r>
            <a:br>
              <a:rPr lang="en-US" dirty="0"/>
            </a:br>
            <a:endParaRPr lang="en-US" dirty="0"/>
          </a:p>
        </p:txBody>
      </p:sp>
      <p:sp>
        <p:nvSpPr>
          <p:cNvPr id="4" name="Slide Number Placeholder 3">
            <a:extLst>
              <a:ext uri="{FF2B5EF4-FFF2-40B4-BE49-F238E27FC236}">
                <a16:creationId xmlns:a16="http://schemas.microsoft.com/office/drawing/2014/main" id="{86539134-7C38-4E33-8E42-1F86203436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68F78-0373-4497-8506-82E0664339AD}" type="slidenum">
              <a:rPr kumimoji="0" lang="en-US" sz="12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62038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2441340" y="1568989"/>
            <a:ext cx="3168352" cy="2808312"/>
          </a:xfrm>
          <a:prstGeom prst="rect">
            <a:avLst/>
          </a:prstGeom>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rgbClr val="8E3D78"/>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rgbClr val="8E3D78"/>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rgbClr val="8E3D78"/>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rgbClr val="8E3D78"/>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rgbClr val="8E3D78"/>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rtl="0">
              <a:buNone/>
            </a:pPr>
            <a:r>
              <a:rPr lang="en-US" sz="2200" dirty="0">
                <a:solidFill>
                  <a:prstClr val="black"/>
                </a:solidFill>
              </a:rPr>
              <a:t>abs(x): </a:t>
            </a:r>
          </a:p>
          <a:p>
            <a:pPr marL="0" indent="0" algn="l" rtl="0">
              <a:buNone/>
            </a:pPr>
            <a:r>
              <a:rPr lang="en-US" sz="2200" dirty="0">
                <a:solidFill>
                  <a:prstClr val="black"/>
                </a:solidFill>
              </a:rPr>
              <a:t>    res = 0</a:t>
            </a:r>
          </a:p>
          <a:p>
            <a:pPr marL="0" indent="0" algn="l" rtl="0">
              <a:buNone/>
            </a:pPr>
            <a:r>
              <a:rPr lang="en-US" sz="2200" dirty="0">
                <a:solidFill>
                  <a:prstClr val="black"/>
                </a:solidFill>
              </a:rPr>
              <a:t>    if (</a:t>
            </a:r>
            <a:r>
              <a:rPr lang="he-IL" sz="2200" dirty="0">
                <a:solidFill>
                  <a:prstClr val="black"/>
                </a:solidFill>
              </a:rPr>
              <a:t>?</a:t>
            </a:r>
            <a:r>
              <a:rPr lang="en-US" sz="2200" dirty="0">
                <a:solidFill>
                  <a:prstClr val="black"/>
                </a:solidFill>
              </a:rPr>
              <a:t>)   </a:t>
            </a:r>
          </a:p>
          <a:p>
            <a:pPr marL="0" indent="0" algn="l" rtl="0">
              <a:buNone/>
            </a:pPr>
            <a:r>
              <a:rPr lang="en-US" sz="2200" dirty="0">
                <a:solidFill>
                  <a:prstClr val="black"/>
                </a:solidFill>
              </a:rPr>
              <a:t>	res = x</a:t>
            </a:r>
          </a:p>
          <a:p>
            <a:pPr marL="0" indent="0" algn="l" rtl="0">
              <a:buNone/>
            </a:pPr>
            <a:r>
              <a:rPr lang="en-US" sz="2200" dirty="0">
                <a:solidFill>
                  <a:prstClr val="black"/>
                </a:solidFill>
              </a:rPr>
              <a:t>    else</a:t>
            </a:r>
          </a:p>
          <a:p>
            <a:pPr marL="0" indent="0" algn="l" rtl="0">
              <a:buNone/>
            </a:pPr>
            <a:r>
              <a:rPr lang="en-US" sz="2200" dirty="0">
                <a:solidFill>
                  <a:prstClr val="black"/>
                </a:solidFill>
              </a:rPr>
              <a:t>	res = -x</a:t>
            </a:r>
          </a:p>
          <a:p>
            <a:pPr marL="0" indent="0" algn="l" rtl="0">
              <a:buNone/>
            </a:pPr>
            <a:r>
              <a:rPr lang="en-US" sz="2200" dirty="0">
                <a:solidFill>
                  <a:prstClr val="black"/>
                </a:solidFill>
              </a:rPr>
              <a:t>    assert (res&gt;= 0)</a:t>
            </a:r>
          </a:p>
          <a:p>
            <a:pPr marL="0" indent="0" algn="l" rtl="0">
              <a:buNone/>
            </a:pPr>
            <a:endParaRPr lang="en-US" sz="2200" dirty="0">
              <a:solidFill>
                <a:prstClr val="black"/>
              </a:solidFill>
            </a:endParaRPr>
          </a:p>
        </p:txBody>
      </p:sp>
      <p:sp>
        <p:nvSpPr>
          <p:cNvPr id="12" name="Oval 11"/>
          <p:cNvSpPr/>
          <p:nvPr/>
        </p:nvSpPr>
        <p:spPr>
          <a:xfrm>
            <a:off x="8095404" y="1484784"/>
            <a:ext cx="53559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i</a:t>
            </a:r>
            <a:endParaRPr lang="he-IL" sz="2800" baseline="-25000" dirty="0">
              <a:solidFill>
                <a:prstClr val="white"/>
              </a:solidFill>
            </a:endParaRPr>
          </a:p>
        </p:txBody>
      </p:sp>
      <p:sp>
        <p:nvSpPr>
          <p:cNvPr id="13" name="Oval 12"/>
          <p:cNvSpPr/>
          <p:nvPr/>
        </p:nvSpPr>
        <p:spPr>
          <a:xfrm>
            <a:off x="8054937" y="2561660"/>
            <a:ext cx="618493" cy="535596"/>
          </a:xfrm>
          <a:prstGeom prst="ellipse">
            <a:avLst/>
          </a:prstGeom>
          <a:solidFill>
            <a:schemeClr val="accent6">
              <a:lumMod val="60000"/>
              <a:lumOff val="40000"/>
            </a:schemeClr>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schemeClr val="accent6">
                    <a:lumMod val="50000"/>
                  </a:schemeClr>
                </a:solidFill>
              </a:rPr>
              <a:t>l</a:t>
            </a:r>
            <a:r>
              <a:rPr lang="en-US" sz="2800" baseline="-25000" dirty="0">
                <a:solidFill>
                  <a:schemeClr val="accent6">
                    <a:lumMod val="50000"/>
                  </a:schemeClr>
                </a:solidFill>
              </a:rPr>
              <a:t>1</a:t>
            </a:r>
            <a:endParaRPr lang="he-IL" sz="2800" baseline="-25000" dirty="0">
              <a:solidFill>
                <a:schemeClr val="accent6">
                  <a:lumMod val="50000"/>
                </a:schemeClr>
              </a:solidFill>
            </a:endParaRPr>
          </a:p>
        </p:txBody>
      </p:sp>
      <p:sp>
        <p:nvSpPr>
          <p:cNvPr id="14" name="Oval 13"/>
          <p:cNvSpPr/>
          <p:nvPr/>
        </p:nvSpPr>
        <p:spPr>
          <a:xfrm>
            <a:off x="9164514" y="3478692"/>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2</a:t>
            </a:r>
            <a:endParaRPr lang="he-IL" sz="2800" baseline="-25000" dirty="0">
              <a:solidFill>
                <a:prstClr val="white"/>
              </a:solidFill>
            </a:endParaRPr>
          </a:p>
        </p:txBody>
      </p:sp>
      <p:sp>
        <p:nvSpPr>
          <p:cNvPr id="15" name="Oval 14"/>
          <p:cNvSpPr/>
          <p:nvPr/>
        </p:nvSpPr>
        <p:spPr>
          <a:xfrm>
            <a:off x="6932266" y="3478692"/>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3</a:t>
            </a:r>
            <a:endParaRPr lang="he-IL" sz="2800" baseline="-25000" dirty="0">
              <a:solidFill>
                <a:prstClr val="white"/>
              </a:solidFill>
            </a:endParaRPr>
          </a:p>
        </p:txBody>
      </p:sp>
      <p:sp>
        <p:nvSpPr>
          <p:cNvPr id="16" name="Oval 15"/>
          <p:cNvSpPr/>
          <p:nvPr/>
        </p:nvSpPr>
        <p:spPr>
          <a:xfrm>
            <a:off x="8095404" y="4458131"/>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4</a:t>
            </a:r>
            <a:endParaRPr lang="he-IL" sz="2800" baseline="-25000" dirty="0">
              <a:solidFill>
                <a:prstClr val="white"/>
              </a:solidFill>
            </a:endParaRPr>
          </a:p>
        </p:txBody>
      </p:sp>
      <p:sp>
        <p:nvSpPr>
          <p:cNvPr id="17" name="Oval 16"/>
          <p:cNvSpPr/>
          <p:nvPr/>
        </p:nvSpPr>
        <p:spPr>
          <a:xfrm>
            <a:off x="7946166" y="5589240"/>
            <a:ext cx="865611" cy="6546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err="1">
                <a:solidFill>
                  <a:prstClr val="white"/>
                </a:solidFill>
              </a:rPr>
              <a:t>l</a:t>
            </a:r>
            <a:r>
              <a:rPr lang="en-US" sz="2800" baseline="-25000" dirty="0" err="1">
                <a:solidFill>
                  <a:prstClr val="white"/>
                </a:solidFill>
              </a:rPr>
              <a:t>err</a:t>
            </a:r>
            <a:endParaRPr lang="he-IL" sz="2800" baseline="-25000" dirty="0">
              <a:solidFill>
                <a:prstClr val="white"/>
              </a:solidFill>
            </a:endParaRPr>
          </a:p>
        </p:txBody>
      </p:sp>
      <p:cxnSp>
        <p:nvCxnSpPr>
          <p:cNvPr id="19" name="Straight Arrow Connector 18"/>
          <p:cNvCxnSpPr>
            <a:stCxn id="12" idx="4"/>
            <a:endCxn id="13" idx="0"/>
          </p:cNvCxnSpPr>
          <p:nvPr/>
        </p:nvCxnSpPr>
        <p:spPr>
          <a:xfrm>
            <a:off x="8363203" y="2020380"/>
            <a:ext cx="981" cy="54128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3" idx="5"/>
            <a:endCxn id="14" idx="1"/>
          </p:cNvCxnSpPr>
          <p:nvPr/>
        </p:nvCxnSpPr>
        <p:spPr>
          <a:xfrm>
            <a:off x="8582854" y="3018820"/>
            <a:ext cx="667941" cy="53830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3" idx="3"/>
            <a:endCxn id="15" idx="7"/>
          </p:cNvCxnSpPr>
          <p:nvPr/>
        </p:nvCxnSpPr>
        <p:spPr>
          <a:xfrm flipH="1">
            <a:off x="7435142" y="3018820"/>
            <a:ext cx="710370" cy="53830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5" idx="5"/>
            <a:endCxn id="16" idx="1"/>
          </p:cNvCxnSpPr>
          <p:nvPr/>
        </p:nvCxnSpPr>
        <p:spPr>
          <a:xfrm>
            <a:off x="7435142" y="3935853"/>
            <a:ext cx="746542" cy="60071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4" idx="3"/>
            <a:endCxn id="16" idx="7"/>
          </p:cNvCxnSpPr>
          <p:nvPr/>
        </p:nvCxnSpPr>
        <p:spPr>
          <a:xfrm flipH="1">
            <a:off x="8598280" y="3935853"/>
            <a:ext cx="652514" cy="60071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6" idx="4"/>
            <a:endCxn id="17" idx="0"/>
          </p:cNvCxnSpPr>
          <p:nvPr/>
        </p:nvCxnSpPr>
        <p:spPr>
          <a:xfrm flipH="1">
            <a:off x="8378972" y="4993728"/>
            <a:ext cx="11011" cy="5955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374803" y="2020381"/>
            <a:ext cx="1107997" cy="461665"/>
          </a:xfrm>
          <a:prstGeom prst="rect">
            <a:avLst/>
          </a:prstGeom>
          <a:noFill/>
        </p:spPr>
        <p:txBody>
          <a:bodyPr wrap="none" rtlCol="1">
            <a:spAutoFit/>
          </a:bodyPr>
          <a:lstStyle/>
          <a:p>
            <a:pPr algn="r" rtl="1"/>
            <a:r>
              <a:rPr lang="en-US" sz="2400" dirty="0">
                <a:solidFill>
                  <a:prstClr val="black"/>
                </a:solidFill>
              </a:rPr>
              <a:t>res = 0</a:t>
            </a:r>
            <a:endParaRPr lang="he-IL" sz="2400" dirty="0">
              <a:solidFill>
                <a:prstClr val="black"/>
              </a:solidFill>
            </a:endParaRPr>
          </a:p>
        </p:txBody>
      </p:sp>
      <p:sp>
        <p:nvSpPr>
          <p:cNvPr id="31" name="TextBox 30"/>
          <p:cNvSpPr txBox="1"/>
          <p:nvPr/>
        </p:nvSpPr>
        <p:spPr>
          <a:xfrm>
            <a:off x="8891512" y="2873044"/>
            <a:ext cx="322524" cy="461665"/>
          </a:xfrm>
          <a:prstGeom prst="rect">
            <a:avLst/>
          </a:prstGeom>
          <a:noFill/>
          <a:ln>
            <a:noFill/>
          </a:ln>
        </p:spPr>
        <p:txBody>
          <a:bodyPr wrap="none" rtlCol="1">
            <a:spAutoFit/>
          </a:bodyPr>
          <a:lstStyle/>
          <a:p>
            <a:pPr algn="r" rtl="1"/>
            <a:r>
              <a:rPr lang="he-IL" sz="2400" dirty="0">
                <a:solidFill>
                  <a:schemeClr val="accent6">
                    <a:lumMod val="75000"/>
                  </a:schemeClr>
                </a:solidFill>
              </a:rPr>
              <a:t>?</a:t>
            </a:r>
          </a:p>
        </p:txBody>
      </p:sp>
      <p:sp>
        <p:nvSpPr>
          <p:cNvPr id="32" name="TextBox 31"/>
          <p:cNvSpPr txBox="1"/>
          <p:nvPr/>
        </p:nvSpPr>
        <p:spPr>
          <a:xfrm>
            <a:off x="7323509" y="2834690"/>
            <a:ext cx="513346" cy="830997"/>
          </a:xfrm>
          <a:prstGeom prst="rect">
            <a:avLst/>
          </a:prstGeom>
          <a:noFill/>
          <a:ln>
            <a:noFill/>
          </a:ln>
        </p:spPr>
        <p:txBody>
          <a:bodyPr wrap="none" rtlCol="1">
            <a:spAutoFit/>
          </a:bodyPr>
          <a:lstStyle/>
          <a:p>
            <a:pPr algn="r" rtl="1"/>
            <a:r>
              <a:rPr lang="he-IL" sz="2400" dirty="0">
                <a:solidFill>
                  <a:schemeClr val="accent6">
                    <a:lumMod val="75000"/>
                  </a:schemeClr>
                </a:solidFill>
              </a:rPr>
              <a:t>?</a:t>
            </a:r>
            <a:r>
              <a:rPr lang="en-IL" i="1" dirty="0">
                <a:solidFill>
                  <a:schemeClr val="accent6">
                    <a:lumMod val="75000"/>
                  </a:schemeClr>
                </a:solidFill>
              </a:rPr>
              <a:t> ¬</a:t>
            </a:r>
            <a:br>
              <a:rPr lang="en-IL" sz="2400" dirty="0">
                <a:solidFill>
                  <a:schemeClr val="accent6">
                    <a:lumMod val="75000"/>
                  </a:schemeClr>
                </a:solidFill>
              </a:rPr>
            </a:br>
            <a:endParaRPr lang="he-IL" sz="2400" dirty="0">
              <a:solidFill>
                <a:schemeClr val="accent6">
                  <a:lumMod val="75000"/>
                </a:schemeClr>
              </a:solidFill>
            </a:endParaRPr>
          </a:p>
        </p:txBody>
      </p:sp>
      <p:sp>
        <p:nvSpPr>
          <p:cNvPr id="33" name="TextBox 32"/>
          <p:cNvSpPr txBox="1"/>
          <p:nvPr/>
        </p:nvSpPr>
        <p:spPr>
          <a:xfrm>
            <a:off x="8875074" y="4047456"/>
            <a:ext cx="1099981" cy="461665"/>
          </a:xfrm>
          <a:prstGeom prst="rect">
            <a:avLst/>
          </a:prstGeom>
          <a:noFill/>
        </p:spPr>
        <p:txBody>
          <a:bodyPr wrap="none" rtlCol="1">
            <a:spAutoFit/>
          </a:bodyPr>
          <a:lstStyle/>
          <a:p>
            <a:pPr algn="r" rtl="1"/>
            <a:r>
              <a:rPr lang="en-US" sz="2400" dirty="0">
                <a:solidFill>
                  <a:prstClr val="black"/>
                </a:solidFill>
              </a:rPr>
              <a:t>res = x</a:t>
            </a:r>
            <a:endParaRPr lang="he-IL" sz="2400" dirty="0">
              <a:solidFill>
                <a:prstClr val="black"/>
              </a:solidFill>
            </a:endParaRPr>
          </a:p>
        </p:txBody>
      </p:sp>
      <p:sp>
        <p:nvSpPr>
          <p:cNvPr id="34" name="TextBox 33"/>
          <p:cNvSpPr txBox="1"/>
          <p:nvPr/>
        </p:nvSpPr>
        <p:spPr>
          <a:xfrm>
            <a:off x="6609440" y="4051222"/>
            <a:ext cx="1213795" cy="461665"/>
          </a:xfrm>
          <a:prstGeom prst="rect">
            <a:avLst/>
          </a:prstGeom>
          <a:noFill/>
        </p:spPr>
        <p:txBody>
          <a:bodyPr wrap="none" rtlCol="1">
            <a:spAutoFit/>
          </a:bodyPr>
          <a:lstStyle/>
          <a:p>
            <a:pPr algn="r" rtl="1"/>
            <a:r>
              <a:rPr lang="en-US" sz="2400" dirty="0">
                <a:solidFill>
                  <a:prstClr val="black"/>
                </a:solidFill>
              </a:rPr>
              <a:t>res = -x</a:t>
            </a:r>
            <a:endParaRPr lang="he-IL" sz="2400" dirty="0">
              <a:solidFill>
                <a:prstClr val="black"/>
              </a:solidFill>
            </a:endParaRPr>
          </a:p>
        </p:txBody>
      </p:sp>
      <p:sp>
        <p:nvSpPr>
          <p:cNvPr id="45" name="TextBox 44"/>
          <p:cNvSpPr txBox="1"/>
          <p:nvPr/>
        </p:nvSpPr>
        <p:spPr>
          <a:xfrm>
            <a:off x="8350418" y="5000292"/>
            <a:ext cx="1107997" cy="461665"/>
          </a:xfrm>
          <a:prstGeom prst="rect">
            <a:avLst/>
          </a:prstGeom>
          <a:noFill/>
        </p:spPr>
        <p:txBody>
          <a:bodyPr wrap="none" rtlCol="1">
            <a:spAutoFit/>
          </a:bodyPr>
          <a:lstStyle/>
          <a:p>
            <a:pPr algn="r" rtl="1"/>
            <a:r>
              <a:rPr lang="en-US" sz="2400" dirty="0">
                <a:solidFill>
                  <a:prstClr val="black"/>
                </a:solidFill>
              </a:rPr>
              <a:t>res &lt; 0</a:t>
            </a:r>
            <a:endParaRPr lang="he-IL" sz="2400" dirty="0">
              <a:solidFill>
                <a:prstClr val="black"/>
              </a:solidFill>
            </a:endParaRPr>
          </a:p>
        </p:txBody>
      </p:sp>
      <p:sp>
        <p:nvSpPr>
          <p:cNvPr id="46" name="Right Arrow 45"/>
          <p:cNvSpPr/>
          <p:nvPr/>
        </p:nvSpPr>
        <p:spPr>
          <a:xfrm>
            <a:off x="5231904" y="3212976"/>
            <a:ext cx="1080120" cy="5335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endParaRPr lang="he-IL">
              <a:solidFill>
                <a:prstClr val="white"/>
              </a:solidFill>
            </a:endParaRPr>
          </a:p>
        </p:txBody>
      </p:sp>
      <p:sp>
        <p:nvSpPr>
          <p:cNvPr id="47" name="TextBox 46"/>
          <p:cNvSpPr txBox="1"/>
          <p:nvPr/>
        </p:nvSpPr>
        <p:spPr>
          <a:xfrm>
            <a:off x="4727498" y="2566646"/>
            <a:ext cx="2304606" cy="646331"/>
          </a:xfrm>
          <a:prstGeom prst="rect">
            <a:avLst/>
          </a:prstGeom>
          <a:noFill/>
        </p:spPr>
        <p:txBody>
          <a:bodyPr wrap="none" rtlCol="1">
            <a:spAutoFit/>
          </a:bodyPr>
          <a:lstStyle/>
          <a:p>
            <a:pPr algn="r" rtl="1"/>
            <a:r>
              <a:rPr lang="en-US" b="1" dirty="0">
                <a:solidFill>
                  <a:prstClr val="black"/>
                </a:solidFill>
              </a:rPr>
              <a:t>Control-Flow-Graph</a:t>
            </a:r>
          </a:p>
          <a:p>
            <a:pPr algn="ctr" rtl="1"/>
            <a:r>
              <a:rPr lang="en-US" b="1" dirty="0">
                <a:solidFill>
                  <a:prstClr val="black"/>
                </a:solidFill>
              </a:rPr>
              <a:t>(CFG)</a:t>
            </a:r>
            <a:endParaRPr lang="he-IL" b="1" dirty="0">
              <a:solidFill>
                <a:prstClr val="black"/>
              </a:solidFill>
            </a:endParaRPr>
          </a:p>
        </p:txBody>
      </p:sp>
      <p:sp>
        <p:nvSpPr>
          <p:cNvPr id="49" name="Slide Number Placeholder 48"/>
          <p:cNvSpPr>
            <a:spLocks noGrp="1"/>
          </p:cNvSpPr>
          <p:nvPr>
            <p:ph type="sldNum" sz="quarter" idx="12"/>
          </p:nvPr>
        </p:nvSpPr>
        <p:spPr/>
        <p:txBody>
          <a:bodyPr/>
          <a:lstStyle/>
          <a:p>
            <a:fld id="{613D88A7-0F31-4CFF-8A45-6D4D8416ABC0}" type="slidenum">
              <a:rPr lang="he-IL" smtClean="0">
                <a:solidFill>
                  <a:prstClr val="black">
                    <a:tint val="75000"/>
                  </a:prstClr>
                </a:solidFill>
              </a:rPr>
              <a:pPr/>
              <a:t>8</a:t>
            </a:fld>
            <a:endParaRPr lang="he-IL">
              <a:solidFill>
                <a:prstClr val="black">
                  <a:tint val="75000"/>
                </a:prstClr>
              </a:solidFill>
            </a:endParaRPr>
          </a:p>
        </p:txBody>
      </p:sp>
      <p:sp>
        <p:nvSpPr>
          <p:cNvPr id="6" name="Title 1">
            <a:extLst>
              <a:ext uri="{FF2B5EF4-FFF2-40B4-BE49-F238E27FC236}">
                <a16:creationId xmlns:a16="http://schemas.microsoft.com/office/drawing/2014/main" id="{B551D249-35C4-7E3A-E893-6AF3C20FABDE}"/>
              </a:ext>
            </a:extLst>
          </p:cNvPr>
          <p:cNvSpPr>
            <a:spLocks noGrp="1"/>
          </p:cNvSpPr>
          <p:nvPr>
            <p:ph type="title"/>
          </p:nvPr>
        </p:nvSpPr>
        <p:spPr>
          <a:xfrm>
            <a:off x="967563" y="324995"/>
            <a:ext cx="10111563" cy="1325563"/>
          </a:xfrm>
        </p:spPr>
        <p:txBody>
          <a:bodyPr/>
          <a:lstStyle/>
          <a:p>
            <a:r>
              <a:rPr lang="en-US" sz="4400" b="1" dirty="0">
                <a:solidFill>
                  <a:srgbClr val="FC3D69"/>
                </a:solidFill>
                <a:latin typeface="Trebuchet MS" panose="020B0603020202020204" pitchFamily="34" charset="0"/>
              </a:rPr>
              <a:t>Condition Synthesis Running Example</a:t>
            </a:r>
            <a:endParaRPr lang="he-IL" dirty="0"/>
          </a:p>
        </p:txBody>
      </p:sp>
    </p:spTree>
    <p:extLst>
      <p:ext uri="{BB962C8B-B14F-4D97-AF65-F5344CB8AC3E}">
        <p14:creationId xmlns:p14="http://schemas.microsoft.com/office/powerpoint/2010/main" val="363620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30" grpId="0"/>
      <p:bldP spid="31" grpId="0"/>
      <p:bldP spid="32" grpId="0"/>
      <p:bldP spid="33" grpId="0"/>
      <p:bldP spid="34" grpId="0"/>
      <p:bldP spid="45" grpId="0"/>
      <p:bldP spid="46" grpId="0" animBg="1"/>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7563" y="324995"/>
            <a:ext cx="10111563" cy="1325563"/>
          </a:xfrm>
        </p:spPr>
        <p:txBody>
          <a:bodyPr/>
          <a:lstStyle/>
          <a:p>
            <a:r>
              <a:rPr lang="en-US" sz="4400" b="1" dirty="0">
                <a:solidFill>
                  <a:srgbClr val="FC3D69"/>
                </a:solidFill>
                <a:latin typeface="Trebuchet MS" panose="020B0603020202020204" pitchFamily="34" charset="0"/>
              </a:rPr>
              <a:t>Condition Synthesis Running Example</a:t>
            </a:r>
            <a:endParaRPr lang="he-IL" dirty="0"/>
          </a:p>
        </p:txBody>
      </p:sp>
      <p:sp>
        <p:nvSpPr>
          <p:cNvPr id="12" name="Oval 11"/>
          <p:cNvSpPr/>
          <p:nvPr/>
        </p:nvSpPr>
        <p:spPr>
          <a:xfrm>
            <a:off x="2968116" y="1386092"/>
            <a:ext cx="53559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i</a:t>
            </a:r>
            <a:endParaRPr lang="he-IL" sz="2800" baseline="-25000" dirty="0">
              <a:solidFill>
                <a:prstClr val="white"/>
              </a:solidFill>
            </a:endParaRPr>
          </a:p>
        </p:txBody>
      </p:sp>
      <p:sp>
        <p:nvSpPr>
          <p:cNvPr id="13" name="Oval 12"/>
          <p:cNvSpPr/>
          <p:nvPr/>
        </p:nvSpPr>
        <p:spPr>
          <a:xfrm>
            <a:off x="2927649" y="2462968"/>
            <a:ext cx="618493" cy="535596"/>
          </a:xfrm>
          <a:prstGeom prst="ellipse">
            <a:avLst/>
          </a:prstGeom>
          <a:solidFill>
            <a:schemeClr val="accent6">
              <a:lumMod val="60000"/>
              <a:lumOff val="40000"/>
            </a:schemeClr>
          </a:solidFill>
          <a:ln>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rtl="1"/>
            <a:r>
              <a:rPr lang="en-US" sz="2800" dirty="0">
                <a:solidFill>
                  <a:schemeClr val="accent6">
                    <a:lumMod val="75000"/>
                  </a:schemeClr>
                </a:solidFill>
              </a:rPr>
              <a:t>l</a:t>
            </a:r>
            <a:r>
              <a:rPr lang="en-US" sz="2800" baseline="-25000" dirty="0">
                <a:solidFill>
                  <a:schemeClr val="accent6">
                    <a:lumMod val="75000"/>
                  </a:schemeClr>
                </a:solidFill>
              </a:rPr>
              <a:t>1</a:t>
            </a:r>
            <a:endParaRPr lang="he-IL" sz="2800" baseline="-25000" dirty="0">
              <a:solidFill>
                <a:schemeClr val="accent6">
                  <a:lumMod val="75000"/>
                </a:schemeClr>
              </a:solidFill>
            </a:endParaRPr>
          </a:p>
        </p:txBody>
      </p:sp>
      <p:sp>
        <p:nvSpPr>
          <p:cNvPr id="14" name="Oval 13"/>
          <p:cNvSpPr/>
          <p:nvPr/>
        </p:nvSpPr>
        <p:spPr>
          <a:xfrm>
            <a:off x="4037226" y="3380000"/>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2</a:t>
            </a:r>
            <a:endParaRPr lang="he-IL" sz="2800" baseline="-25000" dirty="0">
              <a:solidFill>
                <a:prstClr val="white"/>
              </a:solidFill>
            </a:endParaRPr>
          </a:p>
        </p:txBody>
      </p:sp>
      <p:sp>
        <p:nvSpPr>
          <p:cNvPr id="15" name="Oval 14"/>
          <p:cNvSpPr/>
          <p:nvPr/>
        </p:nvSpPr>
        <p:spPr>
          <a:xfrm>
            <a:off x="1804978" y="3380000"/>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3</a:t>
            </a:r>
            <a:endParaRPr lang="he-IL" sz="2800" baseline="-25000" dirty="0">
              <a:solidFill>
                <a:prstClr val="white"/>
              </a:solidFill>
            </a:endParaRPr>
          </a:p>
        </p:txBody>
      </p:sp>
      <p:sp>
        <p:nvSpPr>
          <p:cNvPr id="16" name="Oval 15"/>
          <p:cNvSpPr/>
          <p:nvPr/>
        </p:nvSpPr>
        <p:spPr>
          <a:xfrm>
            <a:off x="2968116" y="4359439"/>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4</a:t>
            </a:r>
            <a:endParaRPr lang="he-IL" sz="2800" baseline="-25000" dirty="0">
              <a:solidFill>
                <a:prstClr val="white"/>
              </a:solidFill>
            </a:endParaRPr>
          </a:p>
        </p:txBody>
      </p:sp>
      <p:sp>
        <p:nvSpPr>
          <p:cNvPr id="17" name="Oval 16"/>
          <p:cNvSpPr/>
          <p:nvPr/>
        </p:nvSpPr>
        <p:spPr>
          <a:xfrm>
            <a:off x="2818878" y="5490548"/>
            <a:ext cx="865611" cy="6546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err="1">
                <a:solidFill>
                  <a:prstClr val="white"/>
                </a:solidFill>
              </a:rPr>
              <a:t>l</a:t>
            </a:r>
            <a:r>
              <a:rPr lang="en-US" sz="2800" baseline="-25000" dirty="0" err="1">
                <a:solidFill>
                  <a:prstClr val="white"/>
                </a:solidFill>
              </a:rPr>
              <a:t>err</a:t>
            </a:r>
            <a:endParaRPr lang="he-IL" sz="2800" baseline="-25000" dirty="0">
              <a:solidFill>
                <a:prstClr val="white"/>
              </a:solidFill>
            </a:endParaRPr>
          </a:p>
        </p:txBody>
      </p:sp>
      <p:cxnSp>
        <p:nvCxnSpPr>
          <p:cNvPr id="19" name="Straight Arrow Connector 18"/>
          <p:cNvCxnSpPr>
            <a:stCxn id="12" idx="4"/>
            <a:endCxn id="13" idx="0"/>
          </p:cNvCxnSpPr>
          <p:nvPr/>
        </p:nvCxnSpPr>
        <p:spPr>
          <a:xfrm>
            <a:off x="3235915" y="1921688"/>
            <a:ext cx="981" cy="54128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3" idx="5"/>
            <a:endCxn id="14" idx="1"/>
          </p:cNvCxnSpPr>
          <p:nvPr/>
        </p:nvCxnSpPr>
        <p:spPr>
          <a:xfrm>
            <a:off x="3455566" y="2920128"/>
            <a:ext cx="667941" cy="53830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3" idx="3"/>
            <a:endCxn id="15" idx="7"/>
          </p:cNvCxnSpPr>
          <p:nvPr/>
        </p:nvCxnSpPr>
        <p:spPr>
          <a:xfrm flipH="1">
            <a:off x="2307854" y="2920128"/>
            <a:ext cx="710370" cy="53830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5" idx="5"/>
            <a:endCxn id="16" idx="1"/>
          </p:cNvCxnSpPr>
          <p:nvPr/>
        </p:nvCxnSpPr>
        <p:spPr>
          <a:xfrm>
            <a:off x="2307854" y="3837161"/>
            <a:ext cx="746542" cy="60071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4" idx="3"/>
            <a:endCxn id="16" idx="7"/>
          </p:cNvCxnSpPr>
          <p:nvPr/>
        </p:nvCxnSpPr>
        <p:spPr>
          <a:xfrm flipH="1">
            <a:off x="3470992" y="3837161"/>
            <a:ext cx="652514" cy="60071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6" idx="4"/>
            <a:endCxn id="17" idx="0"/>
          </p:cNvCxnSpPr>
          <p:nvPr/>
        </p:nvCxnSpPr>
        <p:spPr>
          <a:xfrm flipH="1">
            <a:off x="3251684" y="4895036"/>
            <a:ext cx="11011" cy="5955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190919" y="1921689"/>
            <a:ext cx="1107997" cy="461665"/>
          </a:xfrm>
          <a:prstGeom prst="rect">
            <a:avLst/>
          </a:prstGeom>
          <a:noFill/>
        </p:spPr>
        <p:txBody>
          <a:bodyPr wrap="none" rtlCol="1">
            <a:spAutoFit/>
          </a:bodyPr>
          <a:lstStyle/>
          <a:p>
            <a:pPr algn="r" rtl="1"/>
            <a:r>
              <a:rPr lang="en-US" sz="2400" dirty="0">
                <a:solidFill>
                  <a:prstClr val="black"/>
                </a:solidFill>
              </a:rPr>
              <a:t>res = 0</a:t>
            </a:r>
            <a:endParaRPr lang="he-IL" sz="2400" dirty="0">
              <a:solidFill>
                <a:prstClr val="black"/>
              </a:solidFill>
            </a:endParaRPr>
          </a:p>
        </p:txBody>
      </p:sp>
      <p:sp>
        <p:nvSpPr>
          <p:cNvPr id="33" name="TextBox 32"/>
          <p:cNvSpPr txBox="1"/>
          <p:nvPr/>
        </p:nvSpPr>
        <p:spPr>
          <a:xfrm>
            <a:off x="3791745" y="3933057"/>
            <a:ext cx="1099981" cy="461665"/>
          </a:xfrm>
          <a:prstGeom prst="rect">
            <a:avLst/>
          </a:prstGeom>
          <a:noFill/>
        </p:spPr>
        <p:txBody>
          <a:bodyPr wrap="none" rtlCol="1">
            <a:spAutoFit/>
          </a:bodyPr>
          <a:lstStyle/>
          <a:p>
            <a:pPr algn="r" rtl="1"/>
            <a:r>
              <a:rPr lang="en-US" sz="2400" dirty="0">
                <a:solidFill>
                  <a:prstClr val="black"/>
                </a:solidFill>
              </a:rPr>
              <a:t>res = x</a:t>
            </a:r>
            <a:endParaRPr lang="he-IL" sz="2400" dirty="0">
              <a:solidFill>
                <a:prstClr val="black"/>
              </a:solidFill>
            </a:endParaRPr>
          </a:p>
        </p:txBody>
      </p:sp>
      <p:sp>
        <p:nvSpPr>
          <p:cNvPr id="34" name="TextBox 33"/>
          <p:cNvSpPr txBox="1"/>
          <p:nvPr/>
        </p:nvSpPr>
        <p:spPr>
          <a:xfrm>
            <a:off x="1488415" y="3975448"/>
            <a:ext cx="1213795" cy="461665"/>
          </a:xfrm>
          <a:prstGeom prst="rect">
            <a:avLst/>
          </a:prstGeom>
          <a:noFill/>
        </p:spPr>
        <p:txBody>
          <a:bodyPr wrap="none" rtlCol="1">
            <a:spAutoFit/>
          </a:bodyPr>
          <a:lstStyle/>
          <a:p>
            <a:pPr algn="r" rtl="1"/>
            <a:r>
              <a:rPr lang="en-US" sz="2400" dirty="0">
                <a:solidFill>
                  <a:prstClr val="black"/>
                </a:solidFill>
              </a:rPr>
              <a:t>res = -x</a:t>
            </a:r>
            <a:endParaRPr lang="he-IL" sz="2400" dirty="0">
              <a:solidFill>
                <a:prstClr val="black"/>
              </a:solidFill>
            </a:endParaRPr>
          </a:p>
        </p:txBody>
      </p:sp>
      <p:sp>
        <p:nvSpPr>
          <p:cNvPr id="45" name="TextBox 44"/>
          <p:cNvSpPr txBox="1"/>
          <p:nvPr/>
        </p:nvSpPr>
        <p:spPr>
          <a:xfrm>
            <a:off x="3215681" y="4941169"/>
            <a:ext cx="1107997" cy="461665"/>
          </a:xfrm>
          <a:prstGeom prst="rect">
            <a:avLst/>
          </a:prstGeom>
          <a:noFill/>
        </p:spPr>
        <p:txBody>
          <a:bodyPr wrap="none" rtlCol="1">
            <a:spAutoFit/>
          </a:bodyPr>
          <a:lstStyle/>
          <a:p>
            <a:pPr algn="r" rtl="1"/>
            <a:r>
              <a:rPr lang="en-US" sz="2400" dirty="0">
                <a:solidFill>
                  <a:prstClr val="black"/>
                </a:solidFill>
              </a:rPr>
              <a:t>res &lt; 0</a:t>
            </a:r>
            <a:endParaRPr lang="he-IL" sz="2400" dirty="0">
              <a:solidFill>
                <a:prstClr val="black"/>
              </a:solidFill>
            </a:endParaRPr>
          </a:p>
        </p:txBody>
      </p:sp>
      <p:sp>
        <p:nvSpPr>
          <p:cNvPr id="4" name="TextBox 3"/>
          <p:cNvSpPr txBox="1"/>
          <p:nvPr/>
        </p:nvSpPr>
        <p:spPr>
          <a:xfrm>
            <a:off x="3644909" y="1395921"/>
            <a:ext cx="43313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i</a:t>
            </a:r>
            <a:endParaRPr lang="he-IL" sz="2400" dirty="0">
              <a:solidFill>
                <a:prstClr val="black"/>
              </a:solidFill>
            </a:endParaRPr>
          </a:p>
        </p:txBody>
      </p:sp>
      <p:sp>
        <p:nvSpPr>
          <p:cNvPr id="26" name="TextBox 25"/>
          <p:cNvSpPr txBox="1"/>
          <p:nvPr/>
        </p:nvSpPr>
        <p:spPr>
          <a:xfrm>
            <a:off x="3628077" y="2492897"/>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1</a:t>
            </a:r>
            <a:endParaRPr lang="he-IL" sz="2400" dirty="0">
              <a:solidFill>
                <a:prstClr val="black"/>
              </a:solidFill>
            </a:endParaRPr>
          </a:p>
        </p:txBody>
      </p:sp>
      <p:sp>
        <p:nvSpPr>
          <p:cNvPr id="28" name="TextBox 27"/>
          <p:cNvSpPr txBox="1"/>
          <p:nvPr/>
        </p:nvSpPr>
        <p:spPr>
          <a:xfrm>
            <a:off x="4710216" y="3399865"/>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2</a:t>
            </a:r>
            <a:endParaRPr lang="he-IL" sz="2400" dirty="0">
              <a:solidFill>
                <a:prstClr val="black"/>
              </a:solidFill>
            </a:endParaRPr>
          </a:p>
        </p:txBody>
      </p:sp>
      <p:sp>
        <p:nvSpPr>
          <p:cNvPr id="35" name="TextBox 34"/>
          <p:cNvSpPr txBox="1"/>
          <p:nvPr/>
        </p:nvSpPr>
        <p:spPr>
          <a:xfrm>
            <a:off x="2431698" y="3416966"/>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3</a:t>
            </a:r>
            <a:endParaRPr lang="he-IL" sz="2400" dirty="0">
              <a:solidFill>
                <a:prstClr val="black"/>
              </a:solidFill>
            </a:endParaRPr>
          </a:p>
        </p:txBody>
      </p:sp>
      <p:sp>
        <p:nvSpPr>
          <p:cNvPr id="36" name="TextBox 35"/>
          <p:cNvSpPr txBox="1"/>
          <p:nvPr/>
        </p:nvSpPr>
        <p:spPr>
          <a:xfrm>
            <a:off x="3590949" y="4446765"/>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4</a:t>
            </a:r>
            <a:endParaRPr lang="he-IL" sz="2400" dirty="0">
              <a:solidFill>
                <a:prstClr val="black"/>
              </a:solidFill>
            </a:endParaRPr>
          </a:p>
        </p:txBody>
      </p:sp>
      <p:sp>
        <p:nvSpPr>
          <p:cNvPr id="37" name="TextBox 36"/>
          <p:cNvSpPr txBox="1"/>
          <p:nvPr/>
        </p:nvSpPr>
        <p:spPr>
          <a:xfrm>
            <a:off x="3732975" y="5587025"/>
            <a:ext cx="646331"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err="1">
                <a:solidFill>
                  <a:prstClr val="black"/>
                </a:solidFill>
              </a:rPr>
              <a:t>D</a:t>
            </a:r>
            <a:r>
              <a:rPr lang="en-US" sz="2400" baseline="-25000" dirty="0" err="1">
                <a:solidFill>
                  <a:prstClr val="black"/>
                </a:solidFill>
              </a:rPr>
              <a:t>err</a:t>
            </a:r>
            <a:endParaRPr lang="he-IL" sz="2400" dirty="0">
              <a:solidFill>
                <a:prstClr val="black"/>
              </a:solidFill>
            </a:endParaRPr>
          </a:p>
        </p:txBody>
      </p:sp>
      <mc:AlternateContent xmlns:mc="http://schemas.openxmlformats.org/markup-compatibility/2006" xmlns:a14="http://schemas.microsoft.com/office/drawing/2010/main">
        <mc:Choice Requires="a14">
          <p:sp>
            <p:nvSpPr>
              <p:cNvPr id="5" name="TextBox 4"/>
              <p:cNvSpPr txBox="1"/>
              <p:nvPr/>
            </p:nvSpPr>
            <p:spPr>
              <a:xfrm>
                <a:off x="5579687" y="2005683"/>
                <a:ext cx="269625"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1</m:t>
                          </m:r>
                        </m:sub>
                      </m:sSub>
                      <m:r>
                        <a:rPr lang="en-US" sz="2400" i="1">
                          <a:solidFill>
                            <a:prstClr val="black"/>
                          </a:solidFill>
                          <a:latin typeface="Cambria Math"/>
                        </a:rPr>
                        <m:t>(</m:t>
                      </m:r>
                      <m:sSup>
                        <m:sSupPr>
                          <m:ctrlPr>
                            <a:rPr lang="en-US" sz="2400" i="1">
                              <a:solidFill>
                                <a:prstClr val="black"/>
                              </a:solidFill>
                              <a:latin typeface="Cambria Math"/>
                            </a:rPr>
                          </m:ctrlPr>
                        </m:sSup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e>
                        <m:sup>
                          <m:r>
                            <a:rPr lang="en-US" sz="2400" i="1">
                              <a:solidFill>
                                <a:prstClr val="black"/>
                              </a:solidFill>
                              <a:latin typeface="Cambria Math"/>
                            </a:rPr>
                            <m:t>′</m:t>
                          </m:r>
                        </m:sup>
                      </m:sSup>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m:t>
                          </m:r>
                          <m:sSup>
                            <m:sSupPr>
                              <m:ctrlPr>
                                <a:rPr lang="en-US" sz="2400" i="1">
                                  <a:solidFill>
                                    <a:prstClr val="black"/>
                                  </a:solidFill>
                                  <a:latin typeface="Cambria Math"/>
                                </a:rPr>
                              </m:ctrlPr>
                            </m:sSupPr>
                            <m:e>
                              <m:r>
                                <a:rPr lang="en-US" sz="2400" i="1">
                                  <a:solidFill>
                                    <a:prstClr val="black"/>
                                  </a:solidFill>
                                  <a:latin typeface="Cambria Math"/>
                                </a:rPr>
                                <m:t>𝑠</m:t>
                              </m:r>
                            </m:e>
                            <m:sup>
                              <m:r>
                                <a:rPr lang="en-US" sz="2400" i="1">
                                  <a:solidFill>
                                    <a:prstClr val="black"/>
                                  </a:solidFill>
                                  <a:latin typeface="Cambria Math"/>
                                </a:rPr>
                                <m:t>′</m:t>
                              </m:r>
                            </m:sup>
                          </m:sSup>
                          <m:r>
                            <a:rPr lang="en-US" sz="2400" i="1">
                              <a:solidFill>
                                <a:prstClr val="black"/>
                              </a:solidFill>
                              <a:latin typeface="Cambria Math"/>
                            </a:rPr>
                            <m:t>=0</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𝑖</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e>
                      </m:d>
                    </m:oMath>
                  </m:oMathPara>
                </a14:m>
                <a:endParaRPr lang="he-IL" sz="2400" dirty="0">
                  <a:solidFill>
                    <a:prstClr val="black"/>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579687" y="2005683"/>
                <a:ext cx="269625" cy="461665"/>
              </a:xfrm>
              <a:prstGeom prst="rect">
                <a:avLst/>
              </a:prstGeom>
              <a:blipFill>
                <a:blip r:embed="rId3"/>
                <a:stretch>
                  <a:fillRect l="-4444" t="-11842" r="-1777778"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5665952" y="3982008"/>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4</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e>
                      </m:d>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m:t>
                          </m:r>
                          <m:sSup>
                            <m:sSupPr>
                              <m:ctrlPr>
                                <a:rPr lang="en-US" sz="2400" i="1">
                                  <a:solidFill>
                                    <a:prstClr val="black"/>
                                  </a:solidFill>
                                  <a:latin typeface="Cambria Math"/>
                                </a:rPr>
                              </m:ctrlPr>
                            </m:sSupPr>
                            <m:e>
                              <m:r>
                                <a:rPr lang="en-US" sz="2400" i="1">
                                  <a:solidFill>
                                    <a:prstClr val="black"/>
                                  </a:solidFill>
                                  <a:latin typeface="Cambria Math"/>
                                </a:rPr>
                                <m:t>𝑠</m:t>
                              </m:r>
                            </m:e>
                            <m:sup>
                              <m:r>
                                <a:rPr lang="en-US" sz="2400" i="1">
                                  <a:solidFill>
                                    <a:prstClr val="black"/>
                                  </a:solidFill>
                                  <a:latin typeface="Cambria Math"/>
                                </a:rPr>
                                <m:t>′</m:t>
                              </m:r>
                            </m:sup>
                          </m:sSup>
                          <m:r>
                            <a:rPr lang="en-US" sz="2400" i="1">
                              <a:solidFill>
                                <a:prstClr val="black"/>
                              </a:solidFill>
                              <a:latin typeface="Cambria Math"/>
                            </a:rPr>
                            <m:t>=</m:t>
                          </m:r>
                          <m:r>
                            <a:rPr lang="en-US" sz="2400" i="1">
                              <a:solidFill>
                                <a:prstClr val="black"/>
                              </a:solidFill>
                              <a:latin typeface="Cambria Math"/>
                            </a:rPr>
                            <m:t>𝑥</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2</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5665952" y="3982008"/>
                <a:ext cx="269626" cy="461665"/>
              </a:xfrm>
              <a:prstGeom prst="rect">
                <a:avLst/>
              </a:prstGeom>
              <a:blipFill>
                <a:blip r:embed="rId4"/>
                <a:stretch>
                  <a:fillRect l="-4444" t="-11842" r="-1786667"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5665952" y="3408293"/>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4</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e>
                      </m:d>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m:t>
                          </m:r>
                          <m:sSup>
                            <m:sSupPr>
                              <m:ctrlPr>
                                <a:rPr lang="en-US" sz="2400" i="1">
                                  <a:solidFill>
                                    <a:prstClr val="black"/>
                                  </a:solidFill>
                                  <a:latin typeface="Cambria Math"/>
                                </a:rPr>
                              </m:ctrlPr>
                            </m:sSupPr>
                            <m:e>
                              <m:r>
                                <a:rPr lang="en-US" sz="2400" i="1">
                                  <a:solidFill>
                                    <a:prstClr val="black"/>
                                  </a:solidFill>
                                  <a:latin typeface="Cambria Math"/>
                                </a:rPr>
                                <m:t>𝑠</m:t>
                              </m:r>
                            </m:e>
                            <m:sup>
                              <m:r>
                                <a:rPr lang="en-US" sz="2400" i="1">
                                  <a:solidFill>
                                    <a:prstClr val="black"/>
                                  </a:solidFill>
                                  <a:latin typeface="Cambria Math"/>
                                </a:rPr>
                                <m:t>′</m:t>
                              </m:r>
                            </m:sup>
                          </m:sSup>
                          <m:r>
                            <a:rPr lang="en-US" sz="2400" i="1">
                              <a:solidFill>
                                <a:prstClr val="black"/>
                              </a:solidFill>
                              <a:latin typeface="Cambria Math"/>
                            </a:rPr>
                            <m:t>=−</m:t>
                          </m:r>
                          <m:r>
                            <a:rPr lang="en-US" sz="2400" i="1">
                              <a:solidFill>
                                <a:prstClr val="black"/>
                              </a:solidFill>
                              <a:latin typeface="Cambria Math"/>
                            </a:rPr>
                            <m:t>𝑥</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3</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5665952" y="3408293"/>
                <a:ext cx="269626" cy="461665"/>
              </a:xfrm>
              <a:prstGeom prst="rect">
                <a:avLst/>
              </a:prstGeom>
              <a:blipFill>
                <a:blip r:embed="rId5"/>
                <a:stretch>
                  <a:fillRect l="-4444" t="-11842" r="-187111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5627036" y="4940027"/>
                <a:ext cx="5142049" cy="461665"/>
              </a:xfrm>
              <a:prstGeom prst="rect">
                <a:avLst/>
              </a:prstGeom>
              <a:noFill/>
            </p:spPr>
            <p:txBody>
              <a:bodyPr wrap="none" rtlCol="1">
                <a:spAutoFit/>
              </a:bodyPr>
              <a:lstStyle/>
              <a:p>
                <a:pPr/>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𝑒𝑟𝑟</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e>
                      </m:d>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𝑟𝑒𝑠</m:t>
                          </m:r>
                          <m:r>
                            <a:rPr lang="en-US" sz="2400" i="1">
                              <a:solidFill>
                                <a:prstClr val="black"/>
                              </a:solidFill>
                              <a:latin typeface="Cambria Math"/>
                            </a:rPr>
                            <m:t>&lt;0</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4</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5627036" y="4940027"/>
                <a:ext cx="5142049" cy="461665"/>
              </a:xfrm>
              <a:prstGeom prst="rect">
                <a:avLst/>
              </a:prstGeom>
              <a:blipFill>
                <a:blip r:embed="rId6"/>
                <a:stretch>
                  <a:fillRect t="-11842" r="-2607" b="-27632"/>
                </a:stretch>
              </a:blipFill>
            </p:spPr>
            <p:txBody>
              <a:bodyPr/>
              <a:lstStyle/>
              <a:p>
                <a:r>
                  <a:rPr lang="en-IL">
                    <a:noFill/>
                  </a:rPr>
                  <a:t> </a:t>
                </a:r>
              </a:p>
            </p:txBody>
          </p:sp>
        </mc:Fallback>
      </mc:AlternateContent>
      <p:sp>
        <p:nvSpPr>
          <p:cNvPr id="43" name="TextBox 42"/>
          <p:cNvSpPr txBox="1"/>
          <p:nvPr/>
        </p:nvSpPr>
        <p:spPr>
          <a:xfrm>
            <a:off x="3781296" y="2895328"/>
            <a:ext cx="298480" cy="461665"/>
          </a:xfrm>
          <a:prstGeom prst="rect">
            <a:avLst/>
          </a:prstGeom>
          <a:noFill/>
        </p:spPr>
        <p:txBody>
          <a:bodyPr wrap="none" rtlCol="1">
            <a:spAutoFit/>
          </a:bodyPr>
          <a:lstStyle/>
          <a:p>
            <a:pPr algn="r" rtl="1"/>
            <a:r>
              <a:rPr lang="en-US" sz="2400" dirty="0">
                <a:solidFill>
                  <a:schemeClr val="accent6">
                    <a:lumMod val="75000"/>
                  </a:schemeClr>
                </a:solidFill>
              </a:rPr>
              <a:t>?</a:t>
            </a:r>
            <a:endParaRPr lang="he-IL" sz="2400" dirty="0">
              <a:solidFill>
                <a:schemeClr val="accent6">
                  <a:lumMod val="75000"/>
                </a:schemeClr>
              </a:solidFill>
            </a:endParaRPr>
          </a:p>
        </p:txBody>
      </p:sp>
      <p:sp>
        <p:nvSpPr>
          <p:cNvPr id="44" name="TextBox 43"/>
          <p:cNvSpPr txBox="1"/>
          <p:nvPr/>
        </p:nvSpPr>
        <p:spPr>
          <a:xfrm>
            <a:off x="2253083" y="2832954"/>
            <a:ext cx="463589" cy="461665"/>
          </a:xfrm>
          <a:prstGeom prst="rect">
            <a:avLst/>
          </a:prstGeom>
          <a:noFill/>
        </p:spPr>
        <p:txBody>
          <a:bodyPr wrap="square" rtlCol="1">
            <a:spAutoFit/>
          </a:bodyPr>
          <a:lstStyle/>
          <a:p>
            <a:pPr algn="r" rtl="1"/>
            <a:r>
              <a:rPr lang="en-IL" sz="1800" b="0" i="1" dirty="0">
                <a:solidFill>
                  <a:schemeClr val="accent6">
                    <a:lumMod val="75000"/>
                  </a:schemeClr>
                </a:solidFill>
                <a:effectLst/>
                <a:latin typeface="CMSY10"/>
              </a:rPr>
              <a:t>¬</a:t>
            </a:r>
            <a:r>
              <a:rPr lang="en-US" sz="2400" dirty="0">
                <a:solidFill>
                  <a:schemeClr val="accent6">
                    <a:lumMod val="75000"/>
                  </a:schemeClr>
                </a:solidFill>
              </a:rPr>
              <a:t>?</a:t>
            </a:r>
            <a:endParaRPr lang="he-IL" sz="2400"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48" name="TextBox 47"/>
              <p:cNvSpPr txBox="1"/>
              <p:nvPr/>
            </p:nvSpPr>
            <p:spPr>
              <a:xfrm>
                <a:off x="5531139" y="1435389"/>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i="1">
                              <a:solidFill>
                                <a:prstClr val="black"/>
                              </a:solidFill>
                              <a:latin typeface="Cambria Math"/>
                            </a:rPr>
                          </m:ctrlPr>
                        </m:sSubPr>
                        <m:e>
                          <m:r>
                            <a:rPr lang="en-US" sz="2400" i="1">
                              <a:solidFill>
                                <a:prstClr val="black"/>
                              </a:solidFill>
                              <a:latin typeface="Cambria Math"/>
                            </a:rPr>
                            <m:t> </m:t>
                          </m:r>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𝑖</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r>
                        <a:rPr lang="en-US" sz="2400" b="0" i="1" smtClean="0">
                          <a:solidFill>
                            <a:prstClr val="black"/>
                          </a:solidFill>
                          <a:latin typeface="Cambria Math" panose="02040503050406030204" pitchFamily="18" charset="0"/>
                        </a:rPr>
                        <m:t>𝑓𝑎𝑙𝑠</m:t>
                      </m:r>
                      <m:r>
                        <a:rPr lang="en-US" sz="2400" i="1">
                          <a:solidFill>
                            <a:prstClr val="black"/>
                          </a:solidFill>
                          <a:latin typeface="Cambria Math"/>
                        </a:rPr>
                        <m:t>𝑒</m:t>
                      </m:r>
                    </m:oMath>
                  </m:oMathPara>
                </a14:m>
                <a:endParaRPr lang="he-IL" sz="2400" dirty="0">
                  <a:solidFill>
                    <a:prstClr val="black"/>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5531139" y="1435389"/>
                <a:ext cx="269626" cy="461665"/>
              </a:xfrm>
              <a:prstGeom prst="rect">
                <a:avLst/>
              </a:prstGeom>
              <a:blipFill>
                <a:blip r:embed="rId7"/>
                <a:stretch>
                  <a:fillRect t="-11842" r="-944444" b="-27632"/>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665952" y="5638714"/>
                <a:ext cx="2913105" cy="461665"/>
              </a:xfrm>
              <a:prstGeom prst="rect">
                <a:avLst/>
              </a:prstGeom>
              <a:noFill/>
            </p:spPr>
            <p:txBody>
              <a:bodyPr wrap="none" rtlCol="1">
                <a:spAutoFit/>
              </a:bodyPr>
              <a:lstStyle/>
              <a:p>
                <a:pPr/>
                <a14:m>
                  <m:oMathPara xmlns:m="http://schemas.openxmlformats.org/officeDocument/2006/math">
                    <m:oMath>
                      <m:r>
                        <a:rPr lang="en-US" sz="2400" i="1" smtClean="0">
                          <a:solidFill>
                            <a:prstClr val="black"/>
                          </a:solidFill>
                          <a:latin typeface="Cambria Math"/>
                        </a:rPr>
                        <m:t>𝑡𝑟𝑢𝑒</m:t>
                      </m:r>
                      <m:r>
                        <a:rPr lang="en-US" sz="2400" i="1" smtClean="0">
                          <a:solidFill>
                            <a:prstClr val="black"/>
                          </a:solidFill>
                          <a:latin typeface="Cambria Math"/>
                        </a:rPr>
                        <m:t>→</m:t>
                      </m:r>
                      <m:sSub>
                        <m:sSubPr>
                          <m:ctrlPr>
                            <a:rPr lang="en-US" sz="2400" i="1">
                              <a:solidFill>
                                <a:prstClr val="black"/>
                              </a:solidFill>
                              <a:latin typeface="Cambria Math"/>
                            </a:rPr>
                          </m:ctrlPr>
                        </m:sSubPr>
                        <m:e>
                          <m:r>
                            <a:rPr lang="en-US" sz="2400" i="1">
                              <a:solidFill>
                                <a:prstClr val="black"/>
                              </a:solidFill>
                              <a:latin typeface="Cambria Math"/>
                            </a:rPr>
                            <m:t> </m:t>
                          </m:r>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𝑒𝑟𝑟</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665952" y="5638714"/>
                <a:ext cx="2913105" cy="461665"/>
              </a:xfrm>
              <a:prstGeom prst="rect">
                <a:avLst/>
              </a:prstGeom>
              <a:blipFill>
                <a:blip r:embed="rId8"/>
                <a:stretch>
                  <a:fillRect t="-11842" r="-4603" b="-27632"/>
                </a:stretch>
              </a:blipFill>
            </p:spPr>
            <p:txBody>
              <a:bodyPr/>
              <a:lstStyle/>
              <a:p>
                <a:r>
                  <a:rPr lang="en-IL">
                    <a:noFill/>
                  </a:rPr>
                  <a:t> </a:t>
                </a:r>
              </a:p>
            </p:txBody>
          </p:sp>
        </mc:Fallback>
      </mc:AlternateContent>
      <p:sp>
        <p:nvSpPr>
          <p:cNvPr id="7" name="Slide Number Placeholder 6"/>
          <p:cNvSpPr>
            <a:spLocks noGrp="1"/>
          </p:cNvSpPr>
          <p:nvPr>
            <p:ph type="sldNum" sz="quarter" idx="12"/>
          </p:nvPr>
        </p:nvSpPr>
        <p:spPr/>
        <p:txBody>
          <a:bodyPr/>
          <a:lstStyle/>
          <a:p>
            <a:fld id="{613D88A7-0F31-4CFF-8A45-6D4D8416ABC0}" type="slidenum">
              <a:rPr lang="he-IL" smtClean="0">
                <a:solidFill>
                  <a:prstClr val="black">
                    <a:tint val="75000"/>
                  </a:prstClr>
                </a:solidFill>
              </a:rPr>
              <a:pPr/>
              <a:t>9</a:t>
            </a:fld>
            <a:endParaRPr lang="he-IL">
              <a:solidFill>
                <a:prstClr val="black">
                  <a:tint val="75000"/>
                </a:prstClr>
              </a:solidFill>
            </a:endParaRPr>
          </a:p>
        </p:txBody>
      </p:sp>
      <p:sp>
        <p:nvSpPr>
          <p:cNvPr id="8" name="Rectangle 7">
            <a:extLst>
              <a:ext uri="{FF2B5EF4-FFF2-40B4-BE49-F238E27FC236}">
                <a16:creationId xmlns:a16="http://schemas.microsoft.com/office/drawing/2014/main" id="{94E94F28-C6D7-6549-75F0-4C7C5D1999C3}"/>
              </a:ext>
            </a:extLst>
          </p:cNvPr>
          <p:cNvSpPr/>
          <p:nvPr/>
        </p:nvSpPr>
        <p:spPr>
          <a:xfrm>
            <a:off x="5579687" y="2642426"/>
            <a:ext cx="5042239" cy="53830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60AE2C6-6E06-3B78-610B-F10593E660BE}"/>
                  </a:ext>
                </a:extLst>
              </p:cNvPr>
              <p:cNvSpPr txBox="1"/>
              <p:nvPr/>
            </p:nvSpPr>
            <p:spPr>
              <a:xfrm>
                <a:off x="5675587" y="2681106"/>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𝐷</m:t>
                          </m:r>
                        </m:e>
                        <m:sub>
                          <m:r>
                            <a:rPr lang="en-US" sz="2400" b="0" i="1" smtClean="0">
                              <a:solidFill>
                                <a:schemeClr val="tx1"/>
                              </a:solidFill>
                              <a:latin typeface="Cambria Math" panose="02040503050406030204" pitchFamily="18" charset="0"/>
                            </a:rPr>
                            <m:t>3</m:t>
                          </m:r>
                        </m:sub>
                      </m:sSub>
                      <m:d>
                        <m:dPr>
                          <m:ctrlPr>
                            <a:rPr lang="en-US" sz="2400" i="1">
                              <a:solidFill>
                                <a:schemeClr val="tx1"/>
                              </a:solidFill>
                              <a:latin typeface="Cambria Math"/>
                            </a:rPr>
                          </m:ctrlPr>
                        </m:dPr>
                        <m:e>
                          <m:r>
                            <a:rPr lang="en-US" sz="2400" i="1">
                              <a:solidFill>
                                <a:schemeClr val="tx1"/>
                              </a:solidFill>
                              <a:latin typeface="Cambria Math"/>
                            </a:rPr>
                            <m:t>𝑥</m:t>
                          </m:r>
                          <m:r>
                            <a:rPr lang="en-US" sz="2400" i="1">
                              <a:solidFill>
                                <a:schemeClr val="tx1"/>
                              </a:solidFill>
                              <a:latin typeface="Cambria Math"/>
                            </a:rPr>
                            <m:t>,</m:t>
                          </m:r>
                          <m:r>
                            <a:rPr lang="en-US" sz="2400" i="1">
                              <a:solidFill>
                                <a:schemeClr val="tx1"/>
                              </a:solidFill>
                              <a:latin typeface="Cambria Math"/>
                            </a:rPr>
                            <m:t>𝑟𝑒𝑠</m:t>
                          </m:r>
                        </m:e>
                      </m:d>
                      <m:r>
                        <a:rPr lang="en-US" sz="2400" i="1">
                          <a:solidFill>
                            <a:schemeClr val="tx1"/>
                          </a:solidFill>
                          <a:latin typeface="Cambria Math"/>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𝐷</m:t>
                          </m:r>
                        </m:e>
                        <m:sub>
                          <m:r>
                            <a:rPr lang="en-US" sz="2400" b="0" i="1" smtClean="0">
                              <a:solidFill>
                                <a:schemeClr val="tx1"/>
                              </a:solidFill>
                              <a:latin typeface="Cambria Math" panose="02040503050406030204" pitchFamily="18" charset="0"/>
                            </a:rPr>
                            <m:t>2</m:t>
                          </m:r>
                        </m:sub>
                      </m:sSub>
                      <m:d>
                        <m:dPr>
                          <m:ctrlPr>
                            <a:rPr lang="en-US" sz="2400" i="1">
                              <a:solidFill>
                                <a:schemeClr val="tx1"/>
                              </a:solidFill>
                              <a:latin typeface="Cambria Math"/>
                            </a:rPr>
                          </m:ctrlPr>
                        </m:dPr>
                        <m:e>
                          <m:r>
                            <a:rPr lang="en-US" sz="2400" i="1">
                              <a:solidFill>
                                <a:schemeClr val="tx1"/>
                              </a:solidFill>
                              <a:latin typeface="Cambria Math"/>
                            </a:rPr>
                            <m:t>𝑥</m:t>
                          </m:r>
                          <m:r>
                            <a:rPr lang="en-US" sz="2400" i="1">
                              <a:solidFill>
                                <a:schemeClr val="tx1"/>
                              </a:solidFill>
                              <a:latin typeface="Cambria Math"/>
                            </a:rPr>
                            <m:t>,</m:t>
                          </m:r>
                          <m:r>
                            <a:rPr lang="en-US" sz="2400" i="1">
                              <a:solidFill>
                                <a:schemeClr val="tx1"/>
                              </a:solidFill>
                              <a:latin typeface="Cambria Math"/>
                            </a:rPr>
                            <m:t>𝑟𝑒𝑠</m:t>
                          </m:r>
                        </m:e>
                      </m:d>
                      <m:r>
                        <a:rPr lang="en-US" sz="2400" i="1">
                          <a:solidFill>
                            <a:schemeClr val="tx1"/>
                          </a:solidFill>
                          <a:latin typeface="Cambria Math"/>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𝐷</m:t>
                          </m:r>
                        </m:e>
                        <m:sub>
                          <m:r>
                            <a:rPr lang="en-US" sz="2400" b="0" i="1" smtClean="0">
                              <a:solidFill>
                                <a:schemeClr val="tx1"/>
                              </a:solidFill>
                              <a:latin typeface="Cambria Math" panose="02040503050406030204" pitchFamily="18" charset="0"/>
                            </a:rPr>
                            <m:t>1</m:t>
                          </m:r>
                        </m:sub>
                      </m:sSub>
                      <m:r>
                        <a:rPr lang="en-US" sz="2400" i="1">
                          <a:solidFill>
                            <a:schemeClr val="tx1"/>
                          </a:solidFill>
                          <a:latin typeface="Cambria Math"/>
                        </a:rPr>
                        <m:t>(</m:t>
                      </m:r>
                      <m:r>
                        <a:rPr lang="en-US" sz="2400" i="1">
                          <a:solidFill>
                            <a:schemeClr val="tx1"/>
                          </a:solidFill>
                          <a:latin typeface="Cambria Math"/>
                        </a:rPr>
                        <m:t>𝑥</m:t>
                      </m:r>
                      <m:r>
                        <a:rPr lang="en-US" sz="2400" i="1">
                          <a:solidFill>
                            <a:schemeClr val="tx1"/>
                          </a:solidFill>
                          <a:latin typeface="Cambria Math"/>
                        </a:rPr>
                        <m:t>,</m:t>
                      </m:r>
                      <m:r>
                        <a:rPr lang="en-US" sz="2400" i="1">
                          <a:solidFill>
                            <a:schemeClr val="tx1"/>
                          </a:solidFill>
                          <a:latin typeface="Cambria Math"/>
                        </a:rPr>
                        <m:t>𝑟𝑒𝑠</m:t>
                      </m:r>
                      <m:r>
                        <a:rPr lang="en-US" sz="2400" i="1">
                          <a:solidFill>
                            <a:schemeClr val="tx1"/>
                          </a:solidFill>
                          <a:latin typeface="Cambria Math"/>
                        </a:rPr>
                        <m:t>)</m:t>
                      </m:r>
                    </m:oMath>
                  </m:oMathPara>
                </a14:m>
                <a:endParaRPr lang="he-IL" sz="2400" dirty="0">
                  <a:solidFill>
                    <a:schemeClr val="tx1"/>
                  </a:solidFill>
                </a:endParaRPr>
              </a:p>
            </p:txBody>
          </p:sp>
        </mc:Choice>
        <mc:Fallback xmlns="">
          <p:sp>
            <p:nvSpPr>
              <p:cNvPr id="3" name="TextBox 2">
                <a:extLst>
                  <a:ext uri="{FF2B5EF4-FFF2-40B4-BE49-F238E27FC236}">
                    <a16:creationId xmlns:a16="http://schemas.microsoft.com/office/drawing/2014/main" id="{B60AE2C6-6E06-3B78-610B-F10593E660BE}"/>
                  </a:ext>
                </a:extLst>
              </p:cNvPr>
              <p:cNvSpPr txBox="1">
                <a:spLocks noRot="1" noChangeAspect="1" noMove="1" noResize="1" noEditPoints="1" noAdjustHandles="1" noChangeArrowheads="1" noChangeShapeType="1" noTextEdit="1"/>
              </p:cNvSpPr>
              <p:nvPr/>
            </p:nvSpPr>
            <p:spPr>
              <a:xfrm>
                <a:off x="5675587" y="2681106"/>
                <a:ext cx="269626" cy="461665"/>
              </a:xfrm>
              <a:prstGeom prst="rect">
                <a:avLst/>
              </a:prstGeom>
              <a:blipFill>
                <a:blip r:embed="rId9"/>
                <a:stretch>
                  <a:fillRect l="-4545" t="-11842" r="-1779545" b="-27632"/>
                </a:stretch>
              </a:blipFill>
            </p:spPr>
            <p:txBody>
              <a:bodyPr/>
              <a:lstStyle/>
              <a:p>
                <a:r>
                  <a:rPr lang="en-IL">
                    <a:noFill/>
                  </a:rPr>
                  <a:t> </a:t>
                </a:r>
              </a:p>
            </p:txBody>
          </p:sp>
        </mc:Fallback>
      </mc:AlternateContent>
    </p:spTree>
    <p:extLst>
      <p:ext uri="{BB962C8B-B14F-4D97-AF65-F5344CB8AC3E}">
        <p14:creationId xmlns:p14="http://schemas.microsoft.com/office/powerpoint/2010/main" val="604884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6" grpId="0" animBg="1"/>
      <p:bldP spid="28" grpId="0" animBg="1"/>
      <p:bldP spid="35" grpId="0" animBg="1"/>
      <p:bldP spid="36" grpId="0" animBg="1"/>
      <p:bldP spid="37" grpId="0" animBg="1"/>
      <p:bldP spid="5" grpId="0"/>
      <p:bldP spid="40" grpId="0"/>
      <p:bldP spid="41" grpId="0"/>
      <p:bldP spid="42" grpId="0"/>
      <p:bldP spid="48" grpId="0"/>
      <p:bldP spid="50" grpId="0"/>
      <p:bldP spid="8" grpId="0" animBg="1"/>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7563" y="279727"/>
            <a:ext cx="10111563" cy="1325563"/>
          </a:xfrm>
        </p:spPr>
        <p:txBody>
          <a:bodyPr/>
          <a:lstStyle/>
          <a:p>
            <a:r>
              <a:rPr lang="en-US" sz="4400" b="1" dirty="0">
                <a:solidFill>
                  <a:srgbClr val="FC3D69"/>
                </a:solidFill>
                <a:latin typeface="Trebuchet MS" panose="020B0603020202020204" pitchFamily="34" charset="0"/>
              </a:rPr>
              <a:t>Condition Synthesis Running Example</a:t>
            </a:r>
            <a:endParaRPr lang="he-IL" dirty="0"/>
          </a:p>
        </p:txBody>
      </p:sp>
      <p:sp>
        <p:nvSpPr>
          <p:cNvPr id="12" name="Oval 11"/>
          <p:cNvSpPr/>
          <p:nvPr/>
        </p:nvSpPr>
        <p:spPr>
          <a:xfrm>
            <a:off x="2968116" y="1386092"/>
            <a:ext cx="53559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i</a:t>
            </a:r>
            <a:endParaRPr lang="he-IL" sz="2800" baseline="-25000" dirty="0">
              <a:solidFill>
                <a:prstClr val="white"/>
              </a:solidFill>
            </a:endParaRPr>
          </a:p>
        </p:txBody>
      </p:sp>
      <p:sp>
        <p:nvSpPr>
          <p:cNvPr id="13" name="Oval 12"/>
          <p:cNvSpPr/>
          <p:nvPr/>
        </p:nvSpPr>
        <p:spPr>
          <a:xfrm>
            <a:off x="2927649" y="2462968"/>
            <a:ext cx="618493" cy="535596"/>
          </a:xfrm>
          <a:prstGeom prst="ellipse">
            <a:avLst/>
          </a:prstGeom>
          <a:solidFill>
            <a:schemeClr val="accent6">
              <a:lumMod val="60000"/>
              <a:lumOff val="40000"/>
            </a:schemeClr>
          </a:solidFill>
          <a:ln>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rtl="1"/>
            <a:r>
              <a:rPr lang="en-US" sz="2800" dirty="0">
                <a:solidFill>
                  <a:schemeClr val="accent6">
                    <a:lumMod val="75000"/>
                  </a:schemeClr>
                </a:solidFill>
              </a:rPr>
              <a:t>l</a:t>
            </a:r>
            <a:r>
              <a:rPr lang="en-US" sz="2800" baseline="-25000" dirty="0">
                <a:solidFill>
                  <a:schemeClr val="accent6">
                    <a:lumMod val="75000"/>
                  </a:schemeClr>
                </a:solidFill>
              </a:rPr>
              <a:t>1</a:t>
            </a:r>
            <a:endParaRPr lang="he-IL" sz="2800" baseline="-25000" dirty="0">
              <a:solidFill>
                <a:schemeClr val="accent6">
                  <a:lumMod val="75000"/>
                </a:schemeClr>
              </a:solidFill>
            </a:endParaRPr>
          </a:p>
        </p:txBody>
      </p:sp>
      <p:sp>
        <p:nvSpPr>
          <p:cNvPr id="14" name="Oval 13"/>
          <p:cNvSpPr/>
          <p:nvPr/>
        </p:nvSpPr>
        <p:spPr>
          <a:xfrm>
            <a:off x="4037226" y="3380000"/>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2</a:t>
            </a:r>
            <a:endParaRPr lang="he-IL" sz="2800" baseline="-25000" dirty="0">
              <a:solidFill>
                <a:prstClr val="white"/>
              </a:solidFill>
            </a:endParaRPr>
          </a:p>
        </p:txBody>
      </p:sp>
      <p:sp>
        <p:nvSpPr>
          <p:cNvPr id="15" name="Oval 14"/>
          <p:cNvSpPr/>
          <p:nvPr/>
        </p:nvSpPr>
        <p:spPr>
          <a:xfrm>
            <a:off x="1804978" y="3380000"/>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3</a:t>
            </a:r>
            <a:endParaRPr lang="he-IL" sz="2800" baseline="-25000" dirty="0">
              <a:solidFill>
                <a:prstClr val="white"/>
              </a:solidFill>
            </a:endParaRPr>
          </a:p>
        </p:txBody>
      </p:sp>
      <p:sp>
        <p:nvSpPr>
          <p:cNvPr id="16" name="Oval 15"/>
          <p:cNvSpPr/>
          <p:nvPr/>
        </p:nvSpPr>
        <p:spPr>
          <a:xfrm>
            <a:off x="2968116" y="4359439"/>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4</a:t>
            </a:r>
            <a:endParaRPr lang="he-IL" sz="2800" baseline="-25000" dirty="0">
              <a:solidFill>
                <a:prstClr val="white"/>
              </a:solidFill>
            </a:endParaRPr>
          </a:p>
        </p:txBody>
      </p:sp>
      <p:sp>
        <p:nvSpPr>
          <p:cNvPr id="17" name="Oval 16"/>
          <p:cNvSpPr/>
          <p:nvPr/>
        </p:nvSpPr>
        <p:spPr>
          <a:xfrm>
            <a:off x="2818878" y="5490548"/>
            <a:ext cx="865611" cy="65461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err="1">
                <a:solidFill>
                  <a:prstClr val="white"/>
                </a:solidFill>
              </a:rPr>
              <a:t>l</a:t>
            </a:r>
            <a:r>
              <a:rPr lang="en-US" sz="2800" baseline="-25000" dirty="0" err="1">
                <a:solidFill>
                  <a:prstClr val="white"/>
                </a:solidFill>
              </a:rPr>
              <a:t>err</a:t>
            </a:r>
            <a:endParaRPr lang="he-IL" sz="2800" baseline="-25000" dirty="0">
              <a:solidFill>
                <a:prstClr val="white"/>
              </a:solidFill>
            </a:endParaRPr>
          </a:p>
        </p:txBody>
      </p:sp>
      <p:cxnSp>
        <p:nvCxnSpPr>
          <p:cNvPr id="19" name="Straight Arrow Connector 18"/>
          <p:cNvCxnSpPr>
            <a:stCxn id="12" idx="4"/>
            <a:endCxn id="13" idx="0"/>
          </p:cNvCxnSpPr>
          <p:nvPr/>
        </p:nvCxnSpPr>
        <p:spPr>
          <a:xfrm>
            <a:off x="3235915" y="1921688"/>
            <a:ext cx="981" cy="54128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3" idx="5"/>
            <a:endCxn id="14" idx="1"/>
          </p:cNvCxnSpPr>
          <p:nvPr/>
        </p:nvCxnSpPr>
        <p:spPr>
          <a:xfrm>
            <a:off x="3455566" y="2920128"/>
            <a:ext cx="667941" cy="53830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3" idx="3"/>
            <a:endCxn id="15" idx="7"/>
          </p:cNvCxnSpPr>
          <p:nvPr/>
        </p:nvCxnSpPr>
        <p:spPr>
          <a:xfrm flipH="1">
            <a:off x="2307854" y="2920128"/>
            <a:ext cx="710370" cy="53830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5" idx="5"/>
            <a:endCxn id="16" idx="1"/>
          </p:cNvCxnSpPr>
          <p:nvPr/>
        </p:nvCxnSpPr>
        <p:spPr>
          <a:xfrm>
            <a:off x="2307854" y="3837161"/>
            <a:ext cx="746542" cy="60071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4" idx="3"/>
            <a:endCxn id="16" idx="7"/>
          </p:cNvCxnSpPr>
          <p:nvPr/>
        </p:nvCxnSpPr>
        <p:spPr>
          <a:xfrm flipH="1">
            <a:off x="3470992" y="3837161"/>
            <a:ext cx="652514" cy="600715"/>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6" idx="4"/>
            <a:endCxn id="17" idx="0"/>
          </p:cNvCxnSpPr>
          <p:nvPr/>
        </p:nvCxnSpPr>
        <p:spPr>
          <a:xfrm flipH="1">
            <a:off x="3251684" y="4895036"/>
            <a:ext cx="11011" cy="59551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190919" y="1921689"/>
            <a:ext cx="1107997" cy="461665"/>
          </a:xfrm>
          <a:prstGeom prst="rect">
            <a:avLst/>
          </a:prstGeom>
          <a:noFill/>
        </p:spPr>
        <p:txBody>
          <a:bodyPr wrap="none" rtlCol="1">
            <a:spAutoFit/>
          </a:bodyPr>
          <a:lstStyle/>
          <a:p>
            <a:pPr algn="r" rtl="1"/>
            <a:r>
              <a:rPr lang="en-US" sz="2400" dirty="0">
                <a:solidFill>
                  <a:prstClr val="black"/>
                </a:solidFill>
              </a:rPr>
              <a:t>res = 0</a:t>
            </a:r>
            <a:endParaRPr lang="he-IL" sz="2400" dirty="0">
              <a:solidFill>
                <a:prstClr val="black"/>
              </a:solidFill>
            </a:endParaRPr>
          </a:p>
        </p:txBody>
      </p:sp>
      <p:sp>
        <p:nvSpPr>
          <p:cNvPr id="33" name="TextBox 32"/>
          <p:cNvSpPr txBox="1"/>
          <p:nvPr/>
        </p:nvSpPr>
        <p:spPr>
          <a:xfrm>
            <a:off x="3791745" y="3933057"/>
            <a:ext cx="1099981" cy="461665"/>
          </a:xfrm>
          <a:prstGeom prst="rect">
            <a:avLst/>
          </a:prstGeom>
          <a:noFill/>
        </p:spPr>
        <p:txBody>
          <a:bodyPr wrap="none" rtlCol="1">
            <a:spAutoFit/>
          </a:bodyPr>
          <a:lstStyle/>
          <a:p>
            <a:pPr algn="r" rtl="1"/>
            <a:r>
              <a:rPr lang="en-US" sz="2400" dirty="0">
                <a:solidFill>
                  <a:prstClr val="black"/>
                </a:solidFill>
              </a:rPr>
              <a:t>res = x</a:t>
            </a:r>
            <a:endParaRPr lang="he-IL" sz="2400" dirty="0">
              <a:solidFill>
                <a:prstClr val="black"/>
              </a:solidFill>
            </a:endParaRPr>
          </a:p>
        </p:txBody>
      </p:sp>
      <p:sp>
        <p:nvSpPr>
          <p:cNvPr id="34" name="TextBox 33"/>
          <p:cNvSpPr txBox="1"/>
          <p:nvPr/>
        </p:nvSpPr>
        <p:spPr>
          <a:xfrm>
            <a:off x="1488415" y="3975448"/>
            <a:ext cx="1213795" cy="461665"/>
          </a:xfrm>
          <a:prstGeom prst="rect">
            <a:avLst/>
          </a:prstGeom>
          <a:noFill/>
        </p:spPr>
        <p:txBody>
          <a:bodyPr wrap="none" rtlCol="1">
            <a:spAutoFit/>
          </a:bodyPr>
          <a:lstStyle/>
          <a:p>
            <a:pPr algn="r" rtl="1"/>
            <a:r>
              <a:rPr lang="en-US" sz="2400" dirty="0">
                <a:solidFill>
                  <a:prstClr val="black"/>
                </a:solidFill>
              </a:rPr>
              <a:t>res = -x</a:t>
            </a:r>
            <a:endParaRPr lang="he-IL" sz="2400" dirty="0">
              <a:solidFill>
                <a:prstClr val="black"/>
              </a:solidFill>
            </a:endParaRPr>
          </a:p>
        </p:txBody>
      </p:sp>
      <p:sp>
        <p:nvSpPr>
          <p:cNvPr id="45" name="TextBox 44"/>
          <p:cNvSpPr txBox="1"/>
          <p:nvPr/>
        </p:nvSpPr>
        <p:spPr>
          <a:xfrm>
            <a:off x="3215681" y="4941169"/>
            <a:ext cx="1107997" cy="461665"/>
          </a:xfrm>
          <a:prstGeom prst="rect">
            <a:avLst/>
          </a:prstGeom>
          <a:noFill/>
        </p:spPr>
        <p:txBody>
          <a:bodyPr wrap="none" rtlCol="1">
            <a:spAutoFit/>
          </a:bodyPr>
          <a:lstStyle/>
          <a:p>
            <a:pPr algn="r" rtl="1"/>
            <a:r>
              <a:rPr lang="en-US" sz="2400" dirty="0">
                <a:solidFill>
                  <a:prstClr val="black"/>
                </a:solidFill>
              </a:rPr>
              <a:t>res &lt; 0</a:t>
            </a:r>
            <a:endParaRPr lang="he-IL" sz="2400" dirty="0">
              <a:solidFill>
                <a:prstClr val="black"/>
              </a:solidFill>
            </a:endParaRPr>
          </a:p>
        </p:txBody>
      </p:sp>
      <p:sp>
        <p:nvSpPr>
          <p:cNvPr id="4" name="TextBox 3"/>
          <p:cNvSpPr txBox="1"/>
          <p:nvPr/>
        </p:nvSpPr>
        <p:spPr>
          <a:xfrm>
            <a:off x="3644909" y="1395921"/>
            <a:ext cx="43313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i</a:t>
            </a:r>
            <a:endParaRPr lang="he-IL" sz="2400" dirty="0">
              <a:solidFill>
                <a:prstClr val="black"/>
              </a:solidFill>
            </a:endParaRPr>
          </a:p>
        </p:txBody>
      </p:sp>
      <p:sp>
        <p:nvSpPr>
          <p:cNvPr id="26" name="TextBox 25"/>
          <p:cNvSpPr txBox="1"/>
          <p:nvPr/>
        </p:nvSpPr>
        <p:spPr>
          <a:xfrm>
            <a:off x="3628077" y="2492897"/>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1</a:t>
            </a:r>
            <a:endParaRPr lang="he-IL" sz="2400" dirty="0">
              <a:solidFill>
                <a:prstClr val="black"/>
              </a:solidFill>
            </a:endParaRPr>
          </a:p>
        </p:txBody>
      </p:sp>
      <p:sp>
        <p:nvSpPr>
          <p:cNvPr id="28" name="TextBox 27"/>
          <p:cNvSpPr txBox="1"/>
          <p:nvPr/>
        </p:nvSpPr>
        <p:spPr>
          <a:xfrm>
            <a:off x="4710216" y="3399865"/>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2</a:t>
            </a:r>
            <a:endParaRPr lang="he-IL" sz="2400" dirty="0">
              <a:solidFill>
                <a:prstClr val="black"/>
              </a:solidFill>
            </a:endParaRPr>
          </a:p>
        </p:txBody>
      </p:sp>
      <p:sp>
        <p:nvSpPr>
          <p:cNvPr id="35" name="TextBox 34"/>
          <p:cNvSpPr txBox="1"/>
          <p:nvPr/>
        </p:nvSpPr>
        <p:spPr>
          <a:xfrm>
            <a:off x="2431698" y="3416966"/>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3</a:t>
            </a:r>
            <a:endParaRPr lang="he-IL" sz="2400" dirty="0">
              <a:solidFill>
                <a:prstClr val="black"/>
              </a:solidFill>
            </a:endParaRPr>
          </a:p>
        </p:txBody>
      </p:sp>
      <p:sp>
        <p:nvSpPr>
          <p:cNvPr id="36" name="TextBox 35"/>
          <p:cNvSpPr txBox="1"/>
          <p:nvPr/>
        </p:nvSpPr>
        <p:spPr>
          <a:xfrm>
            <a:off x="3590949" y="4446765"/>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4</a:t>
            </a:r>
            <a:endParaRPr lang="he-IL" sz="2400" dirty="0">
              <a:solidFill>
                <a:prstClr val="black"/>
              </a:solidFill>
            </a:endParaRPr>
          </a:p>
        </p:txBody>
      </p:sp>
      <p:sp>
        <p:nvSpPr>
          <p:cNvPr id="37" name="TextBox 36"/>
          <p:cNvSpPr txBox="1"/>
          <p:nvPr/>
        </p:nvSpPr>
        <p:spPr>
          <a:xfrm>
            <a:off x="3732975" y="5587025"/>
            <a:ext cx="646331"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err="1">
                <a:solidFill>
                  <a:prstClr val="black"/>
                </a:solidFill>
              </a:rPr>
              <a:t>D</a:t>
            </a:r>
            <a:r>
              <a:rPr lang="en-US" sz="2400" baseline="-25000" dirty="0" err="1">
                <a:solidFill>
                  <a:prstClr val="black"/>
                </a:solidFill>
              </a:rPr>
              <a:t>err</a:t>
            </a:r>
            <a:endParaRPr lang="he-IL" sz="2400" dirty="0">
              <a:solidFill>
                <a:prstClr val="black"/>
              </a:solidFill>
            </a:endParaRPr>
          </a:p>
        </p:txBody>
      </p:sp>
      <mc:AlternateContent xmlns:mc="http://schemas.openxmlformats.org/markup-compatibility/2006" xmlns:a14="http://schemas.microsoft.com/office/drawing/2010/main">
        <mc:Choice Requires="a14">
          <p:sp>
            <p:nvSpPr>
              <p:cNvPr id="5" name="TextBox 4"/>
              <p:cNvSpPr txBox="1"/>
              <p:nvPr/>
            </p:nvSpPr>
            <p:spPr>
              <a:xfrm>
                <a:off x="5579687" y="2005683"/>
                <a:ext cx="269625"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1</m:t>
                          </m:r>
                        </m:sub>
                      </m:sSub>
                      <m:r>
                        <a:rPr lang="en-US" sz="2400" i="1">
                          <a:solidFill>
                            <a:prstClr val="black"/>
                          </a:solidFill>
                          <a:latin typeface="Cambria Math"/>
                        </a:rPr>
                        <m:t>(</m:t>
                      </m:r>
                      <m:sSup>
                        <m:sSupPr>
                          <m:ctrlPr>
                            <a:rPr lang="en-US" sz="2400" i="1">
                              <a:solidFill>
                                <a:prstClr val="black"/>
                              </a:solidFill>
                              <a:latin typeface="Cambria Math"/>
                            </a:rPr>
                          </m:ctrlPr>
                        </m:sSup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e>
                        <m:sup>
                          <m:r>
                            <a:rPr lang="en-US" sz="2400" i="1">
                              <a:solidFill>
                                <a:prstClr val="black"/>
                              </a:solidFill>
                              <a:latin typeface="Cambria Math"/>
                            </a:rPr>
                            <m:t>′</m:t>
                          </m:r>
                        </m:sup>
                      </m:sSup>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m:t>
                          </m:r>
                          <m:sSup>
                            <m:sSupPr>
                              <m:ctrlPr>
                                <a:rPr lang="en-US" sz="2400" i="1">
                                  <a:solidFill>
                                    <a:prstClr val="black"/>
                                  </a:solidFill>
                                  <a:latin typeface="Cambria Math"/>
                                </a:rPr>
                              </m:ctrlPr>
                            </m:sSupPr>
                            <m:e>
                              <m:r>
                                <a:rPr lang="en-US" sz="2400" i="1">
                                  <a:solidFill>
                                    <a:prstClr val="black"/>
                                  </a:solidFill>
                                  <a:latin typeface="Cambria Math"/>
                                </a:rPr>
                                <m:t>𝑠</m:t>
                              </m:r>
                            </m:e>
                            <m:sup>
                              <m:r>
                                <a:rPr lang="en-US" sz="2400" i="1">
                                  <a:solidFill>
                                    <a:prstClr val="black"/>
                                  </a:solidFill>
                                  <a:latin typeface="Cambria Math"/>
                                </a:rPr>
                                <m:t>′</m:t>
                              </m:r>
                            </m:sup>
                          </m:sSup>
                          <m:r>
                            <a:rPr lang="en-US" sz="2400" i="1">
                              <a:solidFill>
                                <a:prstClr val="black"/>
                              </a:solidFill>
                              <a:latin typeface="Cambria Math"/>
                            </a:rPr>
                            <m:t>=0</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𝑖</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e>
                      </m:d>
                    </m:oMath>
                  </m:oMathPara>
                </a14:m>
                <a:endParaRPr lang="he-IL" sz="2400" dirty="0">
                  <a:solidFill>
                    <a:prstClr val="black"/>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579687" y="2005683"/>
                <a:ext cx="269625" cy="461665"/>
              </a:xfrm>
              <a:prstGeom prst="rect">
                <a:avLst/>
              </a:prstGeom>
              <a:blipFill>
                <a:blip r:embed="rId3"/>
                <a:stretch>
                  <a:fillRect l="-4444" t="-11842" r="-1777778"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5665952" y="3982008"/>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4</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e>
                      </m:d>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m:t>
                          </m:r>
                          <m:sSup>
                            <m:sSupPr>
                              <m:ctrlPr>
                                <a:rPr lang="en-US" sz="2400" i="1">
                                  <a:solidFill>
                                    <a:prstClr val="black"/>
                                  </a:solidFill>
                                  <a:latin typeface="Cambria Math"/>
                                </a:rPr>
                              </m:ctrlPr>
                            </m:sSupPr>
                            <m:e>
                              <m:r>
                                <a:rPr lang="en-US" sz="2400" i="1">
                                  <a:solidFill>
                                    <a:prstClr val="black"/>
                                  </a:solidFill>
                                  <a:latin typeface="Cambria Math"/>
                                </a:rPr>
                                <m:t>𝑠</m:t>
                              </m:r>
                            </m:e>
                            <m:sup>
                              <m:r>
                                <a:rPr lang="en-US" sz="2400" i="1">
                                  <a:solidFill>
                                    <a:prstClr val="black"/>
                                  </a:solidFill>
                                  <a:latin typeface="Cambria Math"/>
                                </a:rPr>
                                <m:t>′</m:t>
                              </m:r>
                            </m:sup>
                          </m:sSup>
                          <m:r>
                            <a:rPr lang="en-US" sz="2400" i="1">
                              <a:solidFill>
                                <a:prstClr val="black"/>
                              </a:solidFill>
                              <a:latin typeface="Cambria Math"/>
                            </a:rPr>
                            <m:t>=</m:t>
                          </m:r>
                          <m:r>
                            <a:rPr lang="en-US" sz="2400" i="1">
                              <a:solidFill>
                                <a:prstClr val="black"/>
                              </a:solidFill>
                              <a:latin typeface="Cambria Math"/>
                            </a:rPr>
                            <m:t>𝑥</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2</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5665952" y="3982008"/>
                <a:ext cx="269626" cy="461665"/>
              </a:xfrm>
              <a:prstGeom prst="rect">
                <a:avLst/>
              </a:prstGeom>
              <a:blipFill>
                <a:blip r:embed="rId4"/>
                <a:stretch>
                  <a:fillRect l="-4444" t="-11842" r="-1786667"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5665952" y="3408293"/>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4</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e>
                      </m:d>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m:t>
                          </m:r>
                          <m:sSup>
                            <m:sSupPr>
                              <m:ctrlPr>
                                <a:rPr lang="en-US" sz="2400" i="1">
                                  <a:solidFill>
                                    <a:prstClr val="black"/>
                                  </a:solidFill>
                                  <a:latin typeface="Cambria Math"/>
                                </a:rPr>
                              </m:ctrlPr>
                            </m:sSupPr>
                            <m:e>
                              <m:r>
                                <a:rPr lang="en-US" sz="2400" i="1">
                                  <a:solidFill>
                                    <a:prstClr val="black"/>
                                  </a:solidFill>
                                  <a:latin typeface="Cambria Math"/>
                                </a:rPr>
                                <m:t>𝑠</m:t>
                              </m:r>
                            </m:e>
                            <m:sup>
                              <m:r>
                                <a:rPr lang="en-US" sz="2400" i="1">
                                  <a:solidFill>
                                    <a:prstClr val="black"/>
                                  </a:solidFill>
                                  <a:latin typeface="Cambria Math"/>
                                </a:rPr>
                                <m:t>′</m:t>
                              </m:r>
                            </m:sup>
                          </m:sSup>
                          <m:r>
                            <a:rPr lang="en-US" sz="2400" i="1">
                              <a:solidFill>
                                <a:prstClr val="black"/>
                              </a:solidFill>
                              <a:latin typeface="Cambria Math"/>
                            </a:rPr>
                            <m:t>=−</m:t>
                          </m:r>
                          <m:r>
                            <a:rPr lang="en-US" sz="2400" i="1">
                              <a:solidFill>
                                <a:prstClr val="black"/>
                              </a:solidFill>
                              <a:latin typeface="Cambria Math"/>
                            </a:rPr>
                            <m:t>𝑥</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3</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5665952" y="3408293"/>
                <a:ext cx="269626" cy="461665"/>
              </a:xfrm>
              <a:prstGeom prst="rect">
                <a:avLst/>
              </a:prstGeom>
              <a:blipFill>
                <a:blip r:embed="rId5"/>
                <a:stretch>
                  <a:fillRect l="-4444" t="-11842" r="-187111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5627036" y="4940027"/>
                <a:ext cx="5142049" cy="461665"/>
              </a:xfrm>
              <a:prstGeom prst="rect">
                <a:avLst/>
              </a:prstGeom>
              <a:noFill/>
            </p:spPr>
            <p:txBody>
              <a:bodyPr wrap="none" rtlCol="1">
                <a:spAutoFit/>
              </a:bodyPr>
              <a:lstStyle/>
              <a:p>
                <a:pPr/>
                <a14:m>
                  <m:oMathPara xmlns:m="http://schemas.openxmlformats.org/officeDocument/2006/math">
                    <m:oMath>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𝑒𝑟𝑟</m:t>
                          </m:r>
                        </m:sub>
                      </m:sSub>
                      <m:d>
                        <m:dPr>
                          <m:ctrlPr>
                            <a:rPr lang="en-US" sz="2400" i="1">
                              <a:solidFill>
                                <a:prstClr val="black"/>
                              </a:solidFill>
                              <a:latin typeface="Cambria Math"/>
                            </a:rPr>
                          </m:ctrlPr>
                        </m:dPr>
                        <m:e>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e>
                      </m:d>
                      <m:r>
                        <a:rPr lang="en-US" sz="2400" i="1">
                          <a:solidFill>
                            <a:prstClr val="black"/>
                          </a:solidFill>
                          <a:latin typeface="Cambria Math"/>
                        </a:rPr>
                        <m:t>∧</m:t>
                      </m:r>
                      <m:d>
                        <m:dPr>
                          <m:ctrlPr>
                            <a:rPr lang="en-US" sz="2400" i="1">
                              <a:solidFill>
                                <a:prstClr val="black"/>
                              </a:solidFill>
                              <a:latin typeface="Cambria Math"/>
                            </a:rPr>
                          </m:ctrlPr>
                        </m:dPr>
                        <m:e>
                          <m:r>
                            <a:rPr lang="en-US" sz="2400" i="1">
                              <a:solidFill>
                                <a:prstClr val="black"/>
                              </a:solidFill>
                              <a:latin typeface="Cambria Math"/>
                            </a:rPr>
                            <m:t>𝑟𝑒𝑠</m:t>
                          </m:r>
                          <m:r>
                            <a:rPr lang="en-US" sz="2400" i="1">
                              <a:solidFill>
                                <a:prstClr val="black"/>
                              </a:solidFill>
                              <a:latin typeface="Cambria Math"/>
                            </a:rPr>
                            <m:t>&lt;0</m:t>
                          </m:r>
                        </m:e>
                      </m:d>
                      <m:r>
                        <a:rPr lang="en-US" sz="2400" i="1">
                          <a:solidFill>
                            <a:prstClr val="black"/>
                          </a:solidFill>
                          <a:latin typeface="Cambria Math"/>
                        </a:rPr>
                        <m:t>→</m:t>
                      </m:r>
                      <m:sSub>
                        <m:sSubPr>
                          <m:ctrlPr>
                            <a:rPr lang="en-US" sz="2400" b="0" i="1" smtClean="0">
                              <a:solidFill>
                                <a:prstClr val="black"/>
                              </a:solidFill>
                              <a:latin typeface="Cambria Math" panose="02040503050406030204" pitchFamily="18" charset="0"/>
                            </a:rPr>
                          </m:ctrlPr>
                        </m:sSubPr>
                        <m:e>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4</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5627036" y="4940027"/>
                <a:ext cx="5142049" cy="461665"/>
              </a:xfrm>
              <a:prstGeom prst="rect">
                <a:avLst/>
              </a:prstGeom>
              <a:blipFill>
                <a:blip r:embed="rId6"/>
                <a:stretch>
                  <a:fillRect t="-11842" r="-2607" b="-27632"/>
                </a:stretch>
              </a:blipFill>
            </p:spPr>
            <p:txBody>
              <a:bodyPr/>
              <a:lstStyle/>
              <a:p>
                <a:r>
                  <a:rPr lang="en-IL">
                    <a:noFill/>
                  </a:rPr>
                  <a:t> </a:t>
                </a:r>
              </a:p>
            </p:txBody>
          </p:sp>
        </mc:Fallback>
      </mc:AlternateContent>
      <p:sp>
        <p:nvSpPr>
          <p:cNvPr id="43" name="TextBox 42"/>
          <p:cNvSpPr txBox="1"/>
          <p:nvPr/>
        </p:nvSpPr>
        <p:spPr>
          <a:xfrm>
            <a:off x="3781296" y="2895328"/>
            <a:ext cx="298480" cy="461665"/>
          </a:xfrm>
          <a:prstGeom prst="rect">
            <a:avLst/>
          </a:prstGeom>
          <a:noFill/>
        </p:spPr>
        <p:txBody>
          <a:bodyPr wrap="none" rtlCol="1">
            <a:spAutoFit/>
          </a:bodyPr>
          <a:lstStyle/>
          <a:p>
            <a:pPr algn="r" rtl="1"/>
            <a:r>
              <a:rPr lang="en-US" sz="2400" dirty="0">
                <a:solidFill>
                  <a:schemeClr val="accent6">
                    <a:lumMod val="75000"/>
                  </a:schemeClr>
                </a:solidFill>
              </a:rPr>
              <a:t>?</a:t>
            </a:r>
            <a:endParaRPr lang="he-IL" sz="2400" dirty="0">
              <a:solidFill>
                <a:schemeClr val="accent6">
                  <a:lumMod val="75000"/>
                </a:schemeClr>
              </a:solidFill>
            </a:endParaRPr>
          </a:p>
        </p:txBody>
      </p:sp>
      <p:sp>
        <p:nvSpPr>
          <p:cNvPr id="44" name="TextBox 43"/>
          <p:cNvSpPr txBox="1"/>
          <p:nvPr/>
        </p:nvSpPr>
        <p:spPr>
          <a:xfrm>
            <a:off x="2253083" y="2832954"/>
            <a:ext cx="463589" cy="461665"/>
          </a:xfrm>
          <a:prstGeom prst="rect">
            <a:avLst/>
          </a:prstGeom>
          <a:noFill/>
        </p:spPr>
        <p:txBody>
          <a:bodyPr wrap="square" rtlCol="1">
            <a:spAutoFit/>
          </a:bodyPr>
          <a:lstStyle/>
          <a:p>
            <a:pPr algn="r" rtl="1"/>
            <a:r>
              <a:rPr lang="en-IL" sz="1800" b="0" i="1" dirty="0">
                <a:solidFill>
                  <a:schemeClr val="accent6">
                    <a:lumMod val="75000"/>
                  </a:schemeClr>
                </a:solidFill>
                <a:effectLst/>
                <a:latin typeface="CMSY10"/>
              </a:rPr>
              <a:t>¬</a:t>
            </a:r>
            <a:r>
              <a:rPr lang="en-US" sz="2400" dirty="0">
                <a:solidFill>
                  <a:schemeClr val="accent6">
                    <a:lumMod val="75000"/>
                  </a:schemeClr>
                </a:solidFill>
              </a:rPr>
              <a:t>?</a:t>
            </a:r>
            <a:endParaRPr lang="he-IL" sz="2400" dirty="0">
              <a:solidFill>
                <a:schemeClr val="accent6">
                  <a:lumMod val="75000"/>
                </a:schemeClr>
              </a:solidFill>
            </a:endParaRPr>
          </a:p>
        </p:txBody>
      </p:sp>
      <mc:AlternateContent xmlns:mc="http://schemas.openxmlformats.org/markup-compatibility/2006" xmlns:a14="http://schemas.microsoft.com/office/drawing/2010/main">
        <mc:Choice Requires="a14">
          <p:sp>
            <p:nvSpPr>
              <p:cNvPr id="48" name="TextBox 47"/>
              <p:cNvSpPr txBox="1"/>
              <p:nvPr/>
            </p:nvSpPr>
            <p:spPr>
              <a:xfrm>
                <a:off x="5531139" y="1435389"/>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i="1">
                              <a:solidFill>
                                <a:prstClr val="black"/>
                              </a:solidFill>
                              <a:latin typeface="Cambria Math"/>
                            </a:rPr>
                          </m:ctrlPr>
                        </m:sSubPr>
                        <m:e>
                          <m:r>
                            <a:rPr lang="en-US" sz="2400" i="1">
                              <a:solidFill>
                                <a:prstClr val="black"/>
                              </a:solidFill>
                              <a:latin typeface="Cambria Math"/>
                            </a:rPr>
                            <m:t> </m:t>
                          </m:r>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𝑖</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r>
                        <a:rPr lang="en-US" sz="2400" b="0" i="1" smtClean="0">
                          <a:solidFill>
                            <a:prstClr val="black"/>
                          </a:solidFill>
                          <a:latin typeface="Cambria Math" panose="02040503050406030204" pitchFamily="18" charset="0"/>
                        </a:rPr>
                        <m:t>𝑓𝑎𝑙𝑠</m:t>
                      </m:r>
                      <m:r>
                        <a:rPr lang="en-US" sz="2400" i="1">
                          <a:solidFill>
                            <a:prstClr val="black"/>
                          </a:solidFill>
                          <a:latin typeface="Cambria Math"/>
                        </a:rPr>
                        <m:t>𝑒</m:t>
                      </m:r>
                    </m:oMath>
                  </m:oMathPara>
                </a14:m>
                <a:endParaRPr lang="he-IL" sz="2400" dirty="0">
                  <a:solidFill>
                    <a:prstClr val="black"/>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5531139" y="1435389"/>
                <a:ext cx="269626" cy="461665"/>
              </a:xfrm>
              <a:prstGeom prst="rect">
                <a:avLst/>
              </a:prstGeom>
              <a:blipFill>
                <a:blip r:embed="rId7"/>
                <a:stretch>
                  <a:fillRect t="-11842" r="-944444" b="-27632"/>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665952" y="5638714"/>
                <a:ext cx="2913105" cy="461665"/>
              </a:xfrm>
              <a:prstGeom prst="rect">
                <a:avLst/>
              </a:prstGeom>
              <a:noFill/>
            </p:spPr>
            <p:txBody>
              <a:bodyPr wrap="none" rtlCol="1">
                <a:spAutoFit/>
              </a:bodyPr>
              <a:lstStyle/>
              <a:p>
                <a:pPr/>
                <a14:m>
                  <m:oMathPara xmlns:m="http://schemas.openxmlformats.org/officeDocument/2006/math">
                    <m:oMath>
                      <m:r>
                        <a:rPr lang="en-US" sz="2400" i="1" smtClean="0">
                          <a:solidFill>
                            <a:prstClr val="black"/>
                          </a:solidFill>
                          <a:latin typeface="Cambria Math"/>
                        </a:rPr>
                        <m:t>𝑡𝑟𝑢𝑒</m:t>
                      </m:r>
                      <m:r>
                        <a:rPr lang="en-US" sz="2400" i="1" smtClean="0">
                          <a:solidFill>
                            <a:prstClr val="black"/>
                          </a:solidFill>
                          <a:latin typeface="Cambria Math"/>
                        </a:rPr>
                        <m:t>→</m:t>
                      </m:r>
                      <m:sSub>
                        <m:sSubPr>
                          <m:ctrlPr>
                            <a:rPr lang="en-US" sz="2400" i="1">
                              <a:solidFill>
                                <a:prstClr val="black"/>
                              </a:solidFill>
                              <a:latin typeface="Cambria Math"/>
                            </a:rPr>
                          </m:ctrlPr>
                        </m:sSubPr>
                        <m:e>
                          <m:r>
                            <a:rPr lang="en-US" sz="2400" i="1">
                              <a:solidFill>
                                <a:prstClr val="black"/>
                              </a:solidFill>
                              <a:latin typeface="Cambria Math"/>
                            </a:rPr>
                            <m:t> </m:t>
                          </m:r>
                          <m:r>
                            <a:rPr lang="en-US" sz="2400" b="0" i="1" smtClean="0">
                              <a:solidFill>
                                <a:prstClr val="black"/>
                              </a:solidFill>
                              <a:latin typeface="Cambria Math" panose="02040503050406030204" pitchFamily="18" charset="0"/>
                            </a:rPr>
                            <m:t>𝐷</m:t>
                          </m:r>
                        </m:e>
                        <m:sub>
                          <m:r>
                            <a:rPr lang="en-US" sz="2400" i="1">
                              <a:solidFill>
                                <a:prstClr val="black"/>
                              </a:solidFill>
                              <a:latin typeface="Cambria Math"/>
                            </a:rPr>
                            <m:t>𝑒𝑟𝑟</m:t>
                          </m:r>
                        </m:sub>
                      </m:sSub>
                      <m:r>
                        <a:rPr lang="en-US" sz="2400" i="1">
                          <a:solidFill>
                            <a:prstClr val="black"/>
                          </a:solidFill>
                          <a:latin typeface="Cambria Math"/>
                        </a:rPr>
                        <m:t>(</m:t>
                      </m:r>
                      <m:r>
                        <a:rPr lang="en-US" sz="2400" i="1">
                          <a:solidFill>
                            <a:prstClr val="black"/>
                          </a:solidFill>
                          <a:latin typeface="Cambria Math"/>
                        </a:rPr>
                        <m:t>𝑥</m:t>
                      </m:r>
                      <m:r>
                        <a:rPr lang="en-US" sz="2400" i="1">
                          <a:solidFill>
                            <a:prstClr val="black"/>
                          </a:solidFill>
                          <a:latin typeface="Cambria Math"/>
                        </a:rPr>
                        <m:t>,</m:t>
                      </m:r>
                      <m:r>
                        <a:rPr lang="en-US" sz="2400" i="1">
                          <a:solidFill>
                            <a:prstClr val="black"/>
                          </a:solidFill>
                          <a:latin typeface="Cambria Math"/>
                        </a:rPr>
                        <m:t>𝑟𝑒𝑠</m:t>
                      </m:r>
                      <m:r>
                        <a:rPr lang="en-US" sz="2400" i="1">
                          <a:solidFill>
                            <a:prstClr val="black"/>
                          </a:solidFill>
                          <a:latin typeface="Cambria Math"/>
                        </a:rPr>
                        <m:t>)</m:t>
                      </m:r>
                    </m:oMath>
                  </m:oMathPara>
                </a14:m>
                <a:endParaRPr lang="he-IL" sz="2400" dirty="0">
                  <a:solidFill>
                    <a:prstClr val="black"/>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665952" y="5638714"/>
                <a:ext cx="2913105" cy="461665"/>
              </a:xfrm>
              <a:prstGeom prst="rect">
                <a:avLst/>
              </a:prstGeom>
              <a:blipFill>
                <a:blip r:embed="rId8"/>
                <a:stretch>
                  <a:fillRect t="-11842" r="-4603" b="-27632"/>
                </a:stretch>
              </a:blipFill>
            </p:spPr>
            <p:txBody>
              <a:bodyPr/>
              <a:lstStyle/>
              <a:p>
                <a:r>
                  <a:rPr lang="en-IL">
                    <a:noFill/>
                  </a:rPr>
                  <a:t> </a:t>
                </a:r>
              </a:p>
            </p:txBody>
          </p:sp>
        </mc:Fallback>
      </mc:AlternateContent>
      <p:sp>
        <p:nvSpPr>
          <p:cNvPr id="7" name="Slide Number Placeholder 6"/>
          <p:cNvSpPr>
            <a:spLocks noGrp="1"/>
          </p:cNvSpPr>
          <p:nvPr>
            <p:ph type="sldNum" sz="quarter" idx="12"/>
          </p:nvPr>
        </p:nvSpPr>
        <p:spPr/>
        <p:txBody>
          <a:bodyPr/>
          <a:lstStyle/>
          <a:p>
            <a:fld id="{613D88A7-0F31-4CFF-8A45-6D4D8416ABC0}" type="slidenum">
              <a:rPr lang="he-IL" smtClean="0">
                <a:solidFill>
                  <a:prstClr val="black">
                    <a:tint val="75000"/>
                  </a:prstClr>
                </a:solidFill>
              </a:rPr>
              <a:pPr/>
              <a:t>10</a:t>
            </a:fld>
            <a:endParaRPr lang="he-IL">
              <a:solidFill>
                <a:prstClr val="black">
                  <a:tint val="75000"/>
                </a:prstClr>
              </a:solidFill>
            </a:endParaRPr>
          </a:p>
        </p:txBody>
      </p:sp>
      <p:sp>
        <p:nvSpPr>
          <p:cNvPr id="8" name="Rectangle 7">
            <a:extLst>
              <a:ext uri="{FF2B5EF4-FFF2-40B4-BE49-F238E27FC236}">
                <a16:creationId xmlns:a16="http://schemas.microsoft.com/office/drawing/2014/main" id="{94E94F28-C6D7-6549-75F0-4C7C5D1999C3}"/>
              </a:ext>
            </a:extLst>
          </p:cNvPr>
          <p:cNvSpPr/>
          <p:nvPr/>
        </p:nvSpPr>
        <p:spPr>
          <a:xfrm>
            <a:off x="5579687" y="2642426"/>
            <a:ext cx="5042239" cy="53830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60AE2C6-6E06-3B78-610B-F10593E660BE}"/>
                  </a:ext>
                </a:extLst>
              </p:cNvPr>
              <p:cNvSpPr txBox="1"/>
              <p:nvPr/>
            </p:nvSpPr>
            <p:spPr>
              <a:xfrm>
                <a:off x="5675587" y="2681106"/>
                <a:ext cx="269626" cy="461665"/>
              </a:xfrm>
              <a:prstGeom prst="rect">
                <a:avLst/>
              </a:prstGeom>
              <a:noFill/>
            </p:spPr>
            <p:txBody>
              <a:bodyPr wrap="none" rtlCol="1">
                <a:spAutoFit/>
              </a:bodyPr>
              <a:lstStyle/>
              <a:p>
                <a:pPr algn="r" rtl="1"/>
                <a14:m>
                  <m:oMathPara xmlns:m="http://schemas.openxmlformats.org/officeDocument/2006/math">
                    <m:oMath>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𝐷</m:t>
                          </m:r>
                        </m:e>
                        <m:sub>
                          <m:r>
                            <a:rPr lang="en-US" sz="2400" b="0" i="1" smtClean="0">
                              <a:solidFill>
                                <a:schemeClr val="tx1"/>
                              </a:solidFill>
                              <a:latin typeface="Cambria Math" panose="02040503050406030204" pitchFamily="18" charset="0"/>
                            </a:rPr>
                            <m:t>3</m:t>
                          </m:r>
                        </m:sub>
                      </m:sSub>
                      <m:d>
                        <m:dPr>
                          <m:ctrlPr>
                            <a:rPr lang="en-US" sz="2400" i="1">
                              <a:solidFill>
                                <a:schemeClr val="tx1"/>
                              </a:solidFill>
                              <a:latin typeface="Cambria Math"/>
                            </a:rPr>
                          </m:ctrlPr>
                        </m:dPr>
                        <m:e>
                          <m:r>
                            <a:rPr lang="en-US" sz="2400" i="1">
                              <a:solidFill>
                                <a:schemeClr val="tx1"/>
                              </a:solidFill>
                              <a:latin typeface="Cambria Math"/>
                            </a:rPr>
                            <m:t>𝑥</m:t>
                          </m:r>
                          <m:r>
                            <a:rPr lang="en-US" sz="2400" i="1">
                              <a:solidFill>
                                <a:schemeClr val="tx1"/>
                              </a:solidFill>
                              <a:latin typeface="Cambria Math"/>
                            </a:rPr>
                            <m:t>,</m:t>
                          </m:r>
                          <m:r>
                            <a:rPr lang="en-US" sz="2400" i="1">
                              <a:solidFill>
                                <a:schemeClr val="tx1"/>
                              </a:solidFill>
                              <a:latin typeface="Cambria Math"/>
                            </a:rPr>
                            <m:t>𝑟𝑒𝑠</m:t>
                          </m:r>
                        </m:e>
                      </m:d>
                      <m:r>
                        <a:rPr lang="en-US" sz="2400" i="1">
                          <a:solidFill>
                            <a:schemeClr val="tx1"/>
                          </a:solidFill>
                          <a:latin typeface="Cambria Math"/>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𝐷</m:t>
                          </m:r>
                        </m:e>
                        <m:sub>
                          <m:r>
                            <a:rPr lang="en-US" sz="2400" b="0" i="1" smtClean="0">
                              <a:solidFill>
                                <a:schemeClr val="tx1"/>
                              </a:solidFill>
                              <a:latin typeface="Cambria Math" panose="02040503050406030204" pitchFamily="18" charset="0"/>
                            </a:rPr>
                            <m:t>2</m:t>
                          </m:r>
                        </m:sub>
                      </m:sSub>
                      <m:d>
                        <m:dPr>
                          <m:ctrlPr>
                            <a:rPr lang="en-US" sz="2400" i="1">
                              <a:solidFill>
                                <a:schemeClr val="tx1"/>
                              </a:solidFill>
                              <a:latin typeface="Cambria Math"/>
                            </a:rPr>
                          </m:ctrlPr>
                        </m:dPr>
                        <m:e>
                          <m:r>
                            <a:rPr lang="en-US" sz="2400" i="1">
                              <a:solidFill>
                                <a:schemeClr val="tx1"/>
                              </a:solidFill>
                              <a:latin typeface="Cambria Math"/>
                            </a:rPr>
                            <m:t>𝑥</m:t>
                          </m:r>
                          <m:r>
                            <a:rPr lang="en-US" sz="2400" i="1">
                              <a:solidFill>
                                <a:schemeClr val="tx1"/>
                              </a:solidFill>
                              <a:latin typeface="Cambria Math"/>
                            </a:rPr>
                            <m:t>,</m:t>
                          </m:r>
                          <m:r>
                            <a:rPr lang="en-US" sz="2400" i="1">
                              <a:solidFill>
                                <a:schemeClr val="tx1"/>
                              </a:solidFill>
                              <a:latin typeface="Cambria Math"/>
                            </a:rPr>
                            <m:t>𝑟𝑒𝑠</m:t>
                          </m:r>
                        </m:e>
                      </m:d>
                      <m:r>
                        <a:rPr lang="en-US" sz="2400" i="1">
                          <a:solidFill>
                            <a:schemeClr val="tx1"/>
                          </a:solidFill>
                          <a:latin typeface="Cambria Math"/>
                        </a:rPr>
                        <m:t>→</m:t>
                      </m:r>
                      <m:sSub>
                        <m:sSubPr>
                          <m:ctrlPr>
                            <a:rPr lang="en-US" sz="2400" b="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𝐷</m:t>
                          </m:r>
                        </m:e>
                        <m:sub>
                          <m:r>
                            <a:rPr lang="en-US" sz="2400" b="0" i="1" smtClean="0">
                              <a:solidFill>
                                <a:schemeClr val="tx1"/>
                              </a:solidFill>
                              <a:latin typeface="Cambria Math" panose="02040503050406030204" pitchFamily="18" charset="0"/>
                            </a:rPr>
                            <m:t>1</m:t>
                          </m:r>
                        </m:sub>
                      </m:sSub>
                      <m:r>
                        <a:rPr lang="en-US" sz="2400" i="1">
                          <a:solidFill>
                            <a:schemeClr val="tx1"/>
                          </a:solidFill>
                          <a:latin typeface="Cambria Math"/>
                        </a:rPr>
                        <m:t>(</m:t>
                      </m:r>
                      <m:r>
                        <a:rPr lang="en-US" sz="2400" i="1">
                          <a:solidFill>
                            <a:schemeClr val="tx1"/>
                          </a:solidFill>
                          <a:latin typeface="Cambria Math"/>
                        </a:rPr>
                        <m:t>𝑥</m:t>
                      </m:r>
                      <m:r>
                        <a:rPr lang="en-US" sz="2400" i="1">
                          <a:solidFill>
                            <a:schemeClr val="tx1"/>
                          </a:solidFill>
                          <a:latin typeface="Cambria Math"/>
                        </a:rPr>
                        <m:t>,</m:t>
                      </m:r>
                      <m:r>
                        <a:rPr lang="en-US" sz="2400" i="1">
                          <a:solidFill>
                            <a:schemeClr val="tx1"/>
                          </a:solidFill>
                          <a:latin typeface="Cambria Math"/>
                        </a:rPr>
                        <m:t>𝑟𝑒𝑠</m:t>
                      </m:r>
                      <m:r>
                        <a:rPr lang="en-US" sz="2400" i="1">
                          <a:solidFill>
                            <a:schemeClr val="tx1"/>
                          </a:solidFill>
                          <a:latin typeface="Cambria Math"/>
                        </a:rPr>
                        <m:t>)</m:t>
                      </m:r>
                    </m:oMath>
                  </m:oMathPara>
                </a14:m>
                <a:endParaRPr lang="he-IL" sz="2400" dirty="0">
                  <a:solidFill>
                    <a:schemeClr val="tx1"/>
                  </a:solidFill>
                </a:endParaRPr>
              </a:p>
            </p:txBody>
          </p:sp>
        </mc:Choice>
        <mc:Fallback xmlns="">
          <p:sp>
            <p:nvSpPr>
              <p:cNvPr id="3" name="TextBox 2">
                <a:extLst>
                  <a:ext uri="{FF2B5EF4-FFF2-40B4-BE49-F238E27FC236}">
                    <a16:creationId xmlns:a16="http://schemas.microsoft.com/office/drawing/2014/main" id="{B60AE2C6-6E06-3B78-610B-F10593E660BE}"/>
                  </a:ext>
                </a:extLst>
              </p:cNvPr>
              <p:cNvSpPr txBox="1">
                <a:spLocks noRot="1" noChangeAspect="1" noMove="1" noResize="1" noEditPoints="1" noAdjustHandles="1" noChangeArrowheads="1" noChangeShapeType="1" noTextEdit="1"/>
              </p:cNvSpPr>
              <p:nvPr/>
            </p:nvSpPr>
            <p:spPr>
              <a:xfrm>
                <a:off x="5675587" y="2681106"/>
                <a:ext cx="269626" cy="461665"/>
              </a:xfrm>
              <a:prstGeom prst="rect">
                <a:avLst/>
              </a:prstGeom>
              <a:blipFill>
                <a:blip r:embed="rId9"/>
                <a:stretch>
                  <a:fillRect l="-4545" t="-11842" r="-1779545" b="-27632"/>
                </a:stretch>
              </a:blipFill>
            </p:spPr>
            <p:txBody>
              <a:bodyPr/>
              <a:lstStyle/>
              <a:p>
                <a:r>
                  <a:rPr lang="en-IL">
                    <a:noFill/>
                  </a:rPr>
                  <a:t> </a:t>
                </a:r>
              </a:p>
            </p:txBody>
          </p:sp>
        </mc:Fallback>
      </mc:AlternateContent>
      <p:sp>
        <p:nvSpPr>
          <p:cNvPr id="6" name="Oval 5">
            <a:extLst>
              <a:ext uri="{FF2B5EF4-FFF2-40B4-BE49-F238E27FC236}">
                <a16:creationId xmlns:a16="http://schemas.microsoft.com/office/drawing/2014/main" id="{0A10D2E6-E939-3830-4995-962559D0B5C8}"/>
              </a:ext>
            </a:extLst>
          </p:cNvPr>
          <p:cNvSpPr/>
          <p:nvPr/>
        </p:nvSpPr>
        <p:spPr>
          <a:xfrm>
            <a:off x="8739774" y="5490548"/>
            <a:ext cx="2743200" cy="955276"/>
          </a:xfrm>
          <a:prstGeom prst="ellipse">
            <a:avLst/>
          </a:prstGeom>
          <a:solidFill>
            <a:srgbClr val="92D050"/>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CHC is realizable!</a:t>
            </a:r>
            <a:endParaRPr lang="en-IL" dirty="0"/>
          </a:p>
        </p:txBody>
      </p:sp>
      <p:pic>
        <p:nvPicPr>
          <p:cNvPr id="9" name="Picture 8" descr="Thumbs Up Handy">
            <a:extLst>
              <a:ext uri="{FF2B5EF4-FFF2-40B4-BE49-F238E27FC236}">
                <a16:creationId xmlns:a16="http://schemas.microsoft.com/office/drawing/2014/main" id="{4AE48C8B-F936-E613-A346-E160E789573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0576975" y="5118607"/>
            <a:ext cx="1478756" cy="1478756"/>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39480F6-6BD0-6B1D-8099-151310562139}"/>
                  </a:ext>
                </a:extLst>
              </p:cNvPr>
              <p:cNvSpPr txBox="1"/>
              <p:nvPr/>
            </p:nvSpPr>
            <p:spPr>
              <a:xfrm>
                <a:off x="4323678" y="5610837"/>
                <a:ext cx="931665"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a:rPr>
                        <m:t>𝒕𝒓𝒖𝒆</m:t>
                      </m:r>
                    </m:oMath>
                  </m:oMathPara>
                </a14:m>
                <a:endParaRPr lang="he-IL" sz="2400" b="1" dirty="0">
                  <a:solidFill>
                    <a:srgbClr val="FF0000"/>
                  </a:solidFill>
                </a:endParaRPr>
              </a:p>
            </p:txBody>
          </p:sp>
        </mc:Choice>
        <mc:Fallback xmlns="">
          <p:sp>
            <p:nvSpPr>
              <p:cNvPr id="10" name="TextBox 9">
                <a:extLst>
                  <a:ext uri="{FF2B5EF4-FFF2-40B4-BE49-F238E27FC236}">
                    <a16:creationId xmlns:a16="http://schemas.microsoft.com/office/drawing/2014/main" id="{C39480F6-6BD0-6B1D-8099-151310562139}"/>
                  </a:ext>
                </a:extLst>
              </p:cNvPr>
              <p:cNvSpPr txBox="1">
                <a:spLocks noRot="1" noChangeAspect="1" noMove="1" noResize="1" noEditPoints="1" noAdjustHandles="1" noChangeArrowheads="1" noChangeShapeType="1" noTextEdit="1"/>
              </p:cNvSpPr>
              <p:nvPr/>
            </p:nvSpPr>
            <p:spPr>
              <a:xfrm>
                <a:off x="4323678" y="5610837"/>
                <a:ext cx="931665" cy="461665"/>
              </a:xfrm>
              <a:prstGeom prst="rect">
                <a:avLst/>
              </a:prstGeom>
              <a:blipFill>
                <a:blip r:embed="rId11"/>
                <a:stretch>
                  <a:fillRect t="-11842" r="-15033"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C7A354D-3D06-B56A-E6CE-9B3B1A0FAB3D}"/>
                  </a:ext>
                </a:extLst>
              </p:cNvPr>
              <p:cNvSpPr txBox="1"/>
              <p:nvPr/>
            </p:nvSpPr>
            <p:spPr>
              <a:xfrm>
                <a:off x="4037625" y="4478362"/>
                <a:ext cx="1343060"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𝒓𝒆𝒔</m:t>
                      </m:r>
                      <m:r>
                        <a:rPr lang="en-US" sz="2400" b="1" i="1" smtClean="0">
                          <a:solidFill>
                            <a:srgbClr val="FF0000"/>
                          </a:solidFill>
                          <a:latin typeface="Cambria Math" panose="02040503050406030204" pitchFamily="18" charset="0"/>
                        </a:rPr>
                        <m:t>&lt;</m:t>
                      </m:r>
                      <m:r>
                        <a:rPr lang="en-US" sz="2400" b="1" i="1" smtClean="0">
                          <a:solidFill>
                            <a:srgbClr val="FF0000"/>
                          </a:solidFill>
                          <a:latin typeface="Cambria Math" panose="02040503050406030204" pitchFamily="18" charset="0"/>
                        </a:rPr>
                        <m:t>𝟎</m:t>
                      </m:r>
                    </m:oMath>
                  </m:oMathPara>
                </a14:m>
                <a:endParaRPr lang="he-IL" sz="2400" b="1" dirty="0">
                  <a:solidFill>
                    <a:srgbClr val="FF0000"/>
                  </a:solidFill>
                </a:endParaRPr>
              </a:p>
            </p:txBody>
          </p:sp>
        </mc:Choice>
        <mc:Fallback xmlns="">
          <p:sp>
            <p:nvSpPr>
              <p:cNvPr id="11" name="TextBox 10">
                <a:extLst>
                  <a:ext uri="{FF2B5EF4-FFF2-40B4-BE49-F238E27FC236}">
                    <a16:creationId xmlns:a16="http://schemas.microsoft.com/office/drawing/2014/main" id="{6C7A354D-3D06-B56A-E6CE-9B3B1A0FAB3D}"/>
                  </a:ext>
                </a:extLst>
              </p:cNvPr>
              <p:cNvSpPr txBox="1">
                <a:spLocks noRot="1" noChangeAspect="1" noMove="1" noResize="1" noEditPoints="1" noAdjustHandles="1" noChangeArrowheads="1" noChangeShapeType="1" noTextEdit="1"/>
              </p:cNvSpPr>
              <p:nvPr/>
            </p:nvSpPr>
            <p:spPr>
              <a:xfrm>
                <a:off x="4037625" y="4478362"/>
                <a:ext cx="1343060" cy="461665"/>
              </a:xfrm>
              <a:prstGeom prst="rect">
                <a:avLst/>
              </a:prstGeom>
              <a:blipFill>
                <a:blip r:embed="rId12"/>
                <a:stretch>
                  <a:fillRect t="-12000" r="-9502" b="-29333"/>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1EBDB04-E2AA-A1F2-F977-5BD5AEC8D8F6}"/>
                  </a:ext>
                </a:extLst>
              </p:cNvPr>
              <p:cNvSpPr txBox="1"/>
              <p:nvPr/>
            </p:nvSpPr>
            <p:spPr>
              <a:xfrm>
                <a:off x="4449194" y="2949901"/>
                <a:ext cx="1033680"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𝒙</m:t>
                      </m:r>
                      <m:r>
                        <a:rPr lang="en-US" sz="2400" b="1" i="1" smtClean="0">
                          <a:solidFill>
                            <a:srgbClr val="FF0000"/>
                          </a:solidFill>
                          <a:latin typeface="Cambria Math" panose="02040503050406030204" pitchFamily="18" charset="0"/>
                        </a:rPr>
                        <m:t>&lt;</m:t>
                      </m:r>
                      <m:r>
                        <a:rPr lang="en-US" sz="2400" b="1" i="1" smtClean="0">
                          <a:solidFill>
                            <a:srgbClr val="FF0000"/>
                          </a:solidFill>
                          <a:latin typeface="Cambria Math" panose="02040503050406030204" pitchFamily="18" charset="0"/>
                        </a:rPr>
                        <m:t>𝟎</m:t>
                      </m:r>
                    </m:oMath>
                  </m:oMathPara>
                </a14:m>
                <a:endParaRPr lang="he-IL" sz="2400" b="1" dirty="0">
                  <a:solidFill>
                    <a:srgbClr val="FF0000"/>
                  </a:solidFill>
                </a:endParaRPr>
              </a:p>
            </p:txBody>
          </p:sp>
        </mc:Choice>
        <mc:Fallback xmlns="">
          <p:sp>
            <p:nvSpPr>
              <p:cNvPr id="18" name="TextBox 17">
                <a:extLst>
                  <a:ext uri="{FF2B5EF4-FFF2-40B4-BE49-F238E27FC236}">
                    <a16:creationId xmlns:a16="http://schemas.microsoft.com/office/drawing/2014/main" id="{81EBDB04-E2AA-A1F2-F977-5BD5AEC8D8F6}"/>
                  </a:ext>
                </a:extLst>
              </p:cNvPr>
              <p:cNvSpPr txBox="1">
                <a:spLocks noRot="1" noChangeAspect="1" noMove="1" noResize="1" noEditPoints="1" noAdjustHandles="1" noChangeArrowheads="1" noChangeShapeType="1" noTextEdit="1"/>
              </p:cNvSpPr>
              <p:nvPr/>
            </p:nvSpPr>
            <p:spPr>
              <a:xfrm>
                <a:off x="4449194" y="2949901"/>
                <a:ext cx="1033680" cy="461665"/>
              </a:xfrm>
              <a:prstGeom prst="rect">
                <a:avLst/>
              </a:prstGeom>
              <a:blipFill>
                <a:blip r:embed="rId13"/>
                <a:stretch>
                  <a:fillRect t="-11842" r="-13018"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09D354E-1D1B-45EE-82C1-299B04753AC8}"/>
                  </a:ext>
                </a:extLst>
              </p:cNvPr>
              <p:cNvSpPr txBox="1"/>
              <p:nvPr/>
            </p:nvSpPr>
            <p:spPr>
              <a:xfrm>
                <a:off x="751444" y="3396626"/>
                <a:ext cx="1033680"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𝒙</m:t>
                      </m:r>
                      <m:r>
                        <a:rPr lang="en-US" sz="2400" b="1" i="1" smtClean="0">
                          <a:solidFill>
                            <a:srgbClr val="FF0000"/>
                          </a:solidFill>
                          <a:latin typeface="Cambria Math" panose="02040503050406030204" pitchFamily="18" charset="0"/>
                        </a:rPr>
                        <m:t>&gt;</m:t>
                      </m:r>
                      <m:r>
                        <a:rPr lang="en-US" sz="2400" b="1" i="1" smtClean="0">
                          <a:solidFill>
                            <a:srgbClr val="FF0000"/>
                          </a:solidFill>
                          <a:latin typeface="Cambria Math" panose="02040503050406030204" pitchFamily="18" charset="0"/>
                        </a:rPr>
                        <m:t>𝟎</m:t>
                      </m:r>
                    </m:oMath>
                  </m:oMathPara>
                </a14:m>
                <a:endParaRPr lang="he-IL" sz="2400" b="1" dirty="0">
                  <a:solidFill>
                    <a:srgbClr val="FF0000"/>
                  </a:solidFill>
                </a:endParaRPr>
              </a:p>
            </p:txBody>
          </p:sp>
        </mc:Choice>
        <mc:Fallback xmlns="">
          <p:sp>
            <p:nvSpPr>
              <p:cNvPr id="20" name="TextBox 19">
                <a:extLst>
                  <a:ext uri="{FF2B5EF4-FFF2-40B4-BE49-F238E27FC236}">
                    <a16:creationId xmlns:a16="http://schemas.microsoft.com/office/drawing/2014/main" id="{C09D354E-1D1B-45EE-82C1-299B04753AC8}"/>
                  </a:ext>
                </a:extLst>
              </p:cNvPr>
              <p:cNvSpPr txBox="1">
                <a:spLocks noRot="1" noChangeAspect="1" noMove="1" noResize="1" noEditPoints="1" noAdjustHandles="1" noChangeArrowheads="1" noChangeShapeType="1" noTextEdit="1"/>
              </p:cNvSpPr>
              <p:nvPr/>
            </p:nvSpPr>
            <p:spPr>
              <a:xfrm>
                <a:off x="751444" y="3396626"/>
                <a:ext cx="1033680" cy="461665"/>
              </a:xfrm>
              <a:prstGeom prst="rect">
                <a:avLst/>
              </a:prstGeom>
              <a:blipFill>
                <a:blip r:embed="rId14"/>
                <a:stretch>
                  <a:fillRect t="-11842" r="-1294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DDE1C9B-E425-F61B-B66E-F64DEE910AAC}"/>
                  </a:ext>
                </a:extLst>
              </p:cNvPr>
              <p:cNvSpPr txBox="1"/>
              <p:nvPr/>
            </p:nvSpPr>
            <p:spPr>
              <a:xfrm>
                <a:off x="4137252" y="2443180"/>
                <a:ext cx="1069524"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𝒇𝒂𝒍𝒔𝒆</m:t>
                      </m:r>
                    </m:oMath>
                  </m:oMathPara>
                </a14:m>
                <a:endParaRPr lang="he-IL" sz="2400" b="1" dirty="0">
                  <a:solidFill>
                    <a:srgbClr val="FF0000"/>
                  </a:solidFill>
                </a:endParaRPr>
              </a:p>
            </p:txBody>
          </p:sp>
        </mc:Choice>
        <mc:Fallback xmlns="">
          <p:sp>
            <p:nvSpPr>
              <p:cNvPr id="22" name="TextBox 21">
                <a:extLst>
                  <a:ext uri="{FF2B5EF4-FFF2-40B4-BE49-F238E27FC236}">
                    <a16:creationId xmlns:a16="http://schemas.microsoft.com/office/drawing/2014/main" id="{9DDE1C9B-E425-F61B-B66E-F64DEE910AAC}"/>
                  </a:ext>
                </a:extLst>
              </p:cNvPr>
              <p:cNvSpPr txBox="1">
                <a:spLocks noRot="1" noChangeAspect="1" noMove="1" noResize="1" noEditPoints="1" noAdjustHandles="1" noChangeArrowheads="1" noChangeShapeType="1" noTextEdit="1"/>
              </p:cNvSpPr>
              <p:nvPr/>
            </p:nvSpPr>
            <p:spPr>
              <a:xfrm>
                <a:off x="4137252" y="2443180"/>
                <a:ext cx="1069524" cy="461665"/>
              </a:xfrm>
              <a:prstGeom prst="rect">
                <a:avLst/>
              </a:prstGeom>
              <a:blipFill>
                <a:blip r:embed="rId15"/>
                <a:stretch>
                  <a:fillRect l="-571" t="-11842" r="-1257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8441C069-ED46-CE78-D332-7F47186FF179}"/>
                  </a:ext>
                </a:extLst>
              </p:cNvPr>
              <p:cNvSpPr txBox="1"/>
              <p:nvPr/>
            </p:nvSpPr>
            <p:spPr>
              <a:xfrm>
                <a:off x="4061350" y="1350865"/>
                <a:ext cx="1069524"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𝒇𝒂𝒍𝒔𝒆</m:t>
                      </m:r>
                    </m:oMath>
                  </m:oMathPara>
                </a14:m>
                <a:endParaRPr lang="he-IL" sz="2400" b="1" dirty="0">
                  <a:solidFill>
                    <a:srgbClr val="FF0000"/>
                  </a:solidFill>
                </a:endParaRPr>
              </a:p>
            </p:txBody>
          </p:sp>
        </mc:Choice>
        <mc:Fallback xmlns="">
          <p:sp>
            <p:nvSpPr>
              <p:cNvPr id="24" name="TextBox 23">
                <a:extLst>
                  <a:ext uri="{FF2B5EF4-FFF2-40B4-BE49-F238E27FC236}">
                    <a16:creationId xmlns:a16="http://schemas.microsoft.com/office/drawing/2014/main" id="{8441C069-ED46-CE78-D332-7F47186FF179}"/>
                  </a:ext>
                </a:extLst>
              </p:cNvPr>
              <p:cNvSpPr txBox="1">
                <a:spLocks noRot="1" noChangeAspect="1" noMove="1" noResize="1" noEditPoints="1" noAdjustHandles="1" noChangeArrowheads="1" noChangeShapeType="1" noTextEdit="1"/>
              </p:cNvSpPr>
              <p:nvPr/>
            </p:nvSpPr>
            <p:spPr>
              <a:xfrm>
                <a:off x="4061350" y="1350865"/>
                <a:ext cx="1069524" cy="461665"/>
              </a:xfrm>
              <a:prstGeom prst="rect">
                <a:avLst/>
              </a:prstGeom>
              <a:blipFill>
                <a:blip r:embed="rId16"/>
                <a:stretch>
                  <a:fillRect l="-568" t="-12000" r="-12500" b="-29333"/>
                </a:stretch>
              </a:blipFill>
            </p:spPr>
            <p:txBody>
              <a:bodyPr/>
              <a:lstStyle/>
              <a:p>
                <a:r>
                  <a:rPr lang="en-IL">
                    <a:noFill/>
                  </a:rPr>
                  <a:t> </a:t>
                </a:r>
              </a:p>
            </p:txBody>
          </p:sp>
        </mc:Fallback>
      </mc:AlternateContent>
    </p:spTree>
    <p:extLst>
      <p:ext uri="{BB962C8B-B14F-4D97-AF65-F5344CB8AC3E}">
        <p14:creationId xmlns:p14="http://schemas.microsoft.com/office/powerpoint/2010/main" val="147061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P spid="11" grpId="0"/>
      <p:bldP spid="18" grpId="0"/>
      <p:bldP spid="20" grpId="0"/>
      <p:bldP spid="22"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E18A0-B387-6A24-8EA8-CB48BE23E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6FBF9-4F04-EBB5-5109-0FED53FC70C8}"/>
              </a:ext>
            </a:extLst>
          </p:cNvPr>
          <p:cNvSpPr>
            <a:spLocks noGrp="1"/>
          </p:cNvSpPr>
          <p:nvPr>
            <p:ph type="title"/>
          </p:nvPr>
        </p:nvSpPr>
        <p:spPr>
          <a:xfrm>
            <a:off x="967563" y="324995"/>
            <a:ext cx="10111563" cy="1325563"/>
          </a:xfrm>
        </p:spPr>
        <p:txBody>
          <a:bodyPr/>
          <a:lstStyle/>
          <a:p>
            <a:r>
              <a:rPr lang="en-US" sz="4400" b="1" dirty="0">
                <a:solidFill>
                  <a:srgbClr val="FC3D69"/>
                </a:solidFill>
                <a:latin typeface="Trebuchet MS" panose="020B0603020202020204" pitchFamily="34" charset="0"/>
              </a:rPr>
              <a:t>Condition Synthesis Running Example</a:t>
            </a:r>
            <a:endParaRPr lang="he-IL" dirty="0"/>
          </a:p>
        </p:txBody>
      </p:sp>
      <p:sp>
        <p:nvSpPr>
          <p:cNvPr id="13" name="Oval 12">
            <a:extLst>
              <a:ext uri="{FF2B5EF4-FFF2-40B4-BE49-F238E27FC236}">
                <a16:creationId xmlns:a16="http://schemas.microsoft.com/office/drawing/2014/main" id="{0DB6F780-2FBF-0625-0724-3552CBCA8933}"/>
              </a:ext>
            </a:extLst>
          </p:cNvPr>
          <p:cNvSpPr/>
          <p:nvPr/>
        </p:nvSpPr>
        <p:spPr>
          <a:xfrm>
            <a:off x="5585791" y="1666615"/>
            <a:ext cx="618493" cy="535596"/>
          </a:xfrm>
          <a:prstGeom prst="ellipse">
            <a:avLst/>
          </a:prstGeom>
          <a:solidFill>
            <a:schemeClr val="accent6">
              <a:lumMod val="60000"/>
              <a:lumOff val="40000"/>
            </a:schemeClr>
          </a:solidFill>
          <a:ln>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rtl="1"/>
            <a:r>
              <a:rPr lang="en-US" sz="2800" dirty="0">
                <a:solidFill>
                  <a:schemeClr val="accent6">
                    <a:lumMod val="75000"/>
                  </a:schemeClr>
                </a:solidFill>
              </a:rPr>
              <a:t>l</a:t>
            </a:r>
            <a:r>
              <a:rPr lang="en-US" sz="2800" baseline="-25000" dirty="0">
                <a:solidFill>
                  <a:schemeClr val="accent6">
                    <a:lumMod val="75000"/>
                  </a:schemeClr>
                </a:solidFill>
              </a:rPr>
              <a:t>1</a:t>
            </a:r>
            <a:endParaRPr lang="he-IL" sz="2800" baseline="-25000" dirty="0">
              <a:solidFill>
                <a:schemeClr val="accent6">
                  <a:lumMod val="75000"/>
                </a:schemeClr>
              </a:solidFill>
            </a:endParaRPr>
          </a:p>
        </p:txBody>
      </p:sp>
      <p:sp>
        <p:nvSpPr>
          <p:cNvPr id="14" name="Oval 13">
            <a:extLst>
              <a:ext uri="{FF2B5EF4-FFF2-40B4-BE49-F238E27FC236}">
                <a16:creationId xmlns:a16="http://schemas.microsoft.com/office/drawing/2014/main" id="{2B12E59F-4FB1-692D-CAF3-382B6DBE653E}"/>
              </a:ext>
            </a:extLst>
          </p:cNvPr>
          <p:cNvSpPr/>
          <p:nvPr/>
        </p:nvSpPr>
        <p:spPr>
          <a:xfrm>
            <a:off x="6620940" y="2842927"/>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2</a:t>
            </a:r>
            <a:endParaRPr lang="he-IL" sz="2800" baseline="-25000" dirty="0">
              <a:solidFill>
                <a:prstClr val="white"/>
              </a:solidFill>
            </a:endParaRPr>
          </a:p>
        </p:txBody>
      </p:sp>
      <p:sp>
        <p:nvSpPr>
          <p:cNvPr id="15" name="Oval 14">
            <a:extLst>
              <a:ext uri="{FF2B5EF4-FFF2-40B4-BE49-F238E27FC236}">
                <a16:creationId xmlns:a16="http://schemas.microsoft.com/office/drawing/2014/main" id="{F27CB625-FEC3-C0D3-3573-25BFAE3D0F42}"/>
              </a:ext>
            </a:extLst>
          </p:cNvPr>
          <p:cNvSpPr/>
          <p:nvPr/>
        </p:nvSpPr>
        <p:spPr>
          <a:xfrm>
            <a:off x="4503139" y="2788329"/>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3</a:t>
            </a:r>
            <a:endParaRPr lang="he-IL" sz="2800" baseline="-25000" dirty="0">
              <a:solidFill>
                <a:prstClr val="white"/>
              </a:solidFill>
            </a:endParaRPr>
          </a:p>
        </p:txBody>
      </p:sp>
      <p:cxnSp>
        <p:nvCxnSpPr>
          <p:cNvPr id="21" name="Straight Arrow Connector 20">
            <a:extLst>
              <a:ext uri="{FF2B5EF4-FFF2-40B4-BE49-F238E27FC236}">
                <a16:creationId xmlns:a16="http://schemas.microsoft.com/office/drawing/2014/main" id="{93088168-AD25-591D-B52E-9A0955B3F444}"/>
              </a:ext>
            </a:extLst>
          </p:cNvPr>
          <p:cNvCxnSpPr>
            <a:stCxn id="13" idx="5"/>
            <a:endCxn id="14" idx="1"/>
          </p:cNvCxnSpPr>
          <p:nvPr/>
        </p:nvCxnSpPr>
        <p:spPr>
          <a:xfrm>
            <a:off x="6113708" y="2123775"/>
            <a:ext cx="593512" cy="797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7EEE61D-41B9-F502-9C7B-95095A0FA537}"/>
              </a:ext>
            </a:extLst>
          </p:cNvPr>
          <p:cNvCxnSpPr>
            <a:stCxn id="13" idx="3"/>
            <a:endCxn id="15" idx="7"/>
          </p:cNvCxnSpPr>
          <p:nvPr/>
        </p:nvCxnSpPr>
        <p:spPr>
          <a:xfrm flipH="1">
            <a:off x="5006015" y="2123775"/>
            <a:ext cx="670352" cy="74299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CF557D5-525E-F92B-CA4C-59A6D489449A}"/>
              </a:ext>
            </a:extLst>
          </p:cNvPr>
          <p:cNvSpPr txBox="1"/>
          <p:nvPr/>
        </p:nvSpPr>
        <p:spPr>
          <a:xfrm>
            <a:off x="6286219" y="1696544"/>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1</a:t>
            </a:r>
            <a:endParaRPr lang="he-IL" sz="2400" dirty="0">
              <a:solidFill>
                <a:prstClr val="black"/>
              </a:solidFill>
            </a:endParaRPr>
          </a:p>
        </p:txBody>
      </p:sp>
      <p:sp>
        <p:nvSpPr>
          <p:cNvPr id="28" name="TextBox 27">
            <a:extLst>
              <a:ext uri="{FF2B5EF4-FFF2-40B4-BE49-F238E27FC236}">
                <a16:creationId xmlns:a16="http://schemas.microsoft.com/office/drawing/2014/main" id="{BBE33EDA-9630-B06A-9617-9A756D1AD44A}"/>
              </a:ext>
            </a:extLst>
          </p:cNvPr>
          <p:cNvSpPr txBox="1"/>
          <p:nvPr/>
        </p:nvSpPr>
        <p:spPr>
          <a:xfrm>
            <a:off x="7305885" y="2899383"/>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2</a:t>
            </a:r>
            <a:endParaRPr lang="he-IL" sz="2400" dirty="0">
              <a:solidFill>
                <a:prstClr val="black"/>
              </a:solidFill>
            </a:endParaRPr>
          </a:p>
        </p:txBody>
      </p:sp>
      <p:sp>
        <p:nvSpPr>
          <p:cNvPr id="35" name="TextBox 34">
            <a:extLst>
              <a:ext uri="{FF2B5EF4-FFF2-40B4-BE49-F238E27FC236}">
                <a16:creationId xmlns:a16="http://schemas.microsoft.com/office/drawing/2014/main" id="{FF91E2B6-7AA9-E5E9-36C3-AD2B4FF5DB9B}"/>
              </a:ext>
            </a:extLst>
          </p:cNvPr>
          <p:cNvSpPr txBox="1"/>
          <p:nvPr/>
        </p:nvSpPr>
        <p:spPr>
          <a:xfrm>
            <a:off x="3926128" y="2842045"/>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3</a:t>
            </a:r>
            <a:endParaRPr lang="he-IL" sz="2400" dirty="0">
              <a:solidFill>
                <a:prstClr val="black"/>
              </a:solidFill>
            </a:endParaRPr>
          </a:p>
        </p:txBody>
      </p:sp>
      <p:sp>
        <p:nvSpPr>
          <p:cNvPr id="43" name="TextBox 42">
            <a:extLst>
              <a:ext uri="{FF2B5EF4-FFF2-40B4-BE49-F238E27FC236}">
                <a16:creationId xmlns:a16="http://schemas.microsoft.com/office/drawing/2014/main" id="{B1F068BB-E4C4-E117-6BF3-2CFFA69BC943}"/>
              </a:ext>
            </a:extLst>
          </p:cNvPr>
          <p:cNvSpPr txBox="1"/>
          <p:nvPr/>
        </p:nvSpPr>
        <p:spPr>
          <a:xfrm>
            <a:off x="6483841" y="2240118"/>
            <a:ext cx="298480" cy="461665"/>
          </a:xfrm>
          <a:prstGeom prst="rect">
            <a:avLst/>
          </a:prstGeom>
          <a:noFill/>
        </p:spPr>
        <p:txBody>
          <a:bodyPr wrap="none" rtlCol="1">
            <a:spAutoFit/>
          </a:bodyPr>
          <a:lstStyle/>
          <a:p>
            <a:pPr algn="r" rtl="1"/>
            <a:r>
              <a:rPr lang="en-US" sz="2400" dirty="0">
                <a:solidFill>
                  <a:schemeClr val="accent6">
                    <a:lumMod val="75000"/>
                  </a:schemeClr>
                </a:solidFill>
              </a:rPr>
              <a:t>?</a:t>
            </a:r>
            <a:endParaRPr lang="he-IL" sz="2400" dirty="0">
              <a:solidFill>
                <a:schemeClr val="accent6">
                  <a:lumMod val="75000"/>
                </a:schemeClr>
              </a:solidFill>
            </a:endParaRPr>
          </a:p>
        </p:txBody>
      </p:sp>
      <p:sp>
        <p:nvSpPr>
          <p:cNvPr id="44" name="TextBox 43">
            <a:extLst>
              <a:ext uri="{FF2B5EF4-FFF2-40B4-BE49-F238E27FC236}">
                <a16:creationId xmlns:a16="http://schemas.microsoft.com/office/drawing/2014/main" id="{9366DBA0-F8AF-85DE-8D1C-52A7994851F0}"/>
              </a:ext>
            </a:extLst>
          </p:cNvPr>
          <p:cNvSpPr txBox="1"/>
          <p:nvPr/>
        </p:nvSpPr>
        <p:spPr>
          <a:xfrm>
            <a:off x="4889579" y="2178121"/>
            <a:ext cx="463589" cy="461665"/>
          </a:xfrm>
          <a:prstGeom prst="rect">
            <a:avLst/>
          </a:prstGeom>
          <a:noFill/>
        </p:spPr>
        <p:txBody>
          <a:bodyPr wrap="square" rtlCol="1">
            <a:spAutoFit/>
          </a:bodyPr>
          <a:lstStyle/>
          <a:p>
            <a:pPr algn="r" rtl="1"/>
            <a:r>
              <a:rPr lang="en-IL" sz="1800" b="0" i="1" dirty="0">
                <a:solidFill>
                  <a:schemeClr val="accent6">
                    <a:lumMod val="75000"/>
                  </a:schemeClr>
                </a:solidFill>
                <a:effectLst/>
                <a:latin typeface="CMSY10"/>
              </a:rPr>
              <a:t>¬</a:t>
            </a:r>
            <a:r>
              <a:rPr lang="en-US" sz="2400" dirty="0">
                <a:solidFill>
                  <a:schemeClr val="accent6">
                    <a:lumMod val="75000"/>
                  </a:schemeClr>
                </a:solidFill>
              </a:rPr>
              <a:t>?</a:t>
            </a:r>
            <a:endParaRPr lang="he-IL" sz="2400" dirty="0">
              <a:solidFill>
                <a:schemeClr val="accent6">
                  <a:lumMod val="75000"/>
                </a:schemeClr>
              </a:solidFill>
            </a:endParaRPr>
          </a:p>
        </p:txBody>
      </p:sp>
      <p:sp>
        <p:nvSpPr>
          <p:cNvPr id="7" name="Slide Number Placeholder 6">
            <a:extLst>
              <a:ext uri="{FF2B5EF4-FFF2-40B4-BE49-F238E27FC236}">
                <a16:creationId xmlns:a16="http://schemas.microsoft.com/office/drawing/2014/main" id="{8CDA8D3B-8062-65C8-EF1E-E29572D3AEA2}"/>
              </a:ext>
            </a:extLst>
          </p:cNvPr>
          <p:cNvSpPr>
            <a:spLocks noGrp="1"/>
          </p:cNvSpPr>
          <p:nvPr>
            <p:ph type="sldNum" sz="quarter" idx="12"/>
          </p:nvPr>
        </p:nvSpPr>
        <p:spPr/>
        <p:txBody>
          <a:bodyPr/>
          <a:lstStyle/>
          <a:p>
            <a:fld id="{613D88A7-0F31-4CFF-8A45-6D4D8416ABC0}" type="slidenum">
              <a:rPr lang="he-IL" smtClean="0">
                <a:solidFill>
                  <a:prstClr val="black">
                    <a:tint val="75000"/>
                  </a:prstClr>
                </a:solidFill>
              </a:rPr>
              <a:pPr/>
              <a:t>11</a:t>
            </a:fld>
            <a:endParaRPr lang="he-IL">
              <a:solidFill>
                <a:prstClr val="black">
                  <a:tint val="75000"/>
                </a:prstClr>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D3A3598-3191-5266-E908-CB9BCA5555A0}"/>
                  </a:ext>
                </a:extLst>
              </p:cNvPr>
              <p:cNvSpPr txBox="1"/>
              <p:nvPr/>
            </p:nvSpPr>
            <p:spPr>
              <a:xfrm>
                <a:off x="7864918" y="2921363"/>
                <a:ext cx="1033680"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𝒙</m:t>
                      </m:r>
                      <m:r>
                        <a:rPr lang="en-US" sz="2400" b="1" i="1" smtClean="0">
                          <a:solidFill>
                            <a:srgbClr val="FF0000"/>
                          </a:solidFill>
                          <a:latin typeface="Cambria Math" panose="02040503050406030204" pitchFamily="18" charset="0"/>
                        </a:rPr>
                        <m:t>&lt;</m:t>
                      </m:r>
                      <m:r>
                        <a:rPr lang="en-US" sz="2400" b="1" i="1" smtClean="0">
                          <a:solidFill>
                            <a:srgbClr val="FF0000"/>
                          </a:solidFill>
                          <a:latin typeface="Cambria Math" panose="02040503050406030204" pitchFamily="18" charset="0"/>
                        </a:rPr>
                        <m:t>𝟎</m:t>
                      </m:r>
                    </m:oMath>
                  </m:oMathPara>
                </a14:m>
                <a:endParaRPr lang="he-IL" sz="2400" b="1" dirty="0">
                  <a:solidFill>
                    <a:srgbClr val="FF0000"/>
                  </a:solidFill>
                </a:endParaRPr>
              </a:p>
            </p:txBody>
          </p:sp>
        </mc:Choice>
        <mc:Fallback xmlns="">
          <p:sp>
            <p:nvSpPr>
              <p:cNvPr id="18" name="TextBox 17">
                <a:extLst>
                  <a:ext uri="{FF2B5EF4-FFF2-40B4-BE49-F238E27FC236}">
                    <a16:creationId xmlns:a16="http://schemas.microsoft.com/office/drawing/2014/main" id="{81EBDB04-E2AA-A1F2-F977-5BD5AEC8D8F6}"/>
                  </a:ext>
                </a:extLst>
              </p:cNvPr>
              <p:cNvSpPr txBox="1">
                <a:spLocks noRot="1" noChangeAspect="1" noMove="1" noResize="1" noEditPoints="1" noAdjustHandles="1" noChangeArrowheads="1" noChangeShapeType="1" noTextEdit="1"/>
              </p:cNvSpPr>
              <p:nvPr/>
            </p:nvSpPr>
            <p:spPr>
              <a:xfrm>
                <a:off x="7864918" y="2921363"/>
                <a:ext cx="1033680" cy="461665"/>
              </a:xfrm>
              <a:prstGeom prst="rect">
                <a:avLst/>
              </a:prstGeom>
              <a:blipFill>
                <a:blip r:embed="rId3"/>
                <a:stretch>
                  <a:fillRect t="-11842" r="-1294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9AFEA49-55AB-8181-D2B1-E9B9AF3059F5}"/>
                  </a:ext>
                </a:extLst>
              </p:cNvPr>
              <p:cNvSpPr txBox="1"/>
              <p:nvPr/>
            </p:nvSpPr>
            <p:spPr>
              <a:xfrm>
                <a:off x="2861750" y="2841290"/>
                <a:ext cx="1033680"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𝒙</m:t>
                      </m:r>
                      <m:r>
                        <a:rPr lang="en-US" sz="2400" b="1" i="1" smtClean="0">
                          <a:solidFill>
                            <a:srgbClr val="FF0000"/>
                          </a:solidFill>
                          <a:latin typeface="Cambria Math" panose="02040503050406030204" pitchFamily="18" charset="0"/>
                        </a:rPr>
                        <m:t>&gt;</m:t>
                      </m:r>
                      <m:r>
                        <a:rPr lang="en-US" sz="2400" b="1" i="1" smtClean="0">
                          <a:solidFill>
                            <a:srgbClr val="FF0000"/>
                          </a:solidFill>
                          <a:latin typeface="Cambria Math" panose="02040503050406030204" pitchFamily="18" charset="0"/>
                        </a:rPr>
                        <m:t>𝟎</m:t>
                      </m:r>
                    </m:oMath>
                  </m:oMathPara>
                </a14:m>
                <a:endParaRPr lang="he-IL" sz="2400" b="1" dirty="0">
                  <a:solidFill>
                    <a:srgbClr val="FF0000"/>
                  </a:solidFill>
                </a:endParaRPr>
              </a:p>
            </p:txBody>
          </p:sp>
        </mc:Choice>
        <mc:Fallback xmlns="">
          <p:sp>
            <p:nvSpPr>
              <p:cNvPr id="20" name="TextBox 19">
                <a:extLst>
                  <a:ext uri="{FF2B5EF4-FFF2-40B4-BE49-F238E27FC236}">
                    <a16:creationId xmlns:a16="http://schemas.microsoft.com/office/drawing/2014/main" id="{C09D354E-1D1B-45EE-82C1-299B04753AC8}"/>
                  </a:ext>
                </a:extLst>
              </p:cNvPr>
              <p:cNvSpPr txBox="1">
                <a:spLocks noRot="1" noChangeAspect="1" noMove="1" noResize="1" noEditPoints="1" noAdjustHandles="1" noChangeArrowheads="1" noChangeShapeType="1" noTextEdit="1"/>
              </p:cNvSpPr>
              <p:nvPr/>
            </p:nvSpPr>
            <p:spPr>
              <a:xfrm>
                <a:off x="2861750" y="2841290"/>
                <a:ext cx="1033680" cy="461665"/>
              </a:xfrm>
              <a:prstGeom prst="rect">
                <a:avLst/>
              </a:prstGeom>
              <a:blipFill>
                <a:blip r:embed="rId4"/>
                <a:stretch>
                  <a:fillRect t="-11842" r="-1294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77845A5-D2FB-C885-B97A-065B9B5C47A8}"/>
                  </a:ext>
                </a:extLst>
              </p:cNvPr>
              <p:cNvSpPr txBox="1"/>
              <p:nvPr/>
            </p:nvSpPr>
            <p:spPr>
              <a:xfrm>
                <a:off x="6795394" y="1646827"/>
                <a:ext cx="1069524"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𝒇𝒂𝒍𝒔𝒆</m:t>
                      </m:r>
                    </m:oMath>
                  </m:oMathPara>
                </a14:m>
                <a:endParaRPr lang="he-IL" sz="2400" b="1" dirty="0">
                  <a:solidFill>
                    <a:srgbClr val="FF0000"/>
                  </a:solidFill>
                </a:endParaRPr>
              </a:p>
            </p:txBody>
          </p:sp>
        </mc:Choice>
        <mc:Fallback xmlns="">
          <p:sp>
            <p:nvSpPr>
              <p:cNvPr id="22" name="TextBox 21">
                <a:extLst>
                  <a:ext uri="{FF2B5EF4-FFF2-40B4-BE49-F238E27FC236}">
                    <a16:creationId xmlns:a16="http://schemas.microsoft.com/office/drawing/2014/main" id="{9DDE1C9B-E425-F61B-B66E-F64DEE910AAC}"/>
                  </a:ext>
                </a:extLst>
              </p:cNvPr>
              <p:cNvSpPr txBox="1">
                <a:spLocks noRot="1" noChangeAspect="1" noMove="1" noResize="1" noEditPoints="1" noAdjustHandles="1" noChangeArrowheads="1" noChangeShapeType="1" noTextEdit="1"/>
              </p:cNvSpPr>
              <p:nvPr/>
            </p:nvSpPr>
            <p:spPr>
              <a:xfrm>
                <a:off x="6795394" y="1646827"/>
                <a:ext cx="1069524" cy="461665"/>
              </a:xfrm>
              <a:prstGeom prst="rect">
                <a:avLst/>
              </a:prstGeom>
              <a:blipFill>
                <a:blip r:embed="rId5"/>
                <a:stretch>
                  <a:fillRect l="-571" t="-11842" r="-12571" b="-27632"/>
                </a:stretch>
              </a:blipFill>
            </p:spPr>
            <p:txBody>
              <a:bodyPr/>
              <a:lstStyle/>
              <a:p>
                <a:r>
                  <a:rPr lang="en-IL">
                    <a:noFill/>
                  </a:rPr>
                  <a:t> </a:t>
                </a:r>
              </a:p>
            </p:txBody>
          </p:sp>
        </mc:Fallback>
      </mc:AlternateContent>
      <p:pic>
        <p:nvPicPr>
          <p:cNvPr id="1032" name="Picture 8" descr="Traffic policeman funny hi-res stock photography and images - Alamy">
            <a:extLst>
              <a:ext uri="{FF2B5EF4-FFF2-40B4-BE49-F238E27FC236}">
                <a16:creationId xmlns:a16="http://schemas.microsoft.com/office/drawing/2014/main" id="{9E0D8110-9E0F-65D5-852E-F4A28CA784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2027" y="214052"/>
            <a:ext cx="1571625" cy="29051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8A459A5-82DD-66EB-61A4-3737A60D6AA5}"/>
              </a:ext>
            </a:extLst>
          </p:cNvPr>
          <p:cNvSpPr txBox="1"/>
          <p:nvPr/>
        </p:nvSpPr>
        <p:spPr>
          <a:xfrm>
            <a:off x="1620079" y="4441148"/>
            <a:ext cx="8951842" cy="1384995"/>
          </a:xfrm>
          <a:prstGeom prst="rect">
            <a:avLst/>
          </a:prstGeom>
          <a:noFill/>
        </p:spPr>
        <p:txBody>
          <a:bodyPr wrap="square" rtlCol="1">
            <a:spAutoFit/>
          </a:bodyPr>
          <a:lstStyle/>
          <a:p>
            <a:pPr algn="ctr"/>
            <a:r>
              <a:rPr lang="en-US" sz="2800" b="1" dirty="0">
                <a:solidFill>
                  <a:srgbClr val="B307A7"/>
                </a:solidFill>
              </a:rPr>
              <a:t>How to find the range of conditions for L1?</a:t>
            </a:r>
          </a:p>
          <a:p>
            <a:pPr algn="ctr"/>
            <a:r>
              <a:rPr lang="en-US" sz="2800" b="1" dirty="0">
                <a:solidFill>
                  <a:srgbClr val="0000FF"/>
                </a:solidFill>
              </a:rPr>
              <a:t>Freedom is obtained from non-reachable states at l</a:t>
            </a:r>
            <a:r>
              <a:rPr lang="en-US" sz="2800" b="1" baseline="-25000" dirty="0">
                <a:solidFill>
                  <a:srgbClr val="0000FF"/>
                </a:solidFill>
              </a:rPr>
              <a:t>1</a:t>
            </a:r>
            <a:r>
              <a:rPr lang="en-US" sz="2800" b="1" dirty="0">
                <a:solidFill>
                  <a:srgbClr val="0000FF"/>
                </a:solidFill>
              </a:rPr>
              <a:t> and </a:t>
            </a:r>
          </a:p>
          <a:p>
            <a:pPr algn="ctr"/>
            <a:r>
              <a:rPr lang="en-US" sz="2800" b="1" dirty="0">
                <a:solidFill>
                  <a:srgbClr val="0000FF"/>
                </a:solidFill>
              </a:rPr>
              <a:t>from states that are not doomed at either l</a:t>
            </a:r>
            <a:r>
              <a:rPr lang="en-US" sz="2800" b="1" baseline="-25000" dirty="0">
                <a:solidFill>
                  <a:srgbClr val="0000FF"/>
                </a:solidFill>
              </a:rPr>
              <a:t>2</a:t>
            </a:r>
            <a:r>
              <a:rPr lang="en-US" sz="2800" b="1" dirty="0">
                <a:solidFill>
                  <a:srgbClr val="0000FF"/>
                </a:solidFill>
              </a:rPr>
              <a:t> or l</a:t>
            </a:r>
            <a:r>
              <a:rPr lang="en-US" sz="2800" b="1" baseline="-25000" dirty="0">
                <a:solidFill>
                  <a:srgbClr val="0000FF"/>
                </a:solidFill>
              </a:rPr>
              <a:t>3</a:t>
            </a:r>
            <a:endParaRPr lang="he-IL" sz="2800" b="1" dirty="0">
              <a:solidFill>
                <a:srgbClr val="0000FF"/>
              </a:solidFill>
            </a:endParaRPr>
          </a:p>
        </p:txBody>
      </p:sp>
    </p:spTree>
    <p:extLst>
      <p:ext uri="{BB962C8B-B14F-4D97-AF65-F5344CB8AC3E}">
        <p14:creationId xmlns:p14="http://schemas.microsoft.com/office/powerpoint/2010/main" val="47343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7563" y="324995"/>
            <a:ext cx="10111563" cy="1325563"/>
          </a:xfrm>
        </p:spPr>
        <p:txBody>
          <a:bodyPr/>
          <a:lstStyle/>
          <a:p>
            <a:r>
              <a:rPr lang="en-US" sz="4400" b="1" dirty="0">
                <a:solidFill>
                  <a:srgbClr val="FC3D69"/>
                </a:solidFill>
                <a:latin typeface="Trebuchet MS" panose="020B0603020202020204" pitchFamily="34" charset="0"/>
              </a:rPr>
              <a:t>Condition Synthesis Running Example</a:t>
            </a:r>
            <a:endParaRPr lang="he-IL" dirty="0"/>
          </a:p>
        </p:txBody>
      </p:sp>
      <p:sp>
        <p:nvSpPr>
          <p:cNvPr id="13" name="Oval 12"/>
          <p:cNvSpPr/>
          <p:nvPr/>
        </p:nvSpPr>
        <p:spPr>
          <a:xfrm>
            <a:off x="5585791" y="1666615"/>
            <a:ext cx="618493" cy="535596"/>
          </a:xfrm>
          <a:prstGeom prst="ellipse">
            <a:avLst/>
          </a:prstGeom>
          <a:solidFill>
            <a:schemeClr val="accent6">
              <a:lumMod val="60000"/>
              <a:lumOff val="40000"/>
            </a:schemeClr>
          </a:solidFill>
          <a:ln>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1" anchor="ctr"/>
          <a:lstStyle/>
          <a:p>
            <a:pPr algn="ctr" rtl="1"/>
            <a:r>
              <a:rPr lang="en-US" sz="2800" dirty="0">
                <a:solidFill>
                  <a:schemeClr val="accent6">
                    <a:lumMod val="75000"/>
                  </a:schemeClr>
                </a:solidFill>
              </a:rPr>
              <a:t>l</a:t>
            </a:r>
            <a:r>
              <a:rPr lang="en-US" sz="2800" baseline="-25000" dirty="0">
                <a:solidFill>
                  <a:schemeClr val="accent6">
                    <a:lumMod val="75000"/>
                  </a:schemeClr>
                </a:solidFill>
              </a:rPr>
              <a:t>1</a:t>
            </a:r>
            <a:endParaRPr lang="he-IL" sz="2800" baseline="-25000" dirty="0">
              <a:solidFill>
                <a:schemeClr val="accent6">
                  <a:lumMod val="75000"/>
                </a:schemeClr>
              </a:solidFill>
            </a:endParaRPr>
          </a:p>
        </p:txBody>
      </p:sp>
      <p:sp>
        <p:nvSpPr>
          <p:cNvPr id="14" name="Oval 13"/>
          <p:cNvSpPr/>
          <p:nvPr/>
        </p:nvSpPr>
        <p:spPr>
          <a:xfrm>
            <a:off x="6620940" y="2842927"/>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2</a:t>
            </a:r>
            <a:endParaRPr lang="he-IL" sz="2800" baseline="-25000" dirty="0">
              <a:solidFill>
                <a:prstClr val="white"/>
              </a:solidFill>
            </a:endParaRPr>
          </a:p>
        </p:txBody>
      </p:sp>
      <p:sp>
        <p:nvSpPr>
          <p:cNvPr id="15" name="Oval 14"/>
          <p:cNvSpPr/>
          <p:nvPr/>
        </p:nvSpPr>
        <p:spPr>
          <a:xfrm>
            <a:off x="4503139" y="2788329"/>
            <a:ext cx="589156" cy="53559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a:r>
              <a:rPr lang="en-US" sz="2800" dirty="0">
                <a:solidFill>
                  <a:prstClr val="white"/>
                </a:solidFill>
              </a:rPr>
              <a:t>l</a:t>
            </a:r>
            <a:r>
              <a:rPr lang="en-US" sz="2800" baseline="-25000" dirty="0">
                <a:solidFill>
                  <a:prstClr val="white"/>
                </a:solidFill>
              </a:rPr>
              <a:t>3</a:t>
            </a:r>
            <a:endParaRPr lang="he-IL" sz="2800" baseline="-25000" dirty="0">
              <a:solidFill>
                <a:prstClr val="white"/>
              </a:solidFill>
            </a:endParaRPr>
          </a:p>
        </p:txBody>
      </p:sp>
      <p:cxnSp>
        <p:nvCxnSpPr>
          <p:cNvPr id="21" name="Straight Arrow Connector 20"/>
          <p:cNvCxnSpPr>
            <a:stCxn id="13" idx="5"/>
            <a:endCxn id="14" idx="1"/>
          </p:cNvCxnSpPr>
          <p:nvPr/>
        </p:nvCxnSpPr>
        <p:spPr>
          <a:xfrm>
            <a:off x="6113708" y="2123775"/>
            <a:ext cx="593512" cy="797588"/>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13" idx="3"/>
            <a:endCxn id="15" idx="7"/>
          </p:cNvCxnSpPr>
          <p:nvPr/>
        </p:nvCxnSpPr>
        <p:spPr>
          <a:xfrm flipH="1">
            <a:off x="5006015" y="2123775"/>
            <a:ext cx="670352" cy="742990"/>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286219" y="1696544"/>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1</a:t>
            </a:r>
            <a:endParaRPr lang="he-IL" sz="2400" dirty="0">
              <a:solidFill>
                <a:prstClr val="black"/>
              </a:solidFill>
            </a:endParaRPr>
          </a:p>
        </p:txBody>
      </p:sp>
      <p:sp>
        <p:nvSpPr>
          <p:cNvPr id="28" name="TextBox 27"/>
          <p:cNvSpPr txBox="1"/>
          <p:nvPr/>
        </p:nvSpPr>
        <p:spPr>
          <a:xfrm>
            <a:off x="7305885" y="2899383"/>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2</a:t>
            </a:r>
            <a:endParaRPr lang="he-IL" sz="2400" dirty="0">
              <a:solidFill>
                <a:prstClr val="black"/>
              </a:solidFill>
            </a:endParaRPr>
          </a:p>
        </p:txBody>
      </p:sp>
      <p:sp>
        <p:nvSpPr>
          <p:cNvPr id="35" name="TextBox 34"/>
          <p:cNvSpPr txBox="1"/>
          <p:nvPr/>
        </p:nvSpPr>
        <p:spPr>
          <a:xfrm>
            <a:off x="3926128" y="2842045"/>
            <a:ext cx="481222" cy="461665"/>
          </a:xfrm>
          <a:prstGeom prst="rect">
            <a:avLst/>
          </a:prstGeom>
          <a:solidFill>
            <a:schemeClr val="accent5">
              <a:lumMod val="60000"/>
              <a:lumOff val="40000"/>
            </a:schemeClr>
          </a:solidFill>
          <a:ln>
            <a:solidFill>
              <a:schemeClr val="tx1"/>
            </a:solidFill>
          </a:ln>
        </p:spPr>
        <p:txBody>
          <a:bodyPr wrap="none" rtlCol="1">
            <a:spAutoFit/>
          </a:bodyPr>
          <a:lstStyle/>
          <a:p>
            <a:pPr algn="r" rtl="1"/>
            <a:r>
              <a:rPr lang="en-US" sz="2400" dirty="0">
                <a:solidFill>
                  <a:prstClr val="black"/>
                </a:solidFill>
              </a:rPr>
              <a:t>D</a:t>
            </a:r>
            <a:r>
              <a:rPr lang="en-US" sz="2400" baseline="-25000" dirty="0">
                <a:solidFill>
                  <a:prstClr val="black"/>
                </a:solidFill>
              </a:rPr>
              <a:t>3</a:t>
            </a:r>
            <a:endParaRPr lang="he-IL" sz="2400" dirty="0">
              <a:solidFill>
                <a:prstClr val="black"/>
              </a:solidFill>
            </a:endParaRPr>
          </a:p>
        </p:txBody>
      </p:sp>
      <p:sp>
        <p:nvSpPr>
          <p:cNvPr id="43" name="TextBox 42"/>
          <p:cNvSpPr txBox="1"/>
          <p:nvPr/>
        </p:nvSpPr>
        <p:spPr>
          <a:xfrm>
            <a:off x="6483841" y="2240118"/>
            <a:ext cx="298480" cy="461665"/>
          </a:xfrm>
          <a:prstGeom prst="rect">
            <a:avLst/>
          </a:prstGeom>
          <a:noFill/>
        </p:spPr>
        <p:txBody>
          <a:bodyPr wrap="none" rtlCol="1">
            <a:spAutoFit/>
          </a:bodyPr>
          <a:lstStyle/>
          <a:p>
            <a:pPr algn="r" rtl="1"/>
            <a:r>
              <a:rPr lang="en-US" sz="2400" dirty="0">
                <a:solidFill>
                  <a:schemeClr val="accent6">
                    <a:lumMod val="75000"/>
                  </a:schemeClr>
                </a:solidFill>
              </a:rPr>
              <a:t>?</a:t>
            </a:r>
            <a:endParaRPr lang="he-IL" sz="2400" dirty="0">
              <a:solidFill>
                <a:schemeClr val="accent6">
                  <a:lumMod val="75000"/>
                </a:schemeClr>
              </a:solidFill>
            </a:endParaRPr>
          </a:p>
        </p:txBody>
      </p:sp>
      <p:sp>
        <p:nvSpPr>
          <p:cNvPr id="44" name="TextBox 43"/>
          <p:cNvSpPr txBox="1"/>
          <p:nvPr/>
        </p:nvSpPr>
        <p:spPr>
          <a:xfrm>
            <a:off x="4889579" y="2178121"/>
            <a:ext cx="463589" cy="461665"/>
          </a:xfrm>
          <a:prstGeom prst="rect">
            <a:avLst/>
          </a:prstGeom>
          <a:noFill/>
        </p:spPr>
        <p:txBody>
          <a:bodyPr wrap="square" rtlCol="1">
            <a:spAutoFit/>
          </a:bodyPr>
          <a:lstStyle/>
          <a:p>
            <a:pPr algn="r" rtl="1"/>
            <a:r>
              <a:rPr lang="en-IL" sz="1800" b="0" i="1" dirty="0">
                <a:solidFill>
                  <a:schemeClr val="accent6">
                    <a:lumMod val="75000"/>
                  </a:schemeClr>
                </a:solidFill>
                <a:effectLst/>
                <a:latin typeface="CMSY10"/>
              </a:rPr>
              <a:t>¬</a:t>
            </a:r>
            <a:r>
              <a:rPr lang="en-US" sz="2400" dirty="0">
                <a:solidFill>
                  <a:schemeClr val="accent6">
                    <a:lumMod val="75000"/>
                  </a:schemeClr>
                </a:solidFill>
              </a:rPr>
              <a:t>?</a:t>
            </a:r>
            <a:endParaRPr lang="he-IL" sz="2400" dirty="0">
              <a:solidFill>
                <a:schemeClr val="accent6">
                  <a:lumMod val="75000"/>
                </a:schemeClr>
              </a:solidFill>
            </a:endParaRPr>
          </a:p>
        </p:txBody>
      </p:sp>
      <p:sp>
        <p:nvSpPr>
          <p:cNvPr id="7" name="Slide Number Placeholder 6"/>
          <p:cNvSpPr>
            <a:spLocks noGrp="1"/>
          </p:cNvSpPr>
          <p:nvPr>
            <p:ph type="sldNum" sz="quarter" idx="12"/>
          </p:nvPr>
        </p:nvSpPr>
        <p:spPr/>
        <p:txBody>
          <a:bodyPr/>
          <a:lstStyle/>
          <a:p>
            <a:fld id="{613D88A7-0F31-4CFF-8A45-6D4D8416ABC0}" type="slidenum">
              <a:rPr lang="he-IL" smtClean="0">
                <a:solidFill>
                  <a:prstClr val="black">
                    <a:tint val="75000"/>
                  </a:prstClr>
                </a:solidFill>
              </a:rPr>
              <a:pPr/>
              <a:t>12</a:t>
            </a:fld>
            <a:endParaRPr lang="he-IL">
              <a:solidFill>
                <a:prstClr val="black">
                  <a:tint val="75000"/>
                </a:prstClr>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1EBDB04-E2AA-A1F2-F977-5BD5AEC8D8F6}"/>
                  </a:ext>
                </a:extLst>
              </p:cNvPr>
              <p:cNvSpPr txBox="1"/>
              <p:nvPr/>
            </p:nvSpPr>
            <p:spPr>
              <a:xfrm>
                <a:off x="7864918" y="2921363"/>
                <a:ext cx="1033680"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𝒙</m:t>
                      </m:r>
                      <m:r>
                        <a:rPr lang="en-US" sz="2400" b="1" i="1" smtClean="0">
                          <a:solidFill>
                            <a:srgbClr val="FF0000"/>
                          </a:solidFill>
                          <a:latin typeface="Cambria Math" panose="02040503050406030204" pitchFamily="18" charset="0"/>
                        </a:rPr>
                        <m:t>&lt;</m:t>
                      </m:r>
                      <m:r>
                        <a:rPr lang="en-US" sz="2400" b="1" i="1" smtClean="0">
                          <a:solidFill>
                            <a:srgbClr val="FF0000"/>
                          </a:solidFill>
                          <a:latin typeface="Cambria Math" panose="02040503050406030204" pitchFamily="18" charset="0"/>
                        </a:rPr>
                        <m:t>𝟎</m:t>
                      </m:r>
                    </m:oMath>
                  </m:oMathPara>
                </a14:m>
                <a:endParaRPr lang="he-IL" sz="2400" b="1" dirty="0">
                  <a:solidFill>
                    <a:srgbClr val="FF0000"/>
                  </a:solidFill>
                </a:endParaRPr>
              </a:p>
            </p:txBody>
          </p:sp>
        </mc:Choice>
        <mc:Fallback xmlns="">
          <p:sp>
            <p:nvSpPr>
              <p:cNvPr id="18" name="TextBox 17">
                <a:extLst>
                  <a:ext uri="{FF2B5EF4-FFF2-40B4-BE49-F238E27FC236}">
                    <a16:creationId xmlns:a16="http://schemas.microsoft.com/office/drawing/2014/main" id="{81EBDB04-E2AA-A1F2-F977-5BD5AEC8D8F6}"/>
                  </a:ext>
                </a:extLst>
              </p:cNvPr>
              <p:cNvSpPr txBox="1">
                <a:spLocks noRot="1" noChangeAspect="1" noMove="1" noResize="1" noEditPoints="1" noAdjustHandles="1" noChangeArrowheads="1" noChangeShapeType="1" noTextEdit="1"/>
              </p:cNvSpPr>
              <p:nvPr/>
            </p:nvSpPr>
            <p:spPr>
              <a:xfrm>
                <a:off x="7864918" y="2921363"/>
                <a:ext cx="1033680" cy="461665"/>
              </a:xfrm>
              <a:prstGeom prst="rect">
                <a:avLst/>
              </a:prstGeom>
              <a:blipFill>
                <a:blip r:embed="rId3"/>
                <a:stretch>
                  <a:fillRect t="-11842" r="-1294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09D354E-1D1B-45EE-82C1-299B04753AC8}"/>
                  </a:ext>
                </a:extLst>
              </p:cNvPr>
              <p:cNvSpPr txBox="1"/>
              <p:nvPr/>
            </p:nvSpPr>
            <p:spPr>
              <a:xfrm>
                <a:off x="2861750" y="2841290"/>
                <a:ext cx="1033680"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𝒙</m:t>
                      </m:r>
                      <m:r>
                        <a:rPr lang="en-US" sz="2400" b="1" i="1" smtClean="0">
                          <a:solidFill>
                            <a:srgbClr val="FF0000"/>
                          </a:solidFill>
                          <a:latin typeface="Cambria Math" panose="02040503050406030204" pitchFamily="18" charset="0"/>
                        </a:rPr>
                        <m:t>&gt;</m:t>
                      </m:r>
                      <m:r>
                        <a:rPr lang="en-US" sz="2400" b="1" i="1" smtClean="0">
                          <a:solidFill>
                            <a:srgbClr val="FF0000"/>
                          </a:solidFill>
                          <a:latin typeface="Cambria Math" panose="02040503050406030204" pitchFamily="18" charset="0"/>
                        </a:rPr>
                        <m:t>𝟎</m:t>
                      </m:r>
                    </m:oMath>
                  </m:oMathPara>
                </a14:m>
                <a:endParaRPr lang="he-IL" sz="2400" b="1" dirty="0">
                  <a:solidFill>
                    <a:srgbClr val="FF0000"/>
                  </a:solidFill>
                </a:endParaRPr>
              </a:p>
            </p:txBody>
          </p:sp>
        </mc:Choice>
        <mc:Fallback xmlns="">
          <p:sp>
            <p:nvSpPr>
              <p:cNvPr id="20" name="TextBox 19">
                <a:extLst>
                  <a:ext uri="{FF2B5EF4-FFF2-40B4-BE49-F238E27FC236}">
                    <a16:creationId xmlns:a16="http://schemas.microsoft.com/office/drawing/2014/main" id="{C09D354E-1D1B-45EE-82C1-299B04753AC8}"/>
                  </a:ext>
                </a:extLst>
              </p:cNvPr>
              <p:cNvSpPr txBox="1">
                <a:spLocks noRot="1" noChangeAspect="1" noMove="1" noResize="1" noEditPoints="1" noAdjustHandles="1" noChangeArrowheads="1" noChangeShapeType="1" noTextEdit="1"/>
              </p:cNvSpPr>
              <p:nvPr/>
            </p:nvSpPr>
            <p:spPr>
              <a:xfrm>
                <a:off x="2861750" y="2841290"/>
                <a:ext cx="1033680" cy="461665"/>
              </a:xfrm>
              <a:prstGeom prst="rect">
                <a:avLst/>
              </a:prstGeom>
              <a:blipFill>
                <a:blip r:embed="rId4"/>
                <a:stretch>
                  <a:fillRect t="-11842" r="-12941" b="-2763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DDE1C9B-E425-F61B-B66E-F64DEE910AAC}"/>
                  </a:ext>
                </a:extLst>
              </p:cNvPr>
              <p:cNvSpPr txBox="1"/>
              <p:nvPr/>
            </p:nvSpPr>
            <p:spPr>
              <a:xfrm>
                <a:off x="6795394" y="1646827"/>
                <a:ext cx="1069524" cy="461665"/>
              </a:xfrm>
              <a:prstGeom prst="rect">
                <a:avLst/>
              </a:prstGeom>
              <a:noFill/>
            </p:spPr>
            <p:txBody>
              <a:bodyPr wrap="none" rtlCol="1">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𝒇𝒂𝒍𝒔𝒆</m:t>
                      </m:r>
                    </m:oMath>
                  </m:oMathPara>
                </a14:m>
                <a:endParaRPr lang="he-IL" sz="2400" b="1" dirty="0">
                  <a:solidFill>
                    <a:srgbClr val="FF0000"/>
                  </a:solidFill>
                </a:endParaRPr>
              </a:p>
            </p:txBody>
          </p:sp>
        </mc:Choice>
        <mc:Fallback xmlns="">
          <p:sp>
            <p:nvSpPr>
              <p:cNvPr id="22" name="TextBox 21">
                <a:extLst>
                  <a:ext uri="{FF2B5EF4-FFF2-40B4-BE49-F238E27FC236}">
                    <a16:creationId xmlns:a16="http://schemas.microsoft.com/office/drawing/2014/main" id="{9DDE1C9B-E425-F61B-B66E-F64DEE910AAC}"/>
                  </a:ext>
                </a:extLst>
              </p:cNvPr>
              <p:cNvSpPr txBox="1">
                <a:spLocks noRot="1" noChangeAspect="1" noMove="1" noResize="1" noEditPoints="1" noAdjustHandles="1" noChangeArrowheads="1" noChangeShapeType="1" noTextEdit="1"/>
              </p:cNvSpPr>
              <p:nvPr/>
            </p:nvSpPr>
            <p:spPr>
              <a:xfrm>
                <a:off x="6795394" y="1646827"/>
                <a:ext cx="1069524" cy="461665"/>
              </a:xfrm>
              <a:prstGeom prst="rect">
                <a:avLst/>
              </a:prstGeom>
              <a:blipFill>
                <a:blip r:embed="rId5"/>
                <a:stretch>
                  <a:fillRect l="-571" t="-11842" r="-12571" b="-27632"/>
                </a:stretch>
              </a:blipFill>
            </p:spPr>
            <p:txBody>
              <a:bodyPr/>
              <a:lstStyle/>
              <a:p>
                <a:r>
                  <a:rPr lang="en-IL">
                    <a:noFill/>
                  </a:rPr>
                  <a:t> </a:t>
                </a:r>
              </a:p>
            </p:txBody>
          </p:sp>
        </mc:Fallback>
      </mc:AlternateContent>
      <p:pic>
        <p:nvPicPr>
          <p:cNvPr id="1032" name="Picture 8" descr="Traffic policeman funny hi-res stock photography and images - Alamy">
            <a:extLst>
              <a:ext uri="{FF2B5EF4-FFF2-40B4-BE49-F238E27FC236}">
                <a16:creationId xmlns:a16="http://schemas.microsoft.com/office/drawing/2014/main" id="{4C24126F-F751-4A23-356D-76B09E21E4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2027" y="214052"/>
            <a:ext cx="1571625" cy="290512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60DF6B3-3D91-37FC-F850-C6D3544AB47F}"/>
                  </a:ext>
                </a:extLst>
              </p:cNvPr>
              <p:cNvSpPr txBox="1"/>
              <p:nvPr/>
            </p:nvSpPr>
            <p:spPr>
              <a:xfrm>
                <a:off x="7096918" y="2154589"/>
                <a:ext cx="589156" cy="531877"/>
              </a:xfrm>
              <a:prstGeom prst="rect">
                <a:avLst/>
              </a:prstGeom>
              <a:noFill/>
            </p:spPr>
            <p:txBody>
              <a:bodyPr wrap="squar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𝜓</m:t>
                          </m:r>
                        </m:e>
                        <m:sub>
                          <m:r>
                            <a:rPr lang="en-US" sz="3200" b="0" i="1" smtClean="0">
                              <a:latin typeface="Cambria Math" panose="02040503050406030204" pitchFamily="18" charset="0"/>
                            </a:rPr>
                            <m:t>𝑓</m:t>
                          </m:r>
                        </m:sub>
                      </m:sSub>
                    </m:oMath>
                  </m:oMathPara>
                </a14:m>
                <a:endParaRPr lang="en-IL" sz="3200" dirty="0"/>
              </a:p>
            </p:txBody>
          </p:sp>
        </mc:Choice>
        <mc:Fallback xmlns="">
          <p:sp>
            <p:nvSpPr>
              <p:cNvPr id="4" name="TextBox 3">
                <a:extLst>
                  <a:ext uri="{FF2B5EF4-FFF2-40B4-BE49-F238E27FC236}">
                    <a16:creationId xmlns:a16="http://schemas.microsoft.com/office/drawing/2014/main" id="{A60DF6B3-3D91-37FC-F850-C6D3544AB47F}"/>
                  </a:ext>
                </a:extLst>
              </p:cNvPr>
              <p:cNvSpPr txBox="1">
                <a:spLocks noRot="1" noChangeAspect="1" noMove="1" noResize="1" noEditPoints="1" noAdjustHandles="1" noChangeArrowheads="1" noChangeShapeType="1" noTextEdit="1"/>
              </p:cNvSpPr>
              <p:nvPr/>
            </p:nvSpPr>
            <p:spPr>
              <a:xfrm>
                <a:off x="7096918" y="2154589"/>
                <a:ext cx="589156" cy="531877"/>
              </a:xfrm>
              <a:prstGeom prst="rect">
                <a:avLst/>
              </a:prstGeom>
              <a:blipFill>
                <a:blip r:embed="rId7"/>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4A6527-425F-7B3B-72E3-C03EA8AA7AE8}"/>
                  </a:ext>
                </a:extLst>
              </p:cNvPr>
              <p:cNvSpPr txBox="1"/>
              <p:nvPr/>
            </p:nvSpPr>
            <p:spPr>
              <a:xfrm>
                <a:off x="8620822" y="2215009"/>
                <a:ext cx="589156" cy="492443"/>
              </a:xfrm>
              <a:prstGeom prst="rect">
                <a:avLst/>
              </a:prstGeom>
              <a:noFill/>
            </p:spPr>
            <p:txBody>
              <a:bodyPr wrap="square" lIns="0" tIns="0" rIns="0" bIns="0" rtlCol="0">
                <a:spAutoFit/>
              </a:bodyPr>
              <a:lstStyle/>
              <a:p>
                <a:pPr/>
                <a14:m>
                  <m:oMathPara xmlns:m="http://schemas.openxmlformats.org/officeDocument/2006/math">
                    <m:o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𝜓</m:t>
                          </m:r>
                        </m:e>
                        <m:sub>
                          <m:r>
                            <a:rPr lang="en-US" sz="3200" b="0" i="1" smtClean="0">
                              <a:latin typeface="Cambria Math" panose="02040503050406030204" pitchFamily="18" charset="0"/>
                            </a:rPr>
                            <m:t>𝑡</m:t>
                          </m:r>
                        </m:sub>
                      </m:sSub>
                    </m:oMath>
                  </m:oMathPara>
                </a14:m>
                <a:endParaRPr lang="en-IL" sz="2400" dirty="0"/>
              </a:p>
            </p:txBody>
          </p:sp>
        </mc:Choice>
        <mc:Fallback xmlns="">
          <p:sp>
            <p:nvSpPr>
              <p:cNvPr id="5" name="TextBox 4">
                <a:extLst>
                  <a:ext uri="{FF2B5EF4-FFF2-40B4-BE49-F238E27FC236}">
                    <a16:creationId xmlns:a16="http://schemas.microsoft.com/office/drawing/2014/main" id="{084A6527-425F-7B3B-72E3-C03EA8AA7AE8}"/>
                  </a:ext>
                </a:extLst>
              </p:cNvPr>
              <p:cNvSpPr txBox="1">
                <a:spLocks noRot="1" noChangeAspect="1" noMove="1" noResize="1" noEditPoints="1" noAdjustHandles="1" noChangeArrowheads="1" noChangeShapeType="1" noTextEdit="1"/>
              </p:cNvSpPr>
              <p:nvPr/>
            </p:nvSpPr>
            <p:spPr>
              <a:xfrm>
                <a:off x="8620822" y="2215009"/>
                <a:ext cx="589156" cy="492443"/>
              </a:xfrm>
              <a:prstGeom prst="rect">
                <a:avLst/>
              </a:prstGeom>
              <a:blipFill>
                <a:blip r:embed="rId8"/>
                <a:stretch>
                  <a:fillRect/>
                </a:stretch>
              </a:blipFill>
            </p:spPr>
            <p:txBody>
              <a:bodyPr/>
              <a:lstStyle/>
              <a:p>
                <a:r>
                  <a:rPr lang="en-IL">
                    <a:noFill/>
                  </a:rPr>
                  <a:t> </a:t>
                </a:r>
              </a:p>
            </p:txBody>
          </p:sp>
        </mc:Fallback>
      </mc:AlternateContent>
      <p:pic>
        <p:nvPicPr>
          <p:cNvPr id="9" name="Picture 2" descr="120 Body Guards, Big Tough Guys ideas | tough guy, bodyguard, guys">
            <a:extLst>
              <a:ext uri="{FF2B5EF4-FFF2-40B4-BE49-F238E27FC236}">
                <a16:creationId xmlns:a16="http://schemas.microsoft.com/office/drawing/2014/main" id="{46AC50DC-C0EB-7F34-153F-E6E3A5FCBF0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0047" r="16914"/>
          <a:stretch/>
        </p:blipFill>
        <p:spPr bwMode="auto">
          <a:xfrm>
            <a:off x="7805594" y="1819550"/>
            <a:ext cx="714146" cy="110905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1,331 Police Invitation Images, Stock Photos &amp; Vectors | Shutterstock">
            <a:extLst>
              <a:ext uri="{FF2B5EF4-FFF2-40B4-BE49-F238E27FC236}">
                <a16:creationId xmlns:a16="http://schemas.microsoft.com/office/drawing/2014/main" id="{145F02C6-7831-DAB0-BED1-94A6AE05A0D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5947" r="21992" b="12607"/>
          <a:stretch/>
        </p:blipFill>
        <p:spPr bwMode="auto">
          <a:xfrm>
            <a:off x="9210681" y="1985168"/>
            <a:ext cx="924207" cy="93311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9BB52B9-35D7-6E11-6C72-FC8441E9E58E}"/>
                  </a:ext>
                </a:extLst>
              </p:cNvPr>
              <p:cNvSpPr txBox="1"/>
              <p:nvPr/>
            </p:nvSpPr>
            <p:spPr>
              <a:xfrm>
                <a:off x="4172012" y="3734234"/>
                <a:ext cx="3847976" cy="523220"/>
              </a:xfrm>
              <a:prstGeom prst="rect">
                <a:avLst/>
              </a:prstGeom>
              <a:noFill/>
            </p:spPr>
            <p:txBody>
              <a:bodyPr wrap="none" rtlCol="0">
                <a:spAutoFit/>
              </a:bodyPr>
              <a:lstStyle/>
              <a:p>
                <a:r>
                  <a:rPr lang="en-US" sz="2800" dirty="0"/>
                  <a:t>Every predicate </a:t>
                </a:r>
                <a14:m>
                  <m:oMath xmlns:m="http://schemas.openxmlformats.org/officeDocument/2006/math">
                    <m:r>
                      <a:rPr lang="en-US" sz="2800" b="0" i="1" smtClean="0">
                        <a:latin typeface="Cambria Math" panose="02040503050406030204" pitchFamily="18" charset="0"/>
                      </a:rPr>
                      <m:t>𝜓</m:t>
                    </m:r>
                  </m:oMath>
                </a14:m>
                <a:r>
                  <a:rPr lang="en-US" sz="2800" dirty="0"/>
                  <a:t> </a:t>
                </a:r>
                <a:r>
                  <a:rPr lang="en-US" sz="2800" dirty="0" err="1"/>
                  <a:t>s.t.</a:t>
                </a:r>
                <a:r>
                  <a:rPr lang="en-US" sz="2800" dirty="0"/>
                  <a:t> </a:t>
                </a:r>
                <a:endParaRPr lang="en-IL" sz="2800" dirty="0"/>
              </a:p>
            </p:txBody>
          </p:sp>
        </mc:Choice>
        <mc:Fallback xmlns="">
          <p:sp>
            <p:nvSpPr>
              <p:cNvPr id="3" name="TextBox 2">
                <a:extLst>
                  <a:ext uri="{FF2B5EF4-FFF2-40B4-BE49-F238E27FC236}">
                    <a16:creationId xmlns:a16="http://schemas.microsoft.com/office/drawing/2014/main" id="{F9BB52B9-35D7-6E11-6C72-FC8441E9E58E}"/>
                  </a:ext>
                </a:extLst>
              </p:cNvPr>
              <p:cNvSpPr txBox="1">
                <a:spLocks noRot="1" noChangeAspect="1" noMove="1" noResize="1" noEditPoints="1" noAdjustHandles="1" noChangeArrowheads="1" noChangeShapeType="1" noTextEdit="1"/>
              </p:cNvSpPr>
              <p:nvPr/>
            </p:nvSpPr>
            <p:spPr>
              <a:xfrm>
                <a:off x="4172012" y="3734234"/>
                <a:ext cx="3847976" cy="523220"/>
              </a:xfrm>
              <a:prstGeom prst="rect">
                <a:avLst/>
              </a:prstGeom>
              <a:blipFill>
                <a:blip r:embed="rId11"/>
                <a:stretch>
                  <a:fillRect l="-3165" t="-11765" b="-34118"/>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E2D7DF2-9F9C-D10F-3FCA-B55BEFBF9E73}"/>
                  </a:ext>
                </a:extLst>
              </p:cNvPr>
              <p:cNvSpPr txBox="1"/>
              <p:nvPr/>
            </p:nvSpPr>
            <p:spPr>
              <a:xfrm>
                <a:off x="4686794" y="4379837"/>
                <a:ext cx="5465821" cy="535596"/>
              </a:xfrm>
              <a:prstGeom prst="rect">
                <a:avLst/>
              </a:prstGeom>
              <a:noFill/>
            </p:spPr>
            <p:txBody>
              <a:bodyPr wrap="square" lIns="0" tIns="0" rIns="0" bIns="0" rtlCol="0">
                <a:spAutoFit/>
              </a:bodyPr>
              <a:lstStyle/>
              <a:p>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𝜓</m:t>
                        </m:r>
                      </m:e>
                      <m:sub>
                        <m:r>
                          <a:rPr lang="en-US" sz="3200" b="0" i="1" smtClean="0">
                            <a:latin typeface="Cambria Math" panose="02040503050406030204" pitchFamily="18" charset="0"/>
                          </a:rPr>
                          <m:t>𝑓</m:t>
                        </m:r>
                      </m:sub>
                    </m:sSub>
                    <m:r>
                      <a:rPr lang="en-US" sz="3200" i="1">
                        <a:solidFill>
                          <a:prstClr val="black"/>
                        </a:solidFill>
                        <a:latin typeface="Cambria Math"/>
                      </a:rPr>
                      <m:t>→</m:t>
                    </m:r>
                  </m:oMath>
                </a14:m>
                <a:r>
                  <a:rPr lang="en-US" sz="3200" dirty="0"/>
                  <a:t> </a:t>
                </a:r>
                <a14:m>
                  <m:oMath xmlns:m="http://schemas.openxmlformats.org/officeDocument/2006/math">
                    <m:r>
                      <a:rPr lang="en-US" sz="3200" i="1">
                        <a:latin typeface="Cambria Math" panose="02040503050406030204" pitchFamily="18" charset="0"/>
                      </a:rPr>
                      <m:t>𝜓</m:t>
                    </m:r>
                  </m:oMath>
                </a14:m>
                <a:r>
                  <a:rPr lang="en-US" sz="3200" dirty="0"/>
                  <a:t> </a:t>
                </a:r>
                <a14:m>
                  <m:oMath xmlns:m="http://schemas.openxmlformats.org/officeDocument/2006/math">
                    <m:r>
                      <a:rPr lang="en-US" sz="3200" i="1">
                        <a:solidFill>
                          <a:prstClr val="black"/>
                        </a:solidFill>
                        <a:latin typeface="Cambria Math"/>
                      </a:rPr>
                      <m:t>→</m:t>
                    </m:r>
                    <m:sSub>
                      <m:sSubPr>
                        <m:ctrlPr>
                          <a:rPr lang="en-US" sz="3200" i="1">
                            <a:latin typeface="Cambria Math" panose="02040503050406030204" pitchFamily="18" charset="0"/>
                          </a:rPr>
                        </m:ctrlPr>
                      </m:sSubPr>
                      <m:e>
                        <m:r>
                          <a:rPr lang="en-US" sz="3200" i="1">
                            <a:latin typeface="Cambria Math" panose="02040503050406030204" pitchFamily="18" charset="0"/>
                          </a:rPr>
                          <m:t>𝜓</m:t>
                        </m:r>
                      </m:e>
                      <m:sub>
                        <m:r>
                          <a:rPr lang="en-US" sz="3200" b="0" i="1" smtClean="0">
                            <a:latin typeface="Cambria Math" panose="02040503050406030204" pitchFamily="18" charset="0"/>
                          </a:rPr>
                          <m:t>𝑡</m:t>
                        </m:r>
                      </m:sub>
                    </m:sSub>
                  </m:oMath>
                </a14:m>
                <a:endParaRPr lang="en-IL" sz="3200" dirty="0"/>
              </a:p>
            </p:txBody>
          </p:sp>
        </mc:Choice>
        <mc:Fallback xmlns="">
          <p:sp>
            <p:nvSpPr>
              <p:cNvPr id="6" name="TextBox 5">
                <a:extLst>
                  <a:ext uri="{FF2B5EF4-FFF2-40B4-BE49-F238E27FC236}">
                    <a16:creationId xmlns:a16="http://schemas.microsoft.com/office/drawing/2014/main" id="{5E2D7DF2-9F9C-D10F-3FCA-B55BEFBF9E73}"/>
                  </a:ext>
                </a:extLst>
              </p:cNvPr>
              <p:cNvSpPr txBox="1">
                <a:spLocks noRot="1" noChangeAspect="1" noMove="1" noResize="1" noEditPoints="1" noAdjustHandles="1" noChangeArrowheads="1" noChangeShapeType="1" noTextEdit="1"/>
              </p:cNvSpPr>
              <p:nvPr/>
            </p:nvSpPr>
            <p:spPr>
              <a:xfrm>
                <a:off x="4686794" y="4379837"/>
                <a:ext cx="5465821" cy="535596"/>
              </a:xfrm>
              <a:prstGeom prst="rect">
                <a:avLst/>
              </a:prstGeom>
              <a:blipFill>
                <a:blip r:embed="rId12"/>
                <a:stretch>
                  <a:fillRect/>
                </a:stretch>
              </a:blipFill>
            </p:spPr>
            <p:txBody>
              <a:bodyPr/>
              <a:lstStyle/>
              <a:p>
                <a:r>
                  <a:rPr lang="en-IL">
                    <a:noFill/>
                  </a:rPr>
                  <a:t> </a:t>
                </a:r>
              </a:p>
            </p:txBody>
          </p:sp>
        </mc:Fallback>
      </mc:AlternateContent>
      <p:sp>
        <p:nvSpPr>
          <p:cNvPr id="8" name="TextBox 7">
            <a:extLst>
              <a:ext uri="{FF2B5EF4-FFF2-40B4-BE49-F238E27FC236}">
                <a16:creationId xmlns:a16="http://schemas.microsoft.com/office/drawing/2014/main" id="{EE7E8F64-8E59-3DAC-80AC-2FAA94F225B8}"/>
              </a:ext>
            </a:extLst>
          </p:cNvPr>
          <p:cNvSpPr txBox="1"/>
          <p:nvPr/>
        </p:nvSpPr>
        <p:spPr>
          <a:xfrm>
            <a:off x="4840100" y="5063023"/>
            <a:ext cx="2109873" cy="523220"/>
          </a:xfrm>
          <a:prstGeom prst="rect">
            <a:avLst/>
          </a:prstGeom>
          <a:noFill/>
        </p:spPr>
        <p:txBody>
          <a:bodyPr wrap="square" rtlCol="0">
            <a:spAutoFit/>
          </a:bodyPr>
          <a:lstStyle/>
          <a:p>
            <a:r>
              <a:rPr lang="en-US" sz="2800" dirty="0"/>
              <a:t>is a solution</a:t>
            </a:r>
            <a:endParaRPr lang="en-IL" sz="28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5666481-8302-2BCE-B7AD-283EB0CADA58}"/>
                  </a:ext>
                </a:extLst>
              </p:cNvPr>
              <p:cNvSpPr txBox="1"/>
              <p:nvPr/>
            </p:nvSpPr>
            <p:spPr>
              <a:xfrm>
                <a:off x="1683195" y="5586243"/>
                <a:ext cx="7722894" cy="491288"/>
              </a:xfrm>
              <a:prstGeom prst="rect">
                <a:avLst/>
              </a:prstGeom>
              <a:noFill/>
            </p:spPr>
            <p:txBody>
              <a:bodyPr wrap="square" rtlCol="0">
                <a:spAutoFit/>
              </a:bodyPr>
              <a:lstStyle/>
              <a:p>
                <a14:m>
                  <m:oMath xmlns:m="http://schemas.openxmlformats.org/officeDocument/2006/math">
                    <m:sSub>
                      <m:sSubPr>
                        <m:ctrlPr>
                          <a:rPr lang="en-US" sz="2400" b="0" i="1" smtClean="0">
                            <a:solidFill>
                              <a:srgbClr val="B307A7"/>
                            </a:solidFill>
                            <a:latin typeface="Cambria Math" panose="02040503050406030204" pitchFamily="18" charset="0"/>
                          </a:rPr>
                        </m:ctrlPr>
                      </m:sSubPr>
                      <m:e>
                        <m:r>
                          <a:rPr lang="en-US" sz="2400" b="0" i="1" smtClean="0">
                            <a:solidFill>
                              <a:srgbClr val="B307A7"/>
                            </a:solidFill>
                            <a:latin typeface="Cambria Math" panose="02040503050406030204" pitchFamily="18" charset="0"/>
                          </a:rPr>
                          <m:t>   </m:t>
                        </m:r>
                        <m:r>
                          <a:rPr lang="en-US" sz="2400" b="0" i="1" smtClean="0">
                            <a:solidFill>
                              <a:srgbClr val="B307A7"/>
                            </a:solidFill>
                            <a:latin typeface="Cambria Math" panose="02040503050406030204" pitchFamily="18" charset="0"/>
                          </a:rPr>
                          <m:t>𝑁𝑜𝑡𝑒</m:t>
                        </m:r>
                        <m:r>
                          <a:rPr lang="en-US" sz="2400" b="0" i="1" smtClean="0">
                            <a:solidFill>
                              <a:srgbClr val="B307A7"/>
                            </a:solidFill>
                            <a:latin typeface="Cambria Math" panose="02040503050406030204" pitchFamily="18" charset="0"/>
                          </a:rPr>
                          <m:t>:   </m:t>
                        </m:r>
                        <m:r>
                          <a:rPr lang="en-US" sz="2400" i="1">
                            <a:solidFill>
                              <a:srgbClr val="B307A7"/>
                            </a:solidFill>
                            <a:latin typeface="Cambria Math" panose="02040503050406030204" pitchFamily="18" charset="0"/>
                          </a:rPr>
                          <m:t>𝜓</m:t>
                        </m:r>
                      </m:e>
                      <m:sub>
                        <m:r>
                          <a:rPr lang="en-US" sz="2400" i="1">
                            <a:solidFill>
                              <a:srgbClr val="B307A7"/>
                            </a:solidFill>
                            <a:latin typeface="Cambria Math" panose="02040503050406030204" pitchFamily="18" charset="0"/>
                          </a:rPr>
                          <m:t>𝑓</m:t>
                        </m:r>
                      </m:sub>
                    </m:sSub>
                    <m:r>
                      <a:rPr lang="en-US" sz="2400" b="0" i="1" smtClean="0">
                        <a:solidFill>
                          <a:srgbClr val="B307A7"/>
                        </a:solidFill>
                        <a:latin typeface="Cambria Math" panose="02040503050406030204" pitchFamily="18" charset="0"/>
                      </a:rPr>
                      <m:t>,</m:t>
                    </m:r>
                  </m:oMath>
                </a14:m>
                <a:r>
                  <a:rPr lang="en-US" sz="2400" dirty="0">
                    <a:solidFill>
                      <a:srgbClr val="B307A7"/>
                    </a:solidFill>
                  </a:rPr>
                  <a:t> </a:t>
                </a:r>
                <a14:m>
                  <m:oMath xmlns:m="http://schemas.openxmlformats.org/officeDocument/2006/math">
                    <m:r>
                      <a:rPr lang="en-US" sz="2400" i="1">
                        <a:solidFill>
                          <a:srgbClr val="B307A7"/>
                        </a:solidFill>
                        <a:latin typeface="Cambria Math" panose="02040503050406030204" pitchFamily="18" charset="0"/>
                      </a:rPr>
                      <m:t>𝜓</m:t>
                    </m:r>
                  </m:oMath>
                </a14:m>
                <a:r>
                  <a:rPr lang="en-US" sz="2400" dirty="0">
                    <a:solidFill>
                      <a:srgbClr val="B307A7"/>
                    </a:solidFill>
                  </a:rPr>
                  <a:t> </a:t>
                </a:r>
                <a14:m>
                  <m:oMath xmlns:m="http://schemas.openxmlformats.org/officeDocument/2006/math">
                    <m:r>
                      <a:rPr lang="en-US" sz="2400" b="0" i="1" smtClean="0">
                        <a:solidFill>
                          <a:srgbClr val="B307A7"/>
                        </a:solidFill>
                        <a:latin typeface="Cambria Math" panose="02040503050406030204" pitchFamily="18" charset="0"/>
                      </a:rPr>
                      <m:t>,</m:t>
                    </m:r>
                    <m:sSub>
                      <m:sSubPr>
                        <m:ctrlPr>
                          <a:rPr lang="en-US" sz="2400" i="1">
                            <a:solidFill>
                              <a:srgbClr val="B307A7"/>
                            </a:solidFill>
                            <a:latin typeface="Cambria Math" panose="02040503050406030204" pitchFamily="18" charset="0"/>
                          </a:rPr>
                        </m:ctrlPr>
                      </m:sSubPr>
                      <m:e>
                        <m:r>
                          <a:rPr lang="en-US" sz="2400" i="1">
                            <a:solidFill>
                              <a:srgbClr val="B307A7"/>
                            </a:solidFill>
                            <a:latin typeface="Cambria Math" panose="02040503050406030204" pitchFamily="18" charset="0"/>
                          </a:rPr>
                          <m:t>𝜓</m:t>
                        </m:r>
                      </m:e>
                      <m:sub>
                        <m:r>
                          <a:rPr lang="en-US" sz="2400" i="1">
                            <a:solidFill>
                              <a:srgbClr val="B307A7"/>
                            </a:solidFill>
                            <a:latin typeface="Cambria Math" panose="02040503050406030204" pitchFamily="18" charset="0"/>
                          </a:rPr>
                          <m:t>𝑡</m:t>
                        </m:r>
                      </m:sub>
                    </m:sSub>
                  </m:oMath>
                </a14:m>
                <a:r>
                  <a:rPr lang="en-US" sz="2400" dirty="0">
                    <a:solidFill>
                      <a:srgbClr val="B307A7"/>
                    </a:solidFill>
                  </a:rPr>
                  <a:t>  are all conditions that send control to l</a:t>
                </a:r>
                <a:r>
                  <a:rPr lang="en-US" sz="2400" baseline="-25000" dirty="0">
                    <a:solidFill>
                      <a:srgbClr val="B307A7"/>
                    </a:solidFill>
                  </a:rPr>
                  <a:t>2</a:t>
                </a:r>
                <a:endParaRPr lang="en-IL" sz="2400" dirty="0"/>
              </a:p>
            </p:txBody>
          </p:sp>
        </mc:Choice>
        <mc:Fallback xmlns="">
          <p:sp>
            <p:nvSpPr>
              <p:cNvPr id="11" name="TextBox 10">
                <a:extLst>
                  <a:ext uri="{FF2B5EF4-FFF2-40B4-BE49-F238E27FC236}">
                    <a16:creationId xmlns:a16="http://schemas.microsoft.com/office/drawing/2014/main" id="{D5666481-8302-2BCE-B7AD-283EB0CADA58}"/>
                  </a:ext>
                </a:extLst>
              </p:cNvPr>
              <p:cNvSpPr txBox="1">
                <a:spLocks noRot="1" noChangeAspect="1" noMove="1" noResize="1" noEditPoints="1" noAdjustHandles="1" noChangeArrowheads="1" noChangeShapeType="1" noTextEdit="1"/>
              </p:cNvSpPr>
              <p:nvPr/>
            </p:nvSpPr>
            <p:spPr>
              <a:xfrm>
                <a:off x="1683195" y="5586243"/>
                <a:ext cx="7722894" cy="491288"/>
              </a:xfrm>
              <a:prstGeom prst="rect">
                <a:avLst/>
              </a:prstGeom>
              <a:blipFill>
                <a:blip r:embed="rId13"/>
                <a:stretch>
                  <a:fillRect t="-8642" b="-22222"/>
                </a:stretch>
              </a:blipFill>
            </p:spPr>
            <p:txBody>
              <a:bodyPr/>
              <a:lstStyle/>
              <a:p>
                <a:r>
                  <a:rPr lang="en-IL">
                    <a:noFill/>
                  </a:rPr>
                  <a:t> </a:t>
                </a:r>
              </a:p>
            </p:txBody>
          </p:sp>
        </mc:Fallback>
      </mc:AlternateContent>
    </p:spTree>
    <p:extLst>
      <p:ext uri="{BB962C8B-B14F-4D97-AF65-F5344CB8AC3E}">
        <p14:creationId xmlns:p14="http://schemas.microsoft.com/office/powerpoint/2010/main" val="276750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C3D69"/>
                </a:solidFill>
              </a:rPr>
              <a:t>Combination with </a:t>
            </a:r>
            <a:r>
              <a:rPr lang="en-US" dirty="0" err="1">
                <a:solidFill>
                  <a:srgbClr val="FC3D69"/>
                </a:solidFill>
              </a:rPr>
              <a:t>SyGuS</a:t>
            </a:r>
            <a:endParaRPr lang="en-US" dirty="0">
              <a:solidFill>
                <a:srgbClr val="FC3D69"/>
              </a:solidFill>
            </a:endParaRPr>
          </a:p>
        </p:txBody>
      </p:sp>
      <p:sp>
        <p:nvSpPr>
          <p:cNvPr id="3" name="Content Placeholder 2"/>
          <p:cNvSpPr>
            <a:spLocks noGrp="1"/>
          </p:cNvSpPr>
          <p:nvPr>
            <p:ph idx="1"/>
          </p:nvPr>
        </p:nvSpPr>
        <p:spPr/>
        <p:txBody>
          <a:bodyPr>
            <a:normAutofit/>
          </a:bodyPr>
          <a:lstStyle/>
          <a:p>
            <a:r>
              <a:rPr lang="en-US" dirty="0" err="1"/>
              <a:t>SyGuS</a:t>
            </a:r>
            <a:r>
              <a:rPr lang="en-US" dirty="0"/>
              <a:t> is a prominent framework for program synthesis with respect to a formal specification. It limits the search-space to a user-defined grammar </a:t>
            </a:r>
            <a:r>
              <a:rPr lang="en-US" i="1" dirty="0"/>
              <a:t>G</a:t>
            </a:r>
            <a:r>
              <a:rPr lang="en-US" dirty="0"/>
              <a:t>.</a:t>
            </a:r>
          </a:p>
          <a:p>
            <a:r>
              <a:rPr lang="en-US" dirty="0"/>
              <a:t>While </a:t>
            </a:r>
            <a:r>
              <a:rPr lang="en-US" dirty="0" err="1"/>
              <a:t>CoSyn</a:t>
            </a:r>
            <a:r>
              <a:rPr lang="en-US" dirty="0"/>
              <a:t> in itself cannot provide a solution within a specific grammar, it can be combined with a </a:t>
            </a:r>
            <a:r>
              <a:rPr lang="en-US" dirty="0" err="1"/>
              <a:t>SyGuS</a:t>
            </a:r>
            <a:r>
              <a:rPr lang="en-US" dirty="0"/>
              <a:t> solver to enhance its performance.</a:t>
            </a:r>
            <a:br>
              <a:rPr lang="en-US" dirty="0"/>
            </a:br>
            <a:br>
              <a:rPr lang="en-US" dirty="0"/>
            </a:br>
            <a:r>
              <a:rPr lang="en-US" dirty="0"/>
              <a:t> </a:t>
            </a:r>
            <a:br>
              <a:rPr lang="en-US" dirty="0"/>
            </a:br>
            <a:endParaRPr lang="en-US" dirty="0"/>
          </a:p>
        </p:txBody>
      </p:sp>
      <p:sp>
        <p:nvSpPr>
          <p:cNvPr id="4" name="Slide Number Placeholder 3">
            <a:extLst>
              <a:ext uri="{FF2B5EF4-FFF2-40B4-BE49-F238E27FC236}">
                <a16:creationId xmlns:a16="http://schemas.microsoft.com/office/drawing/2014/main" id="{86539134-7C38-4E33-8E42-1F86203436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E68F78-0373-4497-8506-82E0664339AD}" type="slidenum">
              <a:rPr kumimoji="0" lang="en-US" sz="1200" b="0" i="0" u="none" strike="noStrike" kern="1200" cap="none" spc="0" normalizeH="0" baseline="0" noProof="0" smtClean="0">
                <a:ln>
                  <a:noFill/>
                </a:ln>
                <a:solidFill>
                  <a:prstClr val="black">
                    <a:tint val="75000"/>
                  </a:prstClr>
                </a:solidFill>
                <a:effectLst/>
                <a:uLnTx/>
                <a:uFillTx/>
                <a:latin typeface="Trebuchet MS" panose="020B0603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91449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2D51B663-5102-D94A-CFA5-2540B6AAFA99}"/>
              </a:ext>
            </a:extLst>
          </p:cNvPr>
          <p:cNvSpPr/>
          <p:nvPr/>
        </p:nvSpPr>
        <p:spPr>
          <a:xfrm>
            <a:off x="2785727" y="1625652"/>
            <a:ext cx="7060198" cy="4210491"/>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L"/>
          </a:p>
        </p:txBody>
      </p:sp>
      <p:sp>
        <p:nvSpPr>
          <p:cNvPr id="2" name="Title 1">
            <a:extLst>
              <a:ext uri="{FF2B5EF4-FFF2-40B4-BE49-F238E27FC236}">
                <a16:creationId xmlns:a16="http://schemas.microsoft.com/office/drawing/2014/main" id="{C1A075C3-B555-6DA8-57B7-87FAE59679B4}"/>
              </a:ext>
            </a:extLst>
          </p:cNvPr>
          <p:cNvSpPr>
            <a:spLocks noGrp="1"/>
          </p:cNvSpPr>
          <p:nvPr>
            <p:ph type="title"/>
          </p:nvPr>
        </p:nvSpPr>
        <p:spPr/>
        <p:txBody>
          <a:bodyPr>
            <a:normAutofit/>
          </a:bodyPr>
          <a:lstStyle/>
          <a:p>
            <a:pPr algn="ctr"/>
            <a:r>
              <a:rPr lang="en-US" sz="4000" b="1" dirty="0">
                <a:solidFill>
                  <a:srgbClr val="FC3D69"/>
                </a:solidFill>
              </a:rPr>
              <a:t>Combination with </a:t>
            </a:r>
            <a:r>
              <a:rPr lang="en-US" sz="4000" b="1" dirty="0" err="1">
                <a:solidFill>
                  <a:srgbClr val="FC3D69"/>
                </a:solidFill>
              </a:rPr>
              <a:t>SyGuS</a:t>
            </a:r>
            <a:endParaRPr lang="en-IL" sz="4000" b="1" dirty="0"/>
          </a:p>
        </p:txBody>
      </p:sp>
      <p:sp>
        <p:nvSpPr>
          <p:cNvPr id="3" name="Slide Number Placeholder 2">
            <a:extLst>
              <a:ext uri="{FF2B5EF4-FFF2-40B4-BE49-F238E27FC236}">
                <a16:creationId xmlns:a16="http://schemas.microsoft.com/office/drawing/2014/main" id="{D8F3B302-4AF5-7AFB-647D-7E5E2F4DF899}"/>
              </a:ext>
            </a:extLst>
          </p:cNvPr>
          <p:cNvSpPr>
            <a:spLocks noGrp="1"/>
          </p:cNvSpPr>
          <p:nvPr>
            <p:ph type="sldNum" sz="quarter" idx="12"/>
          </p:nvPr>
        </p:nvSpPr>
        <p:spPr/>
        <p:txBody>
          <a:bodyPr/>
          <a:lstStyle/>
          <a:p>
            <a:fld id="{17E68F78-0373-4497-8506-82E0664339AD}" type="slidenum">
              <a:rPr lang="en-US" smtClean="0"/>
              <a:t>14</a:t>
            </a:fld>
            <a:endParaRPr lang="en-US"/>
          </a:p>
        </p:txBody>
      </p:sp>
      <p:sp>
        <p:nvSpPr>
          <p:cNvPr id="4" name="TextBox 3">
            <a:extLst>
              <a:ext uri="{FF2B5EF4-FFF2-40B4-BE49-F238E27FC236}">
                <a16:creationId xmlns:a16="http://schemas.microsoft.com/office/drawing/2014/main" id="{9F45E5BB-ABD3-BE6D-5A9F-3AB48DFE7608}"/>
              </a:ext>
            </a:extLst>
          </p:cNvPr>
          <p:cNvSpPr txBox="1"/>
          <p:nvPr/>
        </p:nvSpPr>
        <p:spPr>
          <a:xfrm>
            <a:off x="0" y="2421435"/>
            <a:ext cx="2393604" cy="707886"/>
          </a:xfrm>
          <a:prstGeom prst="rect">
            <a:avLst/>
          </a:prstGeom>
          <a:noFill/>
        </p:spPr>
        <p:txBody>
          <a:bodyPr wrap="none" rtlCol="0">
            <a:spAutoFit/>
          </a:bodyPr>
          <a:lstStyle/>
          <a:p>
            <a:r>
              <a:rPr lang="en-US" sz="2000" dirty="0"/>
              <a:t>Condition synthesis</a:t>
            </a:r>
          </a:p>
          <a:p>
            <a:r>
              <a:rPr lang="en-US" sz="2000" dirty="0"/>
              <a:t>problem</a:t>
            </a:r>
            <a:endParaRPr lang="en-IL" sz="2000" dirty="0"/>
          </a:p>
        </p:txBody>
      </p:sp>
      <p:sp>
        <p:nvSpPr>
          <p:cNvPr id="6" name="Rectangle 5">
            <a:extLst>
              <a:ext uri="{FF2B5EF4-FFF2-40B4-BE49-F238E27FC236}">
                <a16:creationId xmlns:a16="http://schemas.microsoft.com/office/drawing/2014/main" id="{0BADEF60-3EC1-EE28-F799-0F20186EFCA1}"/>
              </a:ext>
            </a:extLst>
          </p:cNvPr>
          <p:cNvSpPr/>
          <p:nvPr/>
        </p:nvSpPr>
        <p:spPr>
          <a:xfrm>
            <a:off x="3249485" y="2396512"/>
            <a:ext cx="2573079" cy="17543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effectLst>
                  <a:outerShdw blurRad="38100" dist="38100" dir="2700000" algn="tl">
                    <a:srgbClr val="000000">
                      <a:alpha val="43137"/>
                    </a:srgbClr>
                  </a:outerShdw>
                </a:effectLst>
              </a:rPr>
              <a:t>CoSyn</a:t>
            </a:r>
            <a:endParaRPr lang="en-IL" sz="3600"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764D86D-46A7-E175-EDC8-69438CB06581}"/>
              </a:ext>
            </a:extLst>
          </p:cNvPr>
          <p:cNvSpPr txBox="1"/>
          <p:nvPr/>
        </p:nvSpPr>
        <p:spPr>
          <a:xfrm>
            <a:off x="6610084" y="2323344"/>
            <a:ext cx="2899144" cy="400110"/>
          </a:xfrm>
          <a:prstGeom prst="rect">
            <a:avLst/>
          </a:prstGeom>
          <a:noFill/>
        </p:spPr>
        <p:txBody>
          <a:bodyPr wrap="square" rtlCol="0">
            <a:spAutoFit/>
          </a:bodyPr>
          <a:lstStyle/>
          <a:p>
            <a:r>
              <a:rPr lang="en-US" sz="2000" dirty="0"/>
              <a:t>Unrealizable </a:t>
            </a:r>
          </a:p>
        </p:txBody>
      </p:sp>
      <p:sp>
        <p:nvSpPr>
          <p:cNvPr id="8" name="TextBox 7">
            <a:extLst>
              <a:ext uri="{FF2B5EF4-FFF2-40B4-BE49-F238E27FC236}">
                <a16:creationId xmlns:a16="http://schemas.microsoft.com/office/drawing/2014/main" id="{5C4FC1D4-AF11-3854-56DF-08E658801512}"/>
              </a:ext>
            </a:extLst>
          </p:cNvPr>
          <p:cNvSpPr txBox="1"/>
          <p:nvPr/>
        </p:nvSpPr>
        <p:spPr>
          <a:xfrm>
            <a:off x="6610084" y="3538790"/>
            <a:ext cx="2899144" cy="400110"/>
          </a:xfrm>
          <a:prstGeom prst="rect">
            <a:avLst/>
          </a:prstGeom>
          <a:noFill/>
        </p:spPr>
        <p:txBody>
          <a:bodyPr wrap="square" rtlCol="0">
            <a:spAutoFit/>
          </a:bodyPr>
          <a:lstStyle/>
          <a:p>
            <a:r>
              <a:rPr lang="en-US" sz="2000" dirty="0"/>
              <a:t>Realizable </a:t>
            </a:r>
          </a:p>
        </p:txBody>
      </p:sp>
      <p:pic>
        <p:nvPicPr>
          <p:cNvPr id="10" name="Graphic 9" descr="Document with solid fill">
            <a:extLst>
              <a:ext uri="{FF2B5EF4-FFF2-40B4-BE49-F238E27FC236}">
                <a16:creationId xmlns:a16="http://schemas.microsoft.com/office/drawing/2014/main" id="{D1505E7D-C516-C5C5-7127-8E70AD215D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54924" y="2816498"/>
            <a:ext cx="914400" cy="914400"/>
          </a:xfrm>
          <a:prstGeom prst="rect">
            <a:avLst/>
          </a:prstGeom>
        </p:spPr>
      </p:pic>
      <p:sp>
        <p:nvSpPr>
          <p:cNvPr id="12" name="TextBox 11">
            <a:extLst>
              <a:ext uri="{FF2B5EF4-FFF2-40B4-BE49-F238E27FC236}">
                <a16:creationId xmlns:a16="http://schemas.microsoft.com/office/drawing/2014/main" id="{694C7BF3-7DA8-A69F-FC73-9617EEFC4F0F}"/>
              </a:ext>
            </a:extLst>
          </p:cNvPr>
          <p:cNvSpPr txBox="1"/>
          <p:nvPr/>
        </p:nvSpPr>
        <p:spPr>
          <a:xfrm>
            <a:off x="7102725" y="2729271"/>
            <a:ext cx="2743200" cy="338554"/>
          </a:xfrm>
          <a:prstGeom prst="rect">
            <a:avLst/>
          </a:prstGeom>
          <a:noFill/>
        </p:spPr>
        <p:txBody>
          <a:bodyPr wrap="square">
            <a:spAutoFit/>
          </a:bodyPr>
          <a:lstStyle/>
          <a:p>
            <a:r>
              <a:rPr lang="en-US" sz="1600" dirty="0"/>
              <a:t>+ doomed initial state</a:t>
            </a:r>
            <a:endParaRPr lang="en-IL" sz="1600" dirty="0"/>
          </a:p>
        </p:txBody>
      </p:sp>
      <p:sp>
        <p:nvSpPr>
          <p:cNvPr id="14" name="TextBox 13">
            <a:extLst>
              <a:ext uri="{FF2B5EF4-FFF2-40B4-BE49-F238E27FC236}">
                <a16:creationId xmlns:a16="http://schemas.microsoft.com/office/drawing/2014/main" id="{A868F229-7840-DB66-5381-C72021610238}"/>
              </a:ext>
            </a:extLst>
          </p:cNvPr>
          <p:cNvSpPr txBox="1"/>
          <p:nvPr/>
        </p:nvSpPr>
        <p:spPr>
          <a:xfrm>
            <a:off x="7102725" y="3925921"/>
            <a:ext cx="4000501" cy="584775"/>
          </a:xfrm>
          <a:prstGeom prst="rect">
            <a:avLst/>
          </a:prstGeom>
          <a:noFill/>
        </p:spPr>
        <p:txBody>
          <a:bodyPr wrap="square">
            <a:spAutoFit/>
          </a:bodyPr>
          <a:lstStyle/>
          <a:p>
            <a:r>
              <a:rPr lang="en-US" sz="1600" dirty="0"/>
              <a:t>+ range of conditions </a:t>
            </a:r>
          </a:p>
          <a:p>
            <a:r>
              <a:rPr lang="en-US" sz="1600" dirty="0"/>
              <a:t>  for each hole</a:t>
            </a:r>
            <a:endParaRPr lang="en-IL" sz="1600" dirty="0"/>
          </a:p>
        </p:txBody>
      </p:sp>
      <p:cxnSp>
        <p:nvCxnSpPr>
          <p:cNvPr id="16" name="Straight Arrow Connector 15">
            <a:extLst>
              <a:ext uri="{FF2B5EF4-FFF2-40B4-BE49-F238E27FC236}">
                <a16:creationId xmlns:a16="http://schemas.microsoft.com/office/drawing/2014/main" id="{BC8B261F-C4F3-93B8-629A-14FE5E8F9401}"/>
              </a:ext>
            </a:extLst>
          </p:cNvPr>
          <p:cNvCxnSpPr>
            <a:cxnSpLocks/>
            <a:stCxn id="6" idx="3"/>
            <a:endCxn id="7" idx="1"/>
          </p:cNvCxnSpPr>
          <p:nvPr/>
        </p:nvCxnSpPr>
        <p:spPr>
          <a:xfrm flipV="1">
            <a:off x="5822564" y="2523399"/>
            <a:ext cx="787520" cy="75029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820F087-2135-271F-EDDC-3661A65203D1}"/>
              </a:ext>
            </a:extLst>
          </p:cNvPr>
          <p:cNvCxnSpPr>
            <a:stCxn id="6" idx="3"/>
            <a:endCxn id="8" idx="1"/>
          </p:cNvCxnSpPr>
          <p:nvPr/>
        </p:nvCxnSpPr>
        <p:spPr>
          <a:xfrm>
            <a:off x="5822564" y="3273698"/>
            <a:ext cx="787520" cy="46514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BB3F312-3CF8-877F-E125-ADB4CAA0E8E3}"/>
              </a:ext>
            </a:extLst>
          </p:cNvPr>
          <p:cNvCxnSpPr>
            <a:stCxn id="10" idx="3"/>
            <a:endCxn id="6" idx="1"/>
          </p:cNvCxnSpPr>
          <p:nvPr/>
        </p:nvCxnSpPr>
        <p:spPr>
          <a:xfrm>
            <a:off x="1969324" y="3273698"/>
            <a:ext cx="12801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9B4596-720D-23BC-CC26-EF7683BD24DF}"/>
              </a:ext>
            </a:extLst>
          </p:cNvPr>
          <p:cNvSpPr txBox="1"/>
          <p:nvPr/>
        </p:nvSpPr>
        <p:spPr>
          <a:xfrm>
            <a:off x="532122" y="4712331"/>
            <a:ext cx="1579278" cy="400110"/>
          </a:xfrm>
          <a:prstGeom prst="rect">
            <a:avLst/>
          </a:prstGeom>
          <a:noFill/>
        </p:spPr>
        <p:txBody>
          <a:bodyPr wrap="none" rtlCol="0">
            <a:spAutoFit/>
          </a:bodyPr>
          <a:lstStyle/>
          <a:p>
            <a:r>
              <a:rPr lang="en-US" sz="2000" dirty="0"/>
              <a:t>Grammar </a:t>
            </a:r>
            <a:r>
              <a:rPr lang="en-US" sz="2000" i="1" dirty="0">
                <a:latin typeface="Bahnschrift SemiCondensed" panose="020B0502040204020203" pitchFamily="34" charset="0"/>
              </a:rPr>
              <a:t>G</a:t>
            </a:r>
            <a:r>
              <a:rPr lang="en-US" sz="2000" dirty="0"/>
              <a:t> </a:t>
            </a:r>
            <a:endParaRPr lang="en-IL" sz="2000" dirty="0"/>
          </a:p>
        </p:txBody>
      </p:sp>
      <p:cxnSp>
        <p:nvCxnSpPr>
          <p:cNvPr id="15" name="Straight Arrow Connector 14">
            <a:extLst>
              <a:ext uri="{FF2B5EF4-FFF2-40B4-BE49-F238E27FC236}">
                <a16:creationId xmlns:a16="http://schemas.microsoft.com/office/drawing/2014/main" id="{09952EB5-8672-77D8-E2E5-0CB7255CD31B}"/>
              </a:ext>
            </a:extLst>
          </p:cNvPr>
          <p:cNvCxnSpPr>
            <a:cxnSpLocks/>
            <a:stCxn id="11" idx="3"/>
          </p:cNvCxnSpPr>
          <p:nvPr/>
        </p:nvCxnSpPr>
        <p:spPr>
          <a:xfrm>
            <a:off x="2111400" y="4912386"/>
            <a:ext cx="113808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08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8"/>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p:bldP spid="8" grpId="0"/>
      <p:bldP spid="12" grpId="0"/>
      <p:bldP spid="14"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2D51B663-5102-D94A-CFA5-2540B6AAFA99}"/>
              </a:ext>
            </a:extLst>
          </p:cNvPr>
          <p:cNvSpPr/>
          <p:nvPr/>
        </p:nvSpPr>
        <p:spPr>
          <a:xfrm>
            <a:off x="2785727" y="1625652"/>
            <a:ext cx="7060198" cy="4210491"/>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L"/>
          </a:p>
        </p:txBody>
      </p:sp>
      <p:sp>
        <p:nvSpPr>
          <p:cNvPr id="2" name="Title 1">
            <a:extLst>
              <a:ext uri="{FF2B5EF4-FFF2-40B4-BE49-F238E27FC236}">
                <a16:creationId xmlns:a16="http://schemas.microsoft.com/office/drawing/2014/main" id="{C1A075C3-B555-6DA8-57B7-87FAE59679B4}"/>
              </a:ext>
            </a:extLst>
          </p:cNvPr>
          <p:cNvSpPr>
            <a:spLocks noGrp="1"/>
          </p:cNvSpPr>
          <p:nvPr>
            <p:ph type="title"/>
          </p:nvPr>
        </p:nvSpPr>
        <p:spPr/>
        <p:txBody>
          <a:bodyPr>
            <a:normAutofit/>
          </a:bodyPr>
          <a:lstStyle/>
          <a:p>
            <a:pPr algn="ctr"/>
            <a:r>
              <a:rPr lang="en-US" sz="4000" b="1" dirty="0">
                <a:solidFill>
                  <a:srgbClr val="FC3D69"/>
                </a:solidFill>
              </a:rPr>
              <a:t>Combination with </a:t>
            </a:r>
            <a:r>
              <a:rPr lang="en-US" sz="4000" b="1" dirty="0" err="1">
                <a:solidFill>
                  <a:srgbClr val="FC3D69"/>
                </a:solidFill>
              </a:rPr>
              <a:t>SyGuS</a:t>
            </a:r>
            <a:endParaRPr lang="en-IL" sz="4000" b="1" dirty="0"/>
          </a:p>
        </p:txBody>
      </p:sp>
      <p:sp>
        <p:nvSpPr>
          <p:cNvPr id="3" name="Slide Number Placeholder 2">
            <a:extLst>
              <a:ext uri="{FF2B5EF4-FFF2-40B4-BE49-F238E27FC236}">
                <a16:creationId xmlns:a16="http://schemas.microsoft.com/office/drawing/2014/main" id="{D8F3B302-4AF5-7AFB-647D-7E5E2F4DF899}"/>
              </a:ext>
            </a:extLst>
          </p:cNvPr>
          <p:cNvSpPr>
            <a:spLocks noGrp="1"/>
          </p:cNvSpPr>
          <p:nvPr>
            <p:ph type="sldNum" sz="quarter" idx="12"/>
          </p:nvPr>
        </p:nvSpPr>
        <p:spPr/>
        <p:txBody>
          <a:bodyPr/>
          <a:lstStyle/>
          <a:p>
            <a:fld id="{17E68F78-0373-4497-8506-82E0664339AD}" type="slidenum">
              <a:rPr lang="en-US" smtClean="0"/>
              <a:t>15</a:t>
            </a:fld>
            <a:endParaRPr lang="en-US"/>
          </a:p>
        </p:txBody>
      </p:sp>
      <p:sp>
        <p:nvSpPr>
          <p:cNvPr id="4" name="TextBox 3">
            <a:extLst>
              <a:ext uri="{FF2B5EF4-FFF2-40B4-BE49-F238E27FC236}">
                <a16:creationId xmlns:a16="http://schemas.microsoft.com/office/drawing/2014/main" id="{9F45E5BB-ABD3-BE6D-5A9F-3AB48DFE7608}"/>
              </a:ext>
            </a:extLst>
          </p:cNvPr>
          <p:cNvSpPr txBox="1"/>
          <p:nvPr/>
        </p:nvSpPr>
        <p:spPr>
          <a:xfrm>
            <a:off x="0" y="2421435"/>
            <a:ext cx="2393604" cy="707886"/>
          </a:xfrm>
          <a:prstGeom prst="rect">
            <a:avLst/>
          </a:prstGeom>
          <a:noFill/>
        </p:spPr>
        <p:txBody>
          <a:bodyPr wrap="none" rtlCol="0">
            <a:spAutoFit/>
          </a:bodyPr>
          <a:lstStyle/>
          <a:p>
            <a:r>
              <a:rPr lang="en-US" sz="2000" dirty="0"/>
              <a:t>Condition synthesis</a:t>
            </a:r>
          </a:p>
          <a:p>
            <a:r>
              <a:rPr lang="en-US" sz="2000" dirty="0"/>
              <a:t>problem</a:t>
            </a:r>
            <a:endParaRPr lang="en-IL" sz="2000" dirty="0"/>
          </a:p>
        </p:txBody>
      </p:sp>
      <p:sp>
        <p:nvSpPr>
          <p:cNvPr id="6" name="Rectangle 5">
            <a:extLst>
              <a:ext uri="{FF2B5EF4-FFF2-40B4-BE49-F238E27FC236}">
                <a16:creationId xmlns:a16="http://schemas.microsoft.com/office/drawing/2014/main" id="{0BADEF60-3EC1-EE28-F799-0F20186EFCA1}"/>
              </a:ext>
            </a:extLst>
          </p:cNvPr>
          <p:cNvSpPr/>
          <p:nvPr/>
        </p:nvSpPr>
        <p:spPr>
          <a:xfrm>
            <a:off x="3249485" y="2396512"/>
            <a:ext cx="2573079" cy="175437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effectLst>
                  <a:outerShdw blurRad="38100" dist="38100" dir="2700000" algn="tl">
                    <a:srgbClr val="000000">
                      <a:alpha val="43137"/>
                    </a:srgbClr>
                  </a:outerShdw>
                </a:effectLst>
              </a:rPr>
              <a:t>CoSyn</a:t>
            </a:r>
            <a:endParaRPr lang="en-IL" sz="3600" dirty="0">
              <a:effectLst>
                <a:outerShdw blurRad="38100" dist="38100" dir="2700000" algn="tl">
                  <a:srgbClr val="000000">
                    <a:alpha val="43137"/>
                  </a:srgbClr>
                </a:outerShdw>
              </a:effectLst>
            </a:endParaRPr>
          </a:p>
        </p:txBody>
      </p:sp>
      <p:sp>
        <p:nvSpPr>
          <p:cNvPr id="7" name="TextBox 6">
            <a:extLst>
              <a:ext uri="{FF2B5EF4-FFF2-40B4-BE49-F238E27FC236}">
                <a16:creationId xmlns:a16="http://schemas.microsoft.com/office/drawing/2014/main" id="{D764D86D-46A7-E175-EDC8-69438CB06581}"/>
              </a:ext>
            </a:extLst>
          </p:cNvPr>
          <p:cNvSpPr txBox="1"/>
          <p:nvPr/>
        </p:nvSpPr>
        <p:spPr>
          <a:xfrm>
            <a:off x="10309683" y="2309292"/>
            <a:ext cx="2899144" cy="400110"/>
          </a:xfrm>
          <a:prstGeom prst="rect">
            <a:avLst/>
          </a:prstGeom>
          <a:noFill/>
        </p:spPr>
        <p:txBody>
          <a:bodyPr wrap="square" rtlCol="0">
            <a:spAutoFit/>
          </a:bodyPr>
          <a:lstStyle/>
          <a:p>
            <a:r>
              <a:rPr lang="en-US" sz="2000" dirty="0"/>
              <a:t>Unrealizable </a:t>
            </a:r>
          </a:p>
        </p:txBody>
      </p:sp>
      <p:sp>
        <p:nvSpPr>
          <p:cNvPr id="8" name="TextBox 7">
            <a:extLst>
              <a:ext uri="{FF2B5EF4-FFF2-40B4-BE49-F238E27FC236}">
                <a16:creationId xmlns:a16="http://schemas.microsoft.com/office/drawing/2014/main" id="{5C4FC1D4-AF11-3854-56DF-08E658801512}"/>
              </a:ext>
            </a:extLst>
          </p:cNvPr>
          <p:cNvSpPr txBox="1"/>
          <p:nvPr/>
        </p:nvSpPr>
        <p:spPr>
          <a:xfrm>
            <a:off x="5890969" y="3380851"/>
            <a:ext cx="2899144" cy="400110"/>
          </a:xfrm>
          <a:prstGeom prst="rect">
            <a:avLst/>
          </a:prstGeom>
          <a:noFill/>
        </p:spPr>
        <p:txBody>
          <a:bodyPr wrap="square" rtlCol="0">
            <a:spAutoFit/>
          </a:bodyPr>
          <a:lstStyle/>
          <a:p>
            <a:r>
              <a:rPr lang="en-US" sz="2000" dirty="0"/>
              <a:t>Realizable </a:t>
            </a:r>
          </a:p>
        </p:txBody>
      </p:sp>
      <p:pic>
        <p:nvPicPr>
          <p:cNvPr id="10" name="Graphic 9" descr="Document with solid fill">
            <a:extLst>
              <a:ext uri="{FF2B5EF4-FFF2-40B4-BE49-F238E27FC236}">
                <a16:creationId xmlns:a16="http://schemas.microsoft.com/office/drawing/2014/main" id="{D1505E7D-C516-C5C5-7127-8E70AD215D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4924" y="2816498"/>
            <a:ext cx="914400" cy="914400"/>
          </a:xfrm>
          <a:prstGeom prst="rect">
            <a:avLst/>
          </a:prstGeom>
        </p:spPr>
      </p:pic>
      <p:sp>
        <p:nvSpPr>
          <p:cNvPr id="14" name="TextBox 13">
            <a:extLst>
              <a:ext uri="{FF2B5EF4-FFF2-40B4-BE49-F238E27FC236}">
                <a16:creationId xmlns:a16="http://schemas.microsoft.com/office/drawing/2014/main" id="{A868F229-7840-DB66-5381-C72021610238}"/>
              </a:ext>
            </a:extLst>
          </p:cNvPr>
          <p:cNvSpPr txBox="1"/>
          <p:nvPr/>
        </p:nvSpPr>
        <p:spPr>
          <a:xfrm>
            <a:off x="4386144" y="4268075"/>
            <a:ext cx="5596056" cy="338554"/>
          </a:xfrm>
          <a:prstGeom prst="rect">
            <a:avLst/>
          </a:prstGeom>
          <a:noFill/>
        </p:spPr>
        <p:txBody>
          <a:bodyPr wrap="square">
            <a:spAutoFit/>
          </a:bodyPr>
          <a:lstStyle/>
          <a:p>
            <a:r>
              <a:rPr lang="en-US" sz="1600" dirty="0"/>
              <a:t>+ range of conditions for each hole</a:t>
            </a:r>
            <a:endParaRPr lang="en-IL" sz="1600" dirty="0"/>
          </a:p>
        </p:txBody>
      </p:sp>
      <p:cxnSp>
        <p:nvCxnSpPr>
          <p:cNvPr id="23" name="Straight Arrow Connector 22">
            <a:extLst>
              <a:ext uri="{FF2B5EF4-FFF2-40B4-BE49-F238E27FC236}">
                <a16:creationId xmlns:a16="http://schemas.microsoft.com/office/drawing/2014/main" id="{DBB3F312-3CF8-877F-E125-ADB4CAA0E8E3}"/>
              </a:ext>
            </a:extLst>
          </p:cNvPr>
          <p:cNvCxnSpPr>
            <a:stCxn id="10" idx="3"/>
            <a:endCxn id="6" idx="1"/>
          </p:cNvCxnSpPr>
          <p:nvPr/>
        </p:nvCxnSpPr>
        <p:spPr>
          <a:xfrm>
            <a:off x="1969324" y="3273698"/>
            <a:ext cx="128016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B9B4596-720D-23BC-CC26-EF7683BD24DF}"/>
              </a:ext>
            </a:extLst>
          </p:cNvPr>
          <p:cNvSpPr txBox="1"/>
          <p:nvPr/>
        </p:nvSpPr>
        <p:spPr>
          <a:xfrm>
            <a:off x="532122" y="4712331"/>
            <a:ext cx="1579278" cy="400110"/>
          </a:xfrm>
          <a:prstGeom prst="rect">
            <a:avLst/>
          </a:prstGeom>
          <a:noFill/>
        </p:spPr>
        <p:txBody>
          <a:bodyPr wrap="none" rtlCol="0">
            <a:spAutoFit/>
          </a:bodyPr>
          <a:lstStyle/>
          <a:p>
            <a:r>
              <a:rPr lang="en-US" sz="2000" dirty="0"/>
              <a:t>Grammar </a:t>
            </a:r>
            <a:r>
              <a:rPr lang="en-US" sz="2000" i="1" dirty="0">
                <a:latin typeface="Bahnschrift SemiCondensed" panose="020B0502040204020203" pitchFamily="34" charset="0"/>
              </a:rPr>
              <a:t>G</a:t>
            </a:r>
            <a:r>
              <a:rPr lang="en-US" sz="2000" dirty="0"/>
              <a:t> </a:t>
            </a:r>
            <a:endParaRPr lang="en-IL" sz="2000" dirty="0"/>
          </a:p>
        </p:txBody>
      </p:sp>
      <p:cxnSp>
        <p:nvCxnSpPr>
          <p:cNvPr id="15" name="Straight Arrow Connector 14">
            <a:extLst>
              <a:ext uri="{FF2B5EF4-FFF2-40B4-BE49-F238E27FC236}">
                <a16:creationId xmlns:a16="http://schemas.microsoft.com/office/drawing/2014/main" id="{09952EB5-8672-77D8-E2E5-0CB7255CD31B}"/>
              </a:ext>
            </a:extLst>
          </p:cNvPr>
          <p:cNvCxnSpPr>
            <a:cxnSpLocks/>
            <a:stCxn id="11" idx="3"/>
          </p:cNvCxnSpPr>
          <p:nvPr/>
        </p:nvCxnSpPr>
        <p:spPr>
          <a:xfrm>
            <a:off x="2111400" y="4912386"/>
            <a:ext cx="559605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CD89CC7A-1392-EE05-BDC2-4AD914FD75E7}"/>
              </a:ext>
            </a:extLst>
          </p:cNvPr>
          <p:cNvCxnSpPr>
            <a:cxnSpLocks/>
          </p:cNvCxnSpPr>
          <p:nvPr/>
        </p:nvCxnSpPr>
        <p:spPr>
          <a:xfrm flipV="1">
            <a:off x="5822564" y="2514343"/>
            <a:ext cx="4487119" cy="495389"/>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05C7343B-347D-5EDE-0F6F-F2951598232B}"/>
              </a:ext>
            </a:extLst>
          </p:cNvPr>
          <p:cNvSpPr txBox="1"/>
          <p:nvPr/>
        </p:nvSpPr>
        <p:spPr>
          <a:xfrm>
            <a:off x="5890969" y="2593279"/>
            <a:ext cx="2899144" cy="400110"/>
          </a:xfrm>
          <a:prstGeom prst="rect">
            <a:avLst/>
          </a:prstGeom>
          <a:noFill/>
        </p:spPr>
        <p:txBody>
          <a:bodyPr wrap="square" rtlCol="0">
            <a:spAutoFit/>
          </a:bodyPr>
          <a:lstStyle/>
          <a:p>
            <a:r>
              <a:rPr lang="en-US" sz="2000" dirty="0"/>
              <a:t>Unrealizable </a:t>
            </a:r>
          </a:p>
        </p:txBody>
      </p:sp>
      <p:cxnSp>
        <p:nvCxnSpPr>
          <p:cNvPr id="33" name="Connector: Elbow 32">
            <a:extLst>
              <a:ext uri="{FF2B5EF4-FFF2-40B4-BE49-F238E27FC236}">
                <a16:creationId xmlns:a16="http://schemas.microsoft.com/office/drawing/2014/main" id="{07A90B7F-95DB-3B32-DAF0-06D6CC4D28ED}"/>
              </a:ext>
            </a:extLst>
          </p:cNvPr>
          <p:cNvCxnSpPr>
            <a:cxnSpLocks/>
          </p:cNvCxnSpPr>
          <p:nvPr/>
        </p:nvCxnSpPr>
        <p:spPr>
          <a:xfrm>
            <a:off x="5814280" y="3781088"/>
            <a:ext cx="1893177" cy="472828"/>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BAF97C9C-05AA-6029-9F6B-B24C1A497AB4}"/>
              </a:ext>
            </a:extLst>
          </p:cNvPr>
          <p:cNvSpPr/>
          <p:nvPr/>
        </p:nvSpPr>
        <p:spPr>
          <a:xfrm>
            <a:off x="7707458" y="3955568"/>
            <a:ext cx="1489706" cy="1243132"/>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effectLst>
                  <a:outerShdw blurRad="38100" dist="38100" dir="2700000" algn="tl">
                    <a:srgbClr val="000000">
                      <a:alpha val="43137"/>
                    </a:srgbClr>
                  </a:outerShdw>
                </a:effectLst>
              </a:rPr>
              <a:t>SyGuS</a:t>
            </a:r>
            <a:endParaRPr lang="en-IL" sz="3600" dirty="0">
              <a:effectLst>
                <a:outerShdw blurRad="38100" dist="38100" dir="2700000" algn="tl">
                  <a:srgbClr val="000000">
                    <a:alpha val="43137"/>
                  </a:srgbClr>
                </a:outerShdw>
              </a:effectLst>
            </a:endParaRPr>
          </a:p>
        </p:txBody>
      </p:sp>
      <p:cxnSp>
        <p:nvCxnSpPr>
          <p:cNvPr id="27" name="Connector: Elbow 26">
            <a:extLst>
              <a:ext uri="{FF2B5EF4-FFF2-40B4-BE49-F238E27FC236}">
                <a16:creationId xmlns:a16="http://schemas.microsoft.com/office/drawing/2014/main" id="{D466C987-E723-D16D-2B39-9B9F44F249BA}"/>
              </a:ext>
            </a:extLst>
          </p:cNvPr>
          <p:cNvCxnSpPr>
            <a:stCxn id="5" idx="3"/>
          </p:cNvCxnSpPr>
          <p:nvPr/>
        </p:nvCxnSpPr>
        <p:spPr>
          <a:xfrm flipV="1">
            <a:off x="9197164" y="2510934"/>
            <a:ext cx="393403" cy="2066200"/>
          </a:xfrm>
          <a:prstGeom prst="bentConnector2">
            <a:avLst/>
          </a:prstGeom>
          <a:ln w="38100"/>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BD9C45BC-0EEF-246B-49F1-AA4467AD6C37}"/>
              </a:ext>
            </a:extLst>
          </p:cNvPr>
          <p:cNvSpPr txBox="1"/>
          <p:nvPr/>
        </p:nvSpPr>
        <p:spPr>
          <a:xfrm rot="16200000">
            <a:off x="7972764" y="2702377"/>
            <a:ext cx="2899144" cy="400110"/>
          </a:xfrm>
          <a:prstGeom prst="rect">
            <a:avLst/>
          </a:prstGeom>
          <a:noFill/>
        </p:spPr>
        <p:txBody>
          <a:bodyPr wrap="square" rtlCol="0">
            <a:spAutoFit/>
          </a:bodyPr>
          <a:lstStyle/>
          <a:p>
            <a:r>
              <a:rPr lang="en-US" sz="2000" dirty="0"/>
              <a:t>Unrealizable </a:t>
            </a:r>
          </a:p>
        </p:txBody>
      </p:sp>
      <p:cxnSp>
        <p:nvCxnSpPr>
          <p:cNvPr id="30" name="Straight Arrow Connector 29">
            <a:extLst>
              <a:ext uri="{FF2B5EF4-FFF2-40B4-BE49-F238E27FC236}">
                <a16:creationId xmlns:a16="http://schemas.microsoft.com/office/drawing/2014/main" id="{8299ED92-BC69-3B99-1E12-0144700799EF}"/>
              </a:ext>
            </a:extLst>
          </p:cNvPr>
          <p:cNvCxnSpPr/>
          <p:nvPr/>
        </p:nvCxnSpPr>
        <p:spPr>
          <a:xfrm>
            <a:off x="9222281" y="4912386"/>
            <a:ext cx="1087402"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24B17848-C77F-1487-18E7-CF3FC12B061D}"/>
              </a:ext>
            </a:extLst>
          </p:cNvPr>
          <p:cNvSpPr txBox="1"/>
          <p:nvPr/>
        </p:nvSpPr>
        <p:spPr>
          <a:xfrm>
            <a:off x="10309683" y="4712331"/>
            <a:ext cx="2899144" cy="400110"/>
          </a:xfrm>
          <a:prstGeom prst="rect">
            <a:avLst/>
          </a:prstGeom>
          <a:noFill/>
        </p:spPr>
        <p:txBody>
          <a:bodyPr wrap="square" rtlCol="0">
            <a:spAutoFit/>
          </a:bodyPr>
          <a:lstStyle/>
          <a:p>
            <a:r>
              <a:rPr lang="en-US" sz="2000" dirty="0"/>
              <a:t>Realizable </a:t>
            </a:r>
          </a:p>
        </p:txBody>
      </p:sp>
      <p:sp>
        <p:nvSpPr>
          <p:cNvPr id="32" name="TextBox 31">
            <a:extLst>
              <a:ext uri="{FF2B5EF4-FFF2-40B4-BE49-F238E27FC236}">
                <a16:creationId xmlns:a16="http://schemas.microsoft.com/office/drawing/2014/main" id="{22382BDD-29DC-18F0-D51B-FB74D0509A00}"/>
              </a:ext>
            </a:extLst>
          </p:cNvPr>
          <p:cNvSpPr txBox="1"/>
          <p:nvPr/>
        </p:nvSpPr>
        <p:spPr>
          <a:xfrm>
            <a:off x="9982200" y="5012661"/>
            <a:ext cx="4000501" cy="338554"/>
          </a:xfrm>
          <a:prstGeom prst="rect">
            <a:avLst/>
          </a:prstGeom>
          <a:noFill/>
        </p:spPr>
        <p:txBody>
          <a:bodyPr wrap="square">
            <a:spAutoFit/>
          </a:bodyPr>
          <a:lstStyle/>
          <a:p>
            <a:r>
              <a:rPr lang="en-US" sz="1600" dirty="0"/>
              <a:t>+ solution in grammar</a:t>
            </a:r>
            <a:endParaRPr lang="en-IL" sz="1600" dirty="0"/>
          </a:p>
        </p:txBody>
      </p:sp>
      <p:sp>
        <p:nvSpPr>
          <p:cNvPr id="35" name="Rectangle: Rounded Corners 34">
            <a:extLst>
              <a:ext uri="{FF2B5EF4-FFF2-40B4-BE49-F238E27FC236}">
                <a16:creationId xmlns:a16="http://schemas.microsoft.com/office/drawing/2014/main" id="{9A1034A1-D456-3AA0-3217-234F660B8A72}"/>
              </a:ext>
            </a:extLst>
          </p:cNvPr>
          <p:cNvSpPr/>
          <p:nvPr/>
        </p:nvSpPr>
        <p:spPr>
          <a:xfrm>
            <a:off x="9197164" y="447725"/>
            <a:ext cx="2765621" cy="154201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It is possible to split the synthesis of different holes into different </a:t>
            </a:r>
            <a:r>
              <a:rPr lang="en-US" dirty="0" err="1"/>
              <a:t>SyGuS</a:t>
            </a:r>
            <a:r>
              <a:rPr lang="en-US" dirty="0"/>
              <a:t> queries!</a:t>
            </a:r>
            <a:endParaRPr lang="en-IL" dirty="0"/>
          </a:p>
        </p:txBody>
      </p:sp>
      <p:sp>
        <p:nvSpPr>
          <p:cNvPr id="36" name="Star: 5 Points 35">
            <a:extLst>
              <a:ext uri="{FF2B5EF4-FFF2-40B4-BE49-F238E27FC236}">
                <a16:creationId xmlns:a16="http://schemas.microsoft.com/office/drawing/2014/main" id="{2551603E-D724-D0AE-C300-02561BE38526}"/>
              </a:ext>
            </a:extLst>
          </p:cNvPr>
          <p:cNvSpPr/>
          <p:nvPr/>
        </p:nvSpPr>
        <p:spPr>
          <a:xfrm>
            <a:off x="11479087" y="1528850"/>
            <a:ext cx="691116" cy="637150"/>
          </a:xfrm>
          <a:prstGeom prst="star5">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L"/>
          </a:p>
        </p:txBody>
      </p:sp>
      <p:cxnSp>
        <p:nvCxnSpPr>
          <p:cNvPr id="37" name="Straight Arrow Connector 36">
            <a:extLst>
              <a:ext uri="{FF2B5EF4-FFF2-40B4-BE49-F238E27FC236}">
                <a16:creationId xmlns:a16="http://schemas.microsoft.com/office/drawing/2014/main" id="{300CB234-4641-663A-FB60-9A52A3D6BD58}"/>
              </a:ext>
            </a:extLst>
          </p:cNvPr>
          <p:cNvCxnSpPr>
            <a:cxnSpLocks/>
          </p:cNvCxnSpPr>
          <p:nvPr/>
        </p:nvCxnSpPr>
        <p:spPr>
          <a:xfrm>
            <a:off x="2111400" y="4912386"/>
            <a:ext cx="113808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769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4" grpId="0"/>
      <p:bldP spid="26" grpId="0"/>
      <p:bldP spid="5" grpId="0" animBg="1"/>
      <p:bldP spid="28" grpId="0"/>
      <p:bldP spid="31" grpId="0"/>
      <p:bldP spid="32" grpId="0"/>
      <p:bldP spid="35" grpId="0" animBg="1"/>
      <p:bldP spid="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5D8A0-9399-4273-AAD0-61EF2FDB3A30}"/>
              </a:ext>
            </a:extLst>
          </p:cNvPr>
          <p:cNvSpPr>
            <a:spLocks noGrp="1"/>
          </p:cNvSpPr>
          <p:nvPr>
            <p:ph type="title"/>
          </p:nvPr>
        </p:nvSpPr>
        <p:spPr/>
        <p:txBody>
          <a:bodyPr/>
          <a:lstStyle/>
          <a:p>
            <a:r>
              <a:rPr lang="en-US" dirty="0">
                <a:solidFill>
                  <a:srgbClr val="FF0066"/>
                </a:solidFill>
              </a:rPr>
              <a:t>Conclusion</a:t>
            </a:r>
            <a:endParaRPr lang="he-IL" dirty="0">
              <a:solidFill>
                <a:srgbClr val="FF0066"/>
              </a:solidFill>
            </a:endParaRPr>
          </a:p>
        </p:txBody>
      </p:sp>
      <p:sp>
        <p:nvSpPr>
          <p:cNvPr id="3" name="Content Placeholder 2">
            <a:extLst>
              <a:ext uri="{FF2B5EF4-FFF2-40B4-BE49-F238E27FC236}">
                <a16:creationId xmlns:a16="http://schemas.microsoft.com/office/drawing/2014/main" id="{482B4E15-6597-4ABF-B0DB-88039776AD19}"/>
              </a:ext>
            </a:extLst>
          </p:cNvPr>
          <p:cNvSpPr>
            <a:spLocks noGrp="1"/>
          </p:cNvSpPr>
          <p:nvPr>
            <p:ph idx="1"/>
          </p:nvPr>
        </p:nvSpPr>
        <p:spPr/>
        <p:txBody>
          <a:bodyPr/>
          <a:lstStyle/>
          <a:p>
            <a:r>
              <a:rPr lang="en-US" dirty="0"/>
              <a:t>We present a novel approach for the (un)realizability of the condition synthesis problem</a:t>
            </a:r>
          </a:p>
          <a:p>
            <a:pPr lvl="1"/>
            <a:r>
              <a:rPr lang="en-US" dirty="0"/>
              <a:t>via the existence of initial doomed states</a:t>
            </a:r>
          </a:p>
          <a:p>
            <a:pPr lvl="1"/>
            <a:r>
              <a:rPr lang="en-US" dirty="0"/>
              <a:t>via reduction to CHCs</a:t>
            </a:r>
            <a:br>
              <a:rPr lang="en-US" dirty="0"/>
            </a:br>
            <a:endParaRPr lang="en-US" dirty="0"/>
          </a:p>
          <a:p>
            <a:r>
              <a:rPr lang="en-US" dirty="0" err="1"/>
              <a:t>CoSyn</a:t>
            </a:r>
            <a:r>
              <a:rPr lang="en-US" dirty="0"/>
              <a:t> accompanies its results with </a:t>
            </a:r>
            <a:r>
              <a:rPr lang="en-US" dirty="0">
                <a:solidFill>
                  <a:srgbClr val="FF0000"/>
                </a:solidFill>
              </a:rPr>
              <a:t>evidences</a:t>
            </a:r>
            <a:br>
              <a:rPr lang="en-US" dirty="0">
                <a:solidFill>
                  <a:srgbClr val="FF0000"/>
                </a:solidFill>
              </a:rPr>
            </a:br>
            <a:endParaRPr lang="en-US" dirty="0">
              <a:solidFill>
                <a:srgbClr val="FF0000"/>
              </a:solidFill>
            </a:endParaRPr>
          </a:p>
          <a:p>
            <a:r>
              <a:rPr lang="en-US" dirty="0"/>
              <a:t>We show that combining </a:t>
            </a:r>
            <a:r>
              <a:rPr lang="en-US" dirty="0" err="1"/>
              <a:t>CoSyn</a:t>
            </a:r>
            <a:r>
              <a:rPr lang="en-US" dirty="0"/>
              <a:t> with </a:t>
            </a:r>
            <a:r>
              <a:rPr lang="en-US" dirty="0" err="1"/>
              <a:t>SyGus</a:t>
            </a:r>
            <a:r>
              <a:rPr lang="en-US" dirty="0"/>
              <a:t> results in</a:t>
            </a:r>
          </a:p>
          <a:p>
            <a:pPr lvl="1"/>
            <a:r>
              <a:rPr lang="en-US" dirty="0">
                <a:solidFill>
                  <a:srgbClr val="FF0000"/>
                </a:solidFill>
              </a:rPr>
              <a:t>Definite</a:t>
            </a:r>
            <a:r>
              <a:rPr lang="en-US" dirty="0"/>
              <a:t> result for the </a:t>
            </a:r>
            <a:r>
              <a:rPr lang="en-US" dirty="0">
                <a:solidFill>
                  <a:srgbClr val="0000FF"/>
                </a:solidFill>
              </a:rPr>
              <a:t>unrealizable</a:t>
            </a:r>
            <a:r>
              <a:rPr lang="en-US" dirty="0"/>
              <a:t> cases</a:t>
            </a:r>
          </a:p>
          <a:p>
            <a:pPr lvl="1"/>
            <a:r>
              <a:rPr lang="en-US" dirty="0">
                <a:solidFill>
                  <a:srgbClr val="FF0000"/>
                </a:solidFill>
              </a:rPr>
              <a:t>More syntactically appealing </a:t>
            </a:r>
            <a:r>
              <a:rPr lang="en-US" dirty="0"/>
              <a:t>conditions for the </a:t>
            </a:r>
            <a:r>
              <a:rPr lang="en-US" dirty="0">
                <a:solidFill>
                  <a:srgbClr val="0000FF"/>
                </a:solidFill>
              </a:rPr>
              <a:t>realizable</a:t>
            </a:r>
            <a:r>
              <a:rPr lang="en-US" dirty="0"/>
              <a:t> cases </a:t>
            </a:r>
            <a:endParaRPr lang="he-IL" dirty="0"/>
          </a:p>
        </p:txBody>
      </p:sp>
      <p:sp>
        <p:nvSpPr>
          <p:cNvPr id="4" name="Slide Number Placeholder 3">
            <a:extLst>
              <a:ext uri="{FF2B5EF4-FFF2-40B4-BE49-F238E27FC236}">
                <a16:creationId xmlns:a16="http://schemas.microsoft.com/office/drawing/2014/main" id="{76B26822-4B48-4D48-9D30-83FD28994AD1}"/>
              </a:ext>
            </a:extLst>
          </p:cNvPr>
          <p:cNvSpPr>
            <a:spLocks noGrp="1"/>
          </p:cNvSpPr>
          <p:nvPr>
            <p:ph type="sldNum" sz="quarter" idx="12"/>
          </p:nvPr>
        </p:nvSpPr>
        <p:spPr/>
        <p:txBody>
          <a:bodyPr/>
          <a:lstStyle/>
          <a:p>
            <a:fld id="{17E68F78-0373-4497-8506-82E0664339AD}" type="slidenum">
              <a:rPr lang="en-US" smtClean="0"/>
              <a:t>16</a:t>
            </a:fld>
            <a:endParaRPr lang="en-US"/>
          </a:p>
        </p:txBody>
      </p:sp>
    </p:spTree>
    <p:extLst>
      <p:ext uri="{BB962C8B-B14F-4D97-AF65-F5344CB8AC3E}">
        <p14:creationId xmlns:p14="http://schemas.microsoft.com/office/powerpoint/2010/main" val="1936445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921C4-9D3B-AB5A-CDE2-7CEAD228596F}"/>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A8FEC111-08A0-054B-0429-C9F75F6F61BF}"/>
              </a:ext>
            </a:extLst>
          </p:cNvPr>
          <p:cNvSpPr>
            <a:spLocks noGrp="1"/>
          </p:cNvSpPr>
          <p:nvPr>
            <p:ph idx="1"/>
          </p:nvPr>
        </p:nvSpPr>
        <p:spPr/>
        <p:txBody>
          <a:bodyPr>
            <a:normAutofit/>
          </a:bodyPr>
          <a:lstStyle/>
          <a:p>
            <a:pPr marL="0" indent="0" algn="ctr">
              <a:buNone/>
            </a:pPr>
            <a:endParaRPr lang="en-US" sz="4400" dirty="0">
              <a:solidFill>
                <a:schemeClr val="accent6"/>
              </a:solidFill>
            </a:endParaRPr>
          </a:p>
          <a:p>
            <a:pPr marL="0" indent="0" algn="ctr">
              <a:buNone/>
            </a:pPr>
            <a:endParaRPr lang="en-US" sz="4400" dirty="0">
              <a:solidFill>
                <a:schemeClr val="accent6"/>
              </a:solidFill>
            </a:endParaRPr>
          </a:p>
          <a:p>
            <a:pPr marL="0" indent="0" algn="ctr">
              <a:buNone/>
            </a:pPr>
            <a:r>
              <a:rPr lang="en-US" sz="4400" dirty="0">
                <a:solidFill>
                  <a:schemeClr val="accent6"/>
                </a:solidFill>
              </a:rPr>
              <a:t>Questions?</a:t>
            </a:r>
            <a:endParaRPr lang="en-IL" sz="4400" dirty="0">
              <a:solidFill>
                <a:schemeClr val="accent6"/>
              </a:solidFill>
            </a:endParaRPr>
          </a:p>
        </p:txBody>
      </p:sp>
      <p:sp>
        <p:nvSpPr>
          <p:cNvPr id="4" name="Slide Number Placeholder 3">
            <a:extLst>
              <a:ext uri="{FF2B5EF4-FFF2-40B4-BE49-F238E27FC236}">
                <a16:creationId xmlns:a16="http://schemas.microsoft.com/office/drawing/2014/main" id="{E3E961FE-ED1D-244F-48F1-DF417154A147}"/>
              </a:ext>
            </a:extLst>
          </p:cNvPr>
          <p:cNvSpPr>
            <a:spLocks noGrp="1"/>
          </p:cNvSpPr>
          <p:nvPr>
            <p:ph type="sldNum" sz="quarter" idx="12"/>
          </p:nvPr>
        </p:nvSpPr>
        <p:spPr/>
        <p:txBody>
          <a:bodyPr/>
          <a:lstStyle/>
          <a:p>
            <a:fld id="{2D155C46-B3B3-224E-8B19-B7676C4F0E9B}" type="slidenum">
              <a:rPr lang="en-US" smtClean="0"/>
              <a:t>17</a:t>
            </a:fld>
            <a:endParaRPr lang="en-US"/>
          </a:p>
        </p:txBody>
      </p:sp>
    </p:spTree>
    <p:extLst>
      <p:ext uri="{BB962C8B-B14F-4D97-AF65-F5344CB8AC3E}">
        <p14:creationId xmlns:p14="http://schemas.microsoft.com/office/powerpoint/2010/main" val="1520852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DF199-AF41-AB28-7357-E12051121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250B7-C506-0963-EC6D-82EE224660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DFEB7AA-9761-EA4C-EBB0-2542BAC261C9}"/>
              </a:ext>
            </a:extLst>
          </p:cNvPr>
          <p:cNvSpPr>
            <a:spLocks noGrp="1"/>
          </p:cNvSpPr>
          <p:nvPr>
            <p:ph idx="1"/>
          </p:nvPr>
        </p:nvSpPr>
        <p:spPr/>
        <p:txBody>
          <a:bodyPr>
            <a:normAutofit/>
          </a:bodyPr>
          <a:lstStyle/>
          <a:p>
            <a:pPr marL="0" indent="0" algn="ctr">
              <a:buNone/>
            </a:pPr>
            <a:endParaRPr lang="en-US" sz="3600" dirty="0">
              <a:solidFill>
                <a:srgbClr val="0000FF"/>
              </a:solidFill>
            </a:endParaRPr>
          </a:p>
          <a:p>
            <a:pPr marL="0" indent="0" algn="ctr">
              <a:buNone/>
            </a:pPr>
            <a:r>
              <a:rPr lang="en-US" sz="3600">
                <a:solidFill>
                  <a:srgbClr val="0000FF"/>
                </a:solidFill>
              </a:rPr>
              <a:t>Application </a:t>
            </a:r>
            <a:r>
              <a:rPr lang="en-US" sz="3600" dirty="0">
                <a:solidFill>
                  <a:srgbClr val="0000FF"/>
                </a:solidFill>
              </a:rPr>
              <a:t>2</a:t>
            </a:r>
            <a:r>
              <a:rPr lang="en-US" sz="3600">
                <a:solidFill>
                  <a:srgbClr val="0000FF"/>
                </a:solidFill>
              </a:rPr>
              <a:t> </a:t>
            </a:r>
            <a:r>
              <a:rPr lang="en-US" sz="3600" dirty="0">
                <a:solidFill>
                  <a:srgbClr val="0000FF"/>
                </a:solidFill>
              </a:rPr>
              <a:t>of CHCs</a:t>
            </a:r>
          </a:p>
        </p:txBody>
      </p:sp>
      <p:sp>
        <p:nvSpPr>
          <p:cNvPr id="4" name="Footer Placeholder 3">
            <a:extLst>
              <a:ext uri="{FF2B5EF4-FFF2-40B4-BE49-F238E27FC236}">
                <a16:creationId xmlns:a16="http://schemas.microsoft.com/office/drawing/2014/main" id="{C30EED73-9B8A-4666-FED5-E86E14BB8313}"/>
              </a:ext>
            </a:extLst>
          </p:cNvPr>
          <p:cNvSpPr>
            <a:spLocks noGrp="1"/>
          </p:cNvSpPr>
          <p:nvPr>
            <p:ph type="ftr" sz="quarter" idx="11"/>
          </p:nvPr>
        </p:nvSpPr>
        <p:spPr>
          <a:xfrm>
            <a:off x="838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Chapter 4</a:t>
            </a:r>
            <a:endParaRPr lang="en-US" dirty="0"/>
          </a:p>
        </p:txBody>
      </p:sp>
      <p:sp>
        <p:nvSpPr>
          <p:cNvPr id="5" name="Slide Number Placeholder 4">
            <a:extLst>
              <a:ext uri="{FF2B5EF4-FFF2-40B4-BE49-F238E27FC236}">
                <a16:creationId xmlns:a16="http://schemas.microsoft.com/office/drawing/2014/main" id="{D8CBF11E-7035-4FCA-DFDE-27FC8DB2FBEF}"/>
              </a:ext>
            </a:extLst>
          </p:cNvPr>
          <p:cNvSpPr>
            <a:spLocks noGrp="1"/>
          </p:cNvSpPr>
          <p:nvPr>
            <p:ph type="sldNum" sz="quarter" idx="12"/>
          </p:nvPr>
        </p:nvSpPr>
        <p:spPr/>
        <p:txBody>
          <a:bodyPr/>
          <a:lstStyle/>
          <a:p>
            <a:fld id="{2D155C46-B3B3-224E-8B19-B7676C4F0E9B}" type="slidenum">
              <a:rPr lang="en-US" smtClean="0"/>
              <a:t>18</a:t>
            </a:fld>
            <a:endParaRPr lang="en-US"/>
          </a:p>
        </p:txBody>
      </p:sp>
    </p:spTree>
    <p:extLst>
      <p:ext uri="{BB962C8B-B14F-4D97-AF65-F5344CB8AC3E}">
        <p14:creationId xmlns:p14="http://schemas.microsoft.com/office/powerpoint/2010/main" val="884896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4B55C34-2FF9-49C1-B94B-2AA0CAB3F6D1}"/>
              </a:ext>
            </a:extLst>
          </p:cNvPr>
          <p:cNvSpPr>
            <a:spLocks noGrp="1"/>
          </p:cNvSpPr>
          <p:nvPr>
            <p:ph type="ctrTitle"/>
          </p:nvPr>
        </p:nvSpPr>
        <p:spPr>
          <a:xfrm>
            <a:off x="1090696" y="780341"/>
            <a:ext cx="9144000" cy="852211"/>
          </a:xfrm>
        </p:spPr>
        <p:txBody>
          <a:bodyPr>
            <a:noAutofit/>
          </a:bodyPr>
          <a:lstStyle/>
          <a:p>
            <a:pPr eaLnBrk="0" fontAlgn="base" hangingPunct="0">
              <a:lnSpc>
                <a:spcPct val="100000"/>
              </a:lnSpc>
              <a:spcBef>
                <a:spcPct val="20000"/>
              </a:spcBef>
              <a:spcAft>
                <a:spcPct val="0"/>
              </a:spcAft>
            </a:pPr>
            <a:r>
              <a:rPr lang="en-US" sz="3600" dirty="0">
                <a:ea typeface="+mn-ea"/>
                <a:cs typeface="+mn-cs"/>
              </a:rPr>
              <a:t>CTL* verification and Synthesis using</a:t>
            </a:r>
          </a:p>
        </p:txBody>
      </p:sp>
      <p:sp>
        <p:nvSpPr>
          <p:cNvPr id="8" name="TextBox 7">
            <a:extLst>
              <a:ext uri="{FF2B5EF4-FFF2-40B4-BE49-F238E27FC236}">
                <a16:creationId xmlns:a16="http://schemas.microsoft.com/office/drawing/2014/main" id="{37A1845C-B293-461E-BFE1-7F9B6CEA2DA7}"/>
              </a:ext>
            </a:extLst>
          </p:cNvPr>
          <p:cNvSpPr txBox="1"/>
          <p:nvPr/>
        </p:nvSpPr>
        <p:spPr>
          <a:xfrm>
            <a:off x="1232806" y="1553172"/>
            <a:ext cx="9423740" cy="646331"/>
          </a:xfrm>
          <a:prstGeom prst="rect">
            <a:avLst/>
          </a:prstGeom>
          <a:noFill/>
        </p:spPr>
        <p:txBody>
          <a:bodyPr wrap="square" rtlCol="0">
            <a:spAutoFit/>
          </a:bodyPr>
          <a:lstStyle/>
          <a:p>
            <a:pPr lvl="0" algn="ctr" eaLnBrk="0" fontAlgn="base" hangingPunct="0">
              <a:spcBef>
                <a:spcPct val="20000"/>
              </a:spcBef>
              <a:spcAft>
                <a:spcPct val="0"/>
              </a:spcAft>
              <a:defRPr/>
            </a:pPr>
            <a:r>
              <a:rPr lang="en-US" sz="3600" dirty="0">
                <a:solidFill>
                  <a:schemeClr val="accent6"/>
                </a:solidFill>
              </a:rPr>
              <a:t>Existential Constrained Horn Clauses (EHC)</a:t>
            </a:r>
          </a:p>
        </p:txBody>
      </p:sp>
      <p:sp>
        <p:nvSpPr>
          <p:cNvPr id="5" name="Subtitle 2">
            <a:extLst>
              <a:ext uri="{FF2B5EF4-FFF2-40B4-BE49-F238E27FC236}">
                <a16:creationId xmlns:a16="http://schemas.microsoft.com/office/drawing/2014/main" id="{123E40FC-AF9A-4ABE-B225-54FC063702D5}"/>
              </a:ext>
            </a:extLst>
          </p:cNvPr>
          <p:cNvSpPr>
            <a:spLocks noGrp="1"/>
          </p:cNvSpPr>
          <p:nvPr>
            <p:ph type="subTitle" idx="1"/>
          </p:nvPr>
        </p:nvSpPr>
        <p:spPr>
          <a:xfrm>
            <a:off x="1090696" y="3560164"/>
            <a:ext cx="9144000" cy="1122480"/>
          </a:xfrm>
        </p:spPr>
        <p:txBody>
          <a:bodyPr>
            <a:normAutofit/>
          </a:bodyPr>
          <a:lstStyle/>
          <a:p>
            <a:pPr lvl="0" eaLnBrk="0" fontAlgn="base" hangingPunct="0">
              <a:lnSpc>
                <a:spcPct val="100000"/>
              </a:lnSpc>
              <a:spcBef>
                <a:spcPct val="20000"/>
              </a:spcBef>
              <a:spcAft>
                <a:spcPct val="0"/>
              </a:spcAft>
            </a:pPr>
            <a:endParaRPr lang="en-US" sz="2800" kern="0" dirty="0">
              <a:solidFill>
                <a:srgbClr val="000000"/>
              </a:solidFill>
              <a:latin typeface="Comic Sans MS"/>
            </a:endParaRPr>
          </a:p>
          <a:p>
            <a:pPr lvl="0" eaLnBrk="0" fontAlgn="base" hangingPunct="0">
              <a:lnSpc>
                <a:spcPct val="100000"/>
              </a:lnSpc>
              <a:spcBef>
                <a:spcPct val="20000"/>
              </a:spcBef>
              <a:spcAft>
                <a:spcPct val="0"/>
              </a:spcAft>
            </a:pPr>
            <a:r>
              <a:rPr lang="en-GB" sz="2800" b="1" kern="0" dirty="0">
                <a:solidFill>
                  <a:srgbClr val="002060"/>
                </a:solidFill>
                <a:latin typeface="Comic Sans MS"/>
              </a:rPr>
              <a:t>            </a:t>
            </a:r>
            <a:endParaRPr lang="en-US" dirty="0"/>
          </a:p>
        </p:txBody>
      </p:sp>
      <p:sp>
        <p:nvSpPr>
          <p:cNvPr id="2" name="Subtitle 2">
            <a:extLst>
              <a:ext uri="{FF2B5EF4-FFF2-40B4-BE49-F238E27FC236}">
                <a16:creationId xmlns:a16="http://schemas.microsoft.com/office/drawing/2014/main" id="{97844943-B5F4-3587-7704-A6413168B319}"/>
              </a:ext>
            </a:extLst>
          </p:cNvPr>
          <p:cNvSpPr txBox="1">
            <a:spLocks/>
          </p:cNvSpPr>
          <p:nvPr/>
        </p:nvSpPr>
        <p:spPr>
          <a:xfrm>
            <a:off x="1232806" y="2957708"/>
            <a:ext cx="9144000" cy="20098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eaLnBrk="0" fontAlgn="base" hangingPunct="0">
              <a:lnSpc>
                <a:spcPct val="100000"/>
              </a:lnSpc>
              <a:spcBef>
                <a:spcPct val="20000"/>
              </a:spcBef>
              <a:spcAft>
                <a:spcPct val="0"/>
              </a:spcAft>
            </a:pPr>
            <a:endParaRPr lang="en-US" sz="1000" kern="0" dirty="0">
              <a:solidFill>
                <a:srgbClr val="000000"/>
              </a:solidFill>
              <a:latin typeface="Comic Sans MS"/>
            </a:endParaRPr>
          </a:p>
          <a:p>
            <a:pPr eaLnBrk="0" fontAlgn="base" hangingPunct="0">
              <a:lnSpc>
                <a:spcPct val="100000"/>
              </a:lnSpc>
              <a:spcBef>
                <a:spcPct val="20000"/>
              </a:spcBef>
              <a:spcAft>
                <a:spcPct val="0"/>
              </a:spcAft>
            </a:pPr>
            <a:r>
              <a:rPr lang="en-GB" sz="2800" b="1" kern="0" dirty="0">
                <a:solidFill>
                  <a:srgbClr val="002060"/>
                </a:solidFill>
                <a:latin typeface="Comic Sans MS"/>
              </a:rPr>
              <a:t> </a:t>
            </a:r>
            <a:r>
              <a:rPr lang="en-GB" sz="2800" dirty="0"/>
              <a:t>Mishel Carelli and Orna Grumberg</a:t>
            </a:r>
          </a:p>
          <a:p>
            <a:pPr eaLnBrk="0" fontAlgn="base" hangingPunct="0">
              <a:lnSpc>
                <a:spcPct val="100000"/>
              </a:lnSpc>
              <a:spcBef>
                <a:spcPct val="20000"/>
              </a:spcBef>
              <a:spcAft>
                <a:spcPct val="0"/>
              </a:spcAft>
            </a:pPr>
            <a:r>
              <a:rPr lang="en-GB" sz="2800" dirty="0"/>
              <a:t>ATVA 2024</a:t>
            </a:r>
          </a:p>
          <a:p>
            <a:endParaRPr lang="en-US" dirty="0"/>
          </a:p>
        </p:txBody>
      </p:sp>
    </p:spTree>
    <p:extLst>
      <p:ext uri="{BB962C8B-B14F-4D97-AF65-F5344CB8AC3E}">
        <p14:creationId xmlns:p14="http://schemas.microsoft.com/office/powerpoint/2010/main" val="409920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69182-8C2A-BB43-34FB-884A4D6D354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3FDD93A-3774-B29C-CF1C-01D374AF80AC}"/>
              </a:ext>
            </a:extLst>
          </p:cNvPr>
          <p:cNvSpPr>
            <a:spLocks noGrp="1"/>
          </p:cNvSpPr>
          <p:nvPr>
            <p:ph idx="1"/>
          </p:nvPr>
        </p:nvSpPr>
        <p:spPr/>
        <p:txBody>
          <a:bodyPr>
            <a:normAutofit/>
          </a:bodyPr>
          <a:lstStyle/>
          <a:p>
            <a:pPr marL="0" indent="0">
              <a:buNone/>
            </a:pPr>
            <a:r>
              <a:rPr lang="en-US" dirty="0">
                <a:solidFill>
                  <a:schemeClr val="accent6"/>
                </a:solidFill>
              </a:rPr>
              <a:t>Setting: </a:t>
            </a:r>
          </a:p>
          <a:p>
            <a:pPr marL="0" indent="0">
              <a:buNone/>
            </a:pPr>
            <a:r>
              <a:rPr lang="en-US" dirty="0">
                <a:solidFill>
                  <a:schemeClr val="accent3"/>
                </a:solidFill>
              </a:rPr>
              <a:t>Infinite-state</a:t>
            </a:r>
            <a:r>
              <a:rPr lang="en-US" dirty="0"/>
              <a:t> programs with </a:t>
            </a:r>
            <a:r>
              <a:rPr lang="en-US" dirty="0">
                <a:solidFill>
                  <a:schemeClr val="accent3"/>
                </a:solidFill>
              </a:rPr>
              <a:t>FO-CTL*</a:t>
            </a:r>
            <a:r>
              <a:rPr lang="en-US" dirty="0"/>
              <a:t> specification</a:t>
            </a:r>
          </a:p>
          <a:p>
            <a:r>
              <a:rPr lang="en-US" dirty="0"/>
              <a:t>	e.g. </a:t>
            </a:r>
            <a:r>
              <a:rPr lang="en-US" dirty="0">
                <a:solidFill>
                  <a:srgbClr val="0000FF"/>
                </a:solidFill>
              </a:rPr>
              <a:t>AF(a ≤ b),  EG(a = b)</a:t>
            </a:r>
          </a:p>
          <a:p>
            <a:pPr marL="0" indent="0">
              <a:buNone/>
            </a:pPr>
            <a:endParaRPr lang="en-US" dirty="0"/>
          </a:p>
          <a:p>
            <a:pPr marL="0" indent="0">
              <a:buNone/>
            </a:pPr>
            <a:r>
              <a:rPr lang="en-US" dirty="0">
                <a:solidFill>
                  <a:schemeClr val="accent6"/>
                </a:solidFill>
              </a:rPr>
              <a:t>Goal:</a:t>
            </a:r>
          </a:p>
          <a:p>
            <a:r>
              <a:rPr lang="en-US" dirty="0">
                <a:solidFill>
                  <a:schemeClr val="accent3"/>
                </a:solidFill>
              </a:rPr>
              <a:t>Verification</a:t>
            </a:r>
            <a:r>
              <a:rPr lang="en-US" dirty="0"/>
              <a:t> of a program with respect to CTL*</a:t>
            </a:r>
          </a:p>
          <a:p>
            <a:r>
              <a:rPr lang="en-US" dirty="0">
                <a:solidFill>
                  <a:schemeClr val="accent3"/>
                </a:solidFill>
              </a:rPr>
              <a:t>Synthesis</a:t>
            </a:r>
            <a:r>
              <a:rPr lang="en-US" dirty="0"/>
              <a:t> of a partial program to a full program which satisfy </a:t>
            </a:r>
            <a:br>
              <a:rPr lang="en-US" dirty="0"/>
            </a:br>
            <a:r>
              <a:rPr lang="en-US" dirty="0"/>
              <a:t>the  CTL* specification</a:t>
            </a:r>
          </a:p>
        </p:txBody>
      </p:sp>
      <p:sp>
        <p:nvSpPr>
          <p:cNvPr id="4" name="Footer Placeholder 3">
            <a:extLst>
              <a:ext uri="{FF2B5EF4-FFF2-40B4-BE49-F238E27FC236}">
                <a16:creationId xmlns:a16="http://schemas.microsoft.com/office/drawing/2014/main" id="{88BF4E76-B612-BDE9-1A90-39265AA022C1}"/>
              </a:ext>
            </a:extLst>
          </p:cNvPr>
          <p:cNvSpPr>
            <a:spLocks noGrp="1"/>
          </p:cNvSpPr>
          <p:nvPr>
            <p:ph type="ftr" sz="quarter" idx="11"/>
          </p:nvPr>
        </p:nvSpPr>
        <p:spPr>
          <a:xfrm>
            <a:off x="838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Chapter 4</a:t>
            </a:r>
            <a:endParaRPr lang="en-US" dirty="0"/>
          </a:p>
        </p:txBody>
      </p:sp>
      <p:sp>
        <p:nvSpPr>
          <p:cNvPr id="5" name="Slide Number Placeholder 4">
            <a:extLst>
              <a:ext uri="{FF2B5EF4-FFF2-40B4-BE49-F238E27FC236}">
                <a16:creationId xmlns:a16="http://schemas.microsoft.com/office/drawing/2014/main" id="{4B8955CC-9D4C-775F-0032-B2977D5FD103}"/>
              </a:ext>
            </a:extLst>
          </p:cNvPr>
          <p:cNvSpPr>
            <a:spLocks noGrp="1"/>
          </p:cNvSpPr>
          <p:nvPr>
            <p:ph type="sldNum" sz="quarter" idx="12"/>
          </p:nvPr>
        </p:nvSpPr>
        <p:spPr/>
        <p:txBody>
          <a:bodyPr/>
          <a:lstStyle/>
          <a:p>
            <a:fld id="{2D155C46-B3B3-224E-8B19-B7676C4F0E9B}" type="slidenum">
              <a:rPr lang="en-US" smtClean="0"/>
              <a:t>20</a:t>
            </a:fld>
            <a:endParaRPr lang="en-US"/>
          </a:p>
        </p:txBody>
      </p:sp>
    </p:spTree>
    <p:extLst>
      <p:ext uri="{BB962C8B-B14F-4D97-AF65-F5344CB8AC3E}">
        <p14:creationId xmlns:p14="http://schemas.microsoft.com/office/powerpoint/2010/main" val="563900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14F22-02DC-2A06-7B87-6828130D25E2}"/>
              </a:ext>
            </a:extLst>
          </p:cNvPr>
          <p:cNvSpPr>
            <a:spLocks noGrp="1"/>
          </p:cNvSpPr>
          <p:nvPr>
            <p:ph type="title"/>
          </p:nvPr>
        </p:nvSpPr>
        <p:spPr/>
        <p:txBody>
          <a:bodyPr/>
          <a:lstStyle/>
          <a:p>
            <a:r>
              <a:rPr lang="en-US" dirty="0"/>
              <a:t>Difference between the two applications</a:t>
            </a:r>
          </a:p>
        </p:txBody>
      </p:sp>
      <p:sp>
        <p:nvSpPr>
          <p:cNvPr id="3" name="Content Placeholder 2">
            <a:extLst>
              <a:ext uri="{FF2B5EF4-FFF2-40B4-BE49-F238E27FC236}">
                <a16:creationId xmlns:a16="http://schemas.microsoft.com/office/drawing/2014/main" id="{785F4C80-E41C-8B80-2FC5-3A805B9172A6}"/>
              </a:ext>
            </a:extLst>
          </p:cNvPr>
          <p:cNvSpPr>
            <a:spLocks noGrp="1"/>
          </p:cNvSpPr>
          <p:nvPr>
            <p:ph idx="1"/>
          </p:nvPr>
        </p:nvSpPr>
        <p:spPr/>
        <p:txBody>
          <a:bodyPr/>
          <a:lstStyle/>
          <a:p>
            <a:pPr marL="0" indent="0">
              <a:buNone/>
            </a:pPr>
            <a:endParaRPr lang="en-US" dirty="0"/>
          </a:p>
          <a:p>
            <a:r>
              <a:rPr lang="en-US" dirty="0"/>
              <a:t>CTL* specification as opposed to assertions</a:t>
            </a:r>
          </a:p>
          <a:p>
            <a:r>
              <a:rPr lang="en-US" dirty="0"/>
              <a:t>In partial programs, conditions and assertions may be missing</a:t>
            </a:r>
          </a:p>
          <a:p>
            <a:endParaRPr lang="en-US" dirty="0"/>
          </a:p>
          <a:p>
            <a:r>
              <a:rPr lang="en-US" dirty="0"/>
              <a:t>Needs to use Existential Horn Clauses rather than the standard CHC</a:t>
            </a:r>
          </a:p>
          <a:p>
            <a:r>
              <a:rPr lang="en-US" dirty="0"/>
              <a:t>Computing is done forward, not backward</a:t>
            </a:r>
          </a:p>
          <a:p>
            <a:endParaRPr lang="en-US" dirty="0"/>
          </a:p>
        </p:txBody>
      </p:sp>
      <p:sp>
        <p:nvSpPr>
          <p:cNvPr id="4" name="Footer Placeholder 3">
            <a:extLst>
              <a:ext uri="{FF2B5EF4-FFF2-40B4-BE49-F238E27FC236}">
                <a16:creationId xmlns:a16="http://schemas.microsoft.com/office/drawing/2014/main" id="{39FB74DC-B05D-3DEA-491D-10A74AC4F93B}"/>
              </a:ext>
            </a:extLst>
          </p:cNvPr>
          <p:cNvSpPr>
            <a:spLocks noGrp="1"/>
          </p:cNvSpPr>
          <p:nvPr>
            <p:ph type="ftr" sz="quarter" idx="11"/>
          </p:nvPr>
        </p:nvSpPr>
        <p:spPr>
          <a:xfrm>
            <a:off x="838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Chapter 4</a:t>
            </a:r>
            <a:endParaRPr lang="en-US" dirty="0"/>
          </a:p>
        </p:txBody>
      </p:sp>
      <p:sp>
        <p:nvSpPr>
          <p:cNvPr id="5" name="Slide Number Placeholder 4">
            <a:extLst>
              <a:ext uri="{FF2B5EF4-FFF2-40B4-BE49-F238E27FC236}">
                <a16:creationId xmlns:a16="http://schemas.microsoft.com/office/drawing/2014/main" id="{0CEF2C10-7289-2D52-4686-15B2693631C8}"/>
              </a:ext>
            </a:extLst>
          </p:cNvPr>
          <p:cNvSpPr>
            <a:spLocks noGrp="1"/>
          </p:cNvSpPr>
          <p:nvPr>
            <p:ph type="sldNum" sz="quarter" idx="12"/>
          </p:nvPr>
        </p:nvSpPr>
        <p:spPr/>
        <p:txBody>
          <a:bodyPr/>
          <a:lstStyle/>
          <a:p>
            <a:fld id="{2D155C46-B3B3-224E-8B19-B7676C4F0E9B}" type="slidenum">
              <a:rPr lang="en-US" smtClean="0"/>
              <a:t>21</a:t>
            </a:fld>
            <a:endParaRPr lang="en-US"/>
          </a:p>
        </p:txBody>
      </p:sp>
    </p:spTree>
    <p:extLst>
      <p:ext uri="{BB962C8B-B14F-4D97-AF65-F5344CB8AC3E}">
        <p14:creationId xmlns:p14="http://schemas.microsoft.com/office/powerpoint/2010/main" val="3052101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2D403-3C8D-4A3D-9F8E-6B5F591A1526}"/>
              </a:ext>
            </a:extLst>
          </p:cNvPr>
          <p:cNvSpPr>
            <a:spLocks noGrp="1"/>
          </p:cNvSpPr>
          <p:nvPr>
            <p:ph type="title"/>
          </p:nvPr>
        </p:nvSpPr>
        <p:spPr/>
        <p:txBody>
          <a:bodyPr/>
          <a:lstStyle/>
          <a:p>
            <a:r>
              <a:rPr lang="en-US" dirty="0"/>
              <a:t>Limitation of Horn clauses</a:t>
            </a:r>
            <a:endParaRPr lang="he-IL" dirty="0"/>
          </a:p>
        </p:txBody>
      </p:sp>
      <p:sp>
        <p:nvSpPr>
          <p:cNvPr id="3" name="Content Placeholder 2">
            <a:extLst>
              <a:ext uri="{FF2B5EF4-FFF2-40B4-BE49-F238E27FC236}">
                <a16:creationId xmlns:a16="http://schemas.microsoft.com/office/drawing/2014/main" id="{363AC8C5-CFE6-4A8F-8ED9-28A3AAC14E4C}"/>
              </a:ext>
            </a:extLst>
          </p:cNvPr>
          <p:cNvSpPr>
            <a:spLocks noGrp="1"/>
          </p:cNvSpPr>
          <p:nvPr>
            <p:ph idx="1"/>
          </p:nvPr>
        </p:nvSpPr>
        <p:spPr/>
        <p:txBody>
          <a:bodyPr>
            <a:normAutofit/>
          </a:bodyPr>
          <a:lstStyle/>
          <a:p>
            <a:r>
              <a:rPr lang="en-US" dirty="0"/>
              <a:t>CHCs are </a:t>
            </a:r>
            <a:r>
              <a:rPr lang="en-US" b="1" dirty="0">
                <a:solidFill>
                  <a:schemeClr val="accent6"/>
                </a:solidFill>
              </a:rPr>
              <a:t>not sufficient </a:t>
            </a:r>
            <a:r>
              <a:rPr lang="en-US" dirty="0"/>
              <a:t>to check </a:t>
            </a:r>
            <a:r>
              <a:rPr lang="en-US" b="1" dirty="0">
                <a:solidFill>
                  <a:srgbClr val="B307A7"/>
                </a:solidFill>
              </a:rPr>
              <a:t>liveness</a:t>
            </a:r>
            <a:r>
              <a:rPr lang="en-US" dirty="0">
                <a:solidFill>
                  <a:srgbClr val="B307A7"/>
                </a:solidFill>
              </a:rPr>
              <a:t> </a:t>
            </a:r>
            <a:r>
              <a:rPr lang="en-US" dirty="0"/>
              <a:t>and</a:t>
            </a:r>
            <a:r>
              <a:rPr lang="en-US" dirty="0">
                <a:solidFill>
                  <a:srgbClr val="B307A7"/>
                </a:solidFill>
              </a:rPr>
              <a:t> </a:t>
            </a:r>
            <a:r>
              <a:rPr lang="en-US" b="1" dirty="0">
                <a:solidFill>
                  <a:srgbClr val="B307A7"/>
                </a:solidFill>
              </a:rPr>
              <a:t>existential properties </a:t>
            </a:r>
            <a:r>
              <a:rPr lang="en-US" dirty="0"/>
              <a:t>(e.g. </a:t>
            </a:r>
            <a:r>
              <a:rPr lang="en-US" b="1" dirty="0" err="1">
                <a:solidFill>
                  <a:schemeClr val="accent1"/>
                </a:solidFill>
              </a:rPr>
              <a:t>AFp</a:t>
            </a:r>
            <a:r>
              <a:rPr lang="en-US" b="1" dirty="0">
                <a:solidFill>
                  <a:schemeClr val="accent1"/>
                </a:solidFill>
              </a:rPr>
              <a:t>, </a:t>
            </a:r>
            <a:r>
              <a:rPr lang="en-US" b="1" dirty="0" err="1">
                <a:solidFill>
                  <a:schemeClr val="accent1"/>
                </a:solidFill>
              </a:rPr>
              <a:t>EGp</a:t>
            </a:r>
            <a:r>
              <a:rPr lang="en-US" dirty="0"/>
              <a:t>).</a:t>
            </a:r>
          </a:p>
          <a:p>
            <a:r>
              <a:rPr lang="en-US" dirty="0">
                <a:solidFill>
                  <a:srgbClr val="FF0000"/>
                </a:solidFill>
              </a:rPr>
              <a:t>Existentially quantified Horn Clauses (EHC) </a:t>
            </a:r>
            <a:r>
              <a:rPr lang="en-US" dirty="0"/>
              <a:t>are a special type </a:t>
            </a:r>
            <a:br>
              <a:rPr lang="en-US" dirty="0"/>
            </a:br>
            <a:r>
              <a:rPr lang="en-US" dirty="0"/>
              <a:t>of Horn-like clauses that allow  </a:t>
            </a:r>
          </a:p>
          <a:p>
            <a:pPr lvl="1"/>
            <a:r>
              <a:rPr lang="en-US" b="1" dirty="0">
                <a:solidFill>
                  <a:srgbClr val="B307A7"/>
                </a:solidFill>
              </a:rPr>
              <a:t>existential quantification </a:t>
            </a:r>
            <a:r>
              <a:rPr lang="en-US" dirty="0"/>
              <a:t>and </a:t>
            </a:r>
          </a:p>
          <a:p>
            <a:pPr lvl="1"/>
            <a:r>
              <a:rPr lang="en-US" b="1" dirty="0">
                <a:solidFill>
                  <a:srgbClr val="B307A7"/>
                </a:solidFill>
              </a:rPr>
              <a:t>well-</a:t>
            </a:r>
            <a:r>
              <a:rPr lang="en-US" b="1" dirty="0" err="1">
                <a:solidFill>
                  <a:srgbClr val="B307A7"/>
                </a:solidFill>
              </a:rPr>
              <a:t>foundedness</a:t>
            </a:r>
            <a:r>
              <a:rPr lang="en-US" dirty="0"/>
              <a:t> (</a:t>
            </a:r>
            <a:r>
              <a:rPr lang="en-US" dirty="0" err="1"/>
              <a:t>nonexistance</a:t>
            </a:r>
            <a:r>
              <a:rPr lang="en-US" dirty="0"/>
              <a:t> of infinite decreasing chain)</a:t>
            </a:r>
          </a:p>
          <a:p>
            <a:pPr marL="0" indent="0">
              <a:buNone/>
            </a:pPr>
            <a:endParaRPr lang="en-US" sz="3200" dirty="0">
              <a:solidFill>
                <a:srgbClr val="0000FF"/>
              </a:solidFill>
            </a:endParaRPr>
          </a:p>
          <a:p>
            <a:pPr marL="0" indent="0">
              <a:buNone/>
            </a:pPr>
            <a:r>
              <a:rPr lang="en-US">
                <a:solidFill>
                  <a:srgbClr val="0000FF"/>
                </a:solidFill>
              </a:rPr>
              <a:t>In this </a:t>
            </a:r>
            <a:r>
              <a:rPr lang="en-US" dirty="0">
                <a:solidFill>
                  <a:srgbClr val="0000FF"/>
                </a:solidFill>
              </a:rPr>
              <a:t>work, we reduce the problems of CTL* verification and </a:t>
            </a:r>
            <a:br>
              <a:rPr lang="en-US" dirty="0">
                <a:solidFill>
                  <a:srgbClr val="0000FF"/>
                </a:solidFill>
              </a:rPr>
            </a:br>
            <a:r>
              <a:rPr lang="en-US" dirty="0">
                <a:solidFill>
                  <a:srgbClr val="0000FF"/>
                </a:solidFill>
              </a:rPr>
              <a:t>partial synthesis to the problem of EHC satisfiability.</a:t>
            </a:r>
          </a:p>
        </p:txBody>
      </p:sp>
      <p:sp>
        <p:nvSpPr>
          <p:cNvPr id="4" name="Footer Placeholder 3">
            <a:extLst>
              <a:ext uri="{FF2B5EF4-FFF2-40B4-BE49-F238E27FC236}">
                <a16:creationId xmlns:a16="http://schemas.microsoft.com/office/drawing/2014/main" id="{2D2AE07B-6343-407D-A5E4-E498AE5427FE}"/>
              </a:ext>
            </a:extLst>
          </p:cNvPr>
          <p:cNvSpPr>
            <a:spLocks noGrp="1"/>
          </p:cNvSpPr>
          <p:nvPr>
            <p:ph type="ftr" sz="quarter" idx="11"/>
          </p:nvPr>
        </p:nvSpPr>
        <p:spPr>
          <a:xfrm>
            <a:off x="838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Chapter 4</a:t>
            </a:r>
            <a:endParaRPr lang="en-US" dirty="0"/>
          </a:p>
        </p:txBody>
      </p:sp>
      <p:sp>
        <p:nvSpPr>
          <p:cNvPr id="5" name="Slide Number Placeholder 4">
            <a:extLst>
              <a:ext uri="{FF2B5EF4-FFF2-40B4-BE49-F238E27FC236}">
                <a16:creationId xmlns:a16="http://schemas.microsoft.com/office/drawing/2014/main" id="{923B5850-41A2-4D29-B11A-E5AD67CDDA17}"/>
              </a:ext>
            </a:extLst>
          </p:cNvPr>
          <p:cNvSpPr>
            <a:spLocks noGrp="1"/>
          </p:cNvSpPr>
          <p:nvPr>
            <p:ph type="sldNum" sz="quarter" idx="12"/>
          </p:nvPr>
        </p:nvSpPr>
        <p:spPr/>
        <p:txBody>
          <a:bodyPr/>
          <a:lstStyle/>
          <a:p>
            <a:fld id="{2D155C46-B3B3-224E-8B19-B7676C4F0E9B}" type="slidenum">
              <a:rPr lang="en-US" smtClean="0"/>
              <a:t>22</a:t>
            </a:fld>
            <a:endParaRPr lang="en-US"/>
          </a:p>
        </p:txBody>
      </p:sp>
    </p:spTree>
    <p:extLst>
      <p:ext uri="{BB962C8B-B14F-4D97-AF65-F5344CB8AC3E}">
        <p14:creationId xmlns:p14="http://schemas.microsoft.com/office/powerpoint/2010/main" val="163839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F89B8-9E9E-3971-1026-38E521D7F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98A7E-D31A-3D2E-D066-27A2BAB19E53}"/>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1D754B75-4425-C6C1-00F6-A6C457A5E1BD}"/>
              </a:ext>
            </a:extLst>
          </p:cNvPr>
          <p:cNvSpPr>
            <a:spLocks noGrp="1"/>
          </p:cNvSpPr>
          <p:nvPr>
            <p:ph idx="1"/>
          </p:nvPr>
        </p:nvSpPr>
        <p:spPr/>
        <p:txBody>
          <a:bodyPr>
            <a:normAutofit/>
          </a:bodyPr>
          <a:lstStyle/>
          <a:p>
            <a:pPr algn="l"/>
            <a:r>
              <a:rPr lang="en-US" dirty="0">
                <a:latin typeface="SFSS1095"/>
              </a:rPr>
              <a:t>We d</a:t>
            </a:r>
            <a:r>
              <a:rPr lang="en-US" b="0" i="0" u="none" strike="noStrike" baseline="0" dirty="0">
                <a:latin typeface="SFSS1095"/>
              </a:rPr>
              <a:t>eveloped a </a:t>
            </a:r>
            <a:r>
              <a:rPr lang="en-US" b="0" i="0" u="none" strike="noStrike" baseline="0" dirty="0">
                <a:solidFill>
                  <a:srgbClr val="FF0000"/>
                </a:solidFill>
                <a:latin typeface="SFSS1095"/>
              </a:rPr>
              <a:t>translation</a:t>
            </a:r>
            <a:r>
              <a:rPr lang="en-US" b="0" i="0" u="none" strike="noStrike" baseline="0" dirty="0">
                <a:solidFill>
                  <a:srgbClr val="0000FF"/>
                </a:solidFill>
                <a:latin typeface="SFSS1095"/>
              </a:rPr>
              <a:t> </a:t>
            </a:r>
            <a:r>
              <a:rPr lang="en-US" b="0" i="0" u="none" strike="noStrike" baseline="0" dirty="0">
                <a:latin typeface="SFSS1095"/>
              </a:rPr>
              <a:t>from the</a:t>
            </a:r>
            <a:r>
              <a:rPr lang="en-US" b="0" i="0" u="none" strike="noStrike" baseline="0" dirty="0">
                <a:solidFill>
                  <a:srgbClr val="0000FF"/>
                </a:solidFill>
                <a:latin typeface="SFSS1095"/>
              </a:rPr>
              <a:t> </a:t>
            </a:r>
            <a:r>
              <a:rPr lang="en-US" dirty="0">
                <a:solidFill>
                  <a:srgbClr val="0000FF"/>
                </a:solidFill>
              </a:rPr>
              <a:t>CTL*</a:t>
            </a:r>
            <a:r>
              <a:rPr lang="en-US" b="0" i="0" u="none" strike="noStrike" baseline="0" dirty="0">
                <a:solidFill>
                  <a:srgbClr val="0000FF"/>
                </a:solidFill>
                <a:latin typeface="CMSY8"/>
              </a:rPr>
              <a:t> </a:t>
            </a:r>
            <a:r>
              <a:rPr lang="en-US" b="0" i="0" u="none" strike="noStrike" baseline="0" dirty="0">
                <a:solidFill>
                  <a:srgbClr val="0000FF"/>
                </a:solidFill>
                <a:latin typeface="SFSS1095"/>
              </a:rPr>
              <a:t>verification </a:t>
            </a:r>
            <a:r>
              <a:rPr lang="en-US" b="0" i="0" u="none" strike="noStrike" baseline="0" dirty="0">
                <a:latin typeface="SFSS1095"/>
              </a:rPr>
              <a:t>problem to the problem of </a:t>
            </a:r>
            <a:r>
              <a:rPr lang="en-US" b="0" i="0" u="none" strike="noStrike" baseline="0" dirty="0">
                <a:solidFill>
                  <a:srgbClr val="0000FF"/>
                </a:solidFill>
                <a:latin typeface="CMSSI10"/>
              </a:rPr>
              <a:t>EHC </a:t>
            </a:r>
            <a:r>
              <a:rPr lang="en-US" b="0" i="0" u="none" strike="noStrike" baseline="0" dirty="0">
                <a:solidFill>
                  <a:srgbClr val="0000FF"/>
                </a:solidFill>
                <a:latin typeface="SFSS1095"/>
              </a:rPr>
              <a:t>satisfiability</a:t>
            </a:r>
            <a:br>
              <a:rPr lang="en-US" b="0" i="0" u="none" strike="noStrike" baseline="0" dirty="0">
                <a:latin typeface="SFSS1095"/>
              </a:rPr>
            </a:br>
            <a:endParaRPr lang="en-US" b="0" i="0" u="none" strike="noStrike" baseline="0" dirty="0">
              <a:latin typeface="SFSS1095"/>
            </a:endParaRPr>
          </a:p>
          <a:p>
            <a:pPr algn="l"/>
            <a:r>
              <a:rPr lang="en-US" dirty="0">
                <a:latin typeface="SFSS1095"/>
              </a:rPr>
              <a:t>We d</a:t>
            </a:r>
            <a:r>
              <a:rPr lang="en-US" b="0" i="0" u="none" strike="noStrike" baseline="0" dirty="0">
                <a:latin typeface="SFSS1095"/>
              </a:rPr>
              <a:t>eveloped a </a:t>
            </a:r>
            <a:r>
              <a:rPr lang="en-US" b="0" i="0" u="none" strike="noStrike" baseline="0" dirty="0">
                <a:solidFill>
                  <a:srgbClr val="FF0000"/>
                </a:solidFill>
                <a:latin typeface="SFSS1095"/>
              </a:rPr>
              <a:t>translation</a:t>
            </a:r>
            <a:r>
              <a:rPr lang="en-US" b="0" i="0" u="none" strike="noStrike" baseline="0" dirty="0">
                <a:latin typeface="SFSS1095"/>
              </a:rPr>
              <a:t> from </a:t>
            </a:r>
            <a:r>
              <a:rPr lang="en-US" dirty="0">
                <a:solidFill>
                  <a:srgbClr val="0000FF"/>
                </a:solidFill>
              </a:rPr>
              <a:t>CTL*</a:t>
            </a:r>
            <a:r>
              <a:rPr lang="en-US" b="0" i="0" u="none" strike="noStrike" baseline="0" dirty="0">
                <a:solidFill>
                  <a:srgbClr val="0000FF"/>
                </a:solidFill>
                <a:latin typeface="CMSY8"/>
              </a:rPr>
              <a:t> </a:t>
            </a:r>
            <a:r>
              <a:rPr lang="en-US" b="0" i="0" u="none" strike="noStrike" baseline="0" dirty="0">
                <a:solidFill>
                  <a:srgbClr val="0000FF"/>
                </a:solidFill>
                <a:latin typeface="SFSS1095"/>
              </a:rPr>
              <a:t>partial synthesis </a:t>
            </a:r>
            <a:r>
              <a:rPr lang="en-US" b="0" i="0" u="none" strike="noStrike" baseline="0" dirty="0">
                <a:latin typeface="SFSS1095"/>
              </a:rPr>
              <a:t>problem to the problem of </a:t>
            </a:r>
            <a:r>
              <a:rPr lang="en-US" b="0" i="0" u="none" strike="noStrike" baseline="0" dirty="0">
                <a:solidFill>
                  <a:srgbClr val="0000FF"/>
                </a:solidFill>
                <a:latin typeface="CMSSI10"/>
              </a:rPr>
              <a:t>EHC </a:t>
            </a:r>
            <a:r>
              <a:rPr lang="en-US" b="0" i="0" u="none" strike="noStrike" baseline="0" dirty="0">
                <a:solidFill>
                  <a:srgbClr val="0000FF"/>
                </a:solidFill>
                <a:latin typeface="SFSS1095"/>
              </a:rPr>
              <a:t>satisfiability</a:t>
            </a:r>
          </a:p>
          <a:p>
            <a:pPr marL="0" indent="0" algn="l">
              <a:buNone/>
            </a:pPr>
            <a:endParaRPr lang="en-US" b="0" i="0" u="none" strike="noStrike" baseline="0" dirty="0">
              <a:latin typeface="SFSS1095"/>
            </a:endParaRPr>
          </a:p>
          <a:p>
            <a:pPr algn="l"/>
            <a:r>
              <a:rPr lang="en-US" b="0" i="0" u="none" strike="noStrike" baseline="0" dirty="0">
                <a:latin typeface="SFSS1095"/>
              </a:rPr>
              <a:t>Both translations are </a:t>
            </a:r>
            <a:r>
              <a:rPr lang="en-US" b="1" i="0" u="none" strike="noStrike" baseline="0" dirty="0">
                <a:solidFill>
                  <a:srgbClr val="B307A7"/>
                </a:solidFill>
                <a:latin typeface="SFSS1095"/>
              </a:rPr>
              <a:t>sound</a:t>
            </a:r>
            <a:r>
              <a:rPr lang="en-US" b="0" i="0" u="none" strike="noStrike" baseline="0" dirty="0">
                <a:latin typeface="SFSS1095"/>
              </a:rPr>
              <a:t> and </a:t>
            </a:r>
            <a:r>
              <a:rPr lang="en-US" b="1" i="0" u="none" strike="noStrike" baseline="0" dirty="0">
                <a:solidFill>
                  <a:srgbClr val="B307A7"/>
                </a:solidFill>
                <a:latin typeface="SFSS1095"/>
              </a:rPr>
              <a:t>complete</a:t>
            </a:r>
            <a:endParaRPr lang="en-US" dirty="0"/>
          </a:p>
        </p:txBody>
      </p:sp>
      <p:sp>
        <p:nvSpPr>
          <p:cNvPr id="4" name="Footer Placeholder 3">
            <a:extLst>
              <a:ext uri="{FF2B5EF4-FFF2-40B4-BE49-F238E27FC236}">
                <a16:creationId xmlns:a16="http://schemas.microsoft.com/office/drawing/2014/main" id="{A9740330-DD43-AB07-E8C3-C99D72939289}"/>
              </a:ext>
            </a:extLst>
          </p:cNvPr>
          <p:cNvSpPr>
            <a:spLocks noGrp="1"/>
          </p:cNvSpPr>
          <p:nvPr>
            <p:ph type="ftr" sz="quarter" idx="11"/>
          </p:nvPr>
        </p:nvSpPr>
        <p:spPr>
          <a:xfrm>
            <a:off x="838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Chapter 4</a:t>
            </a:r>
            <a:endParaRPr lang="en-US" dirty="0"/>
          </a:p>
        </p:txBody>
      </p:sp>
      <p:sp>
        <p:nvSpPr>
          <p:cNvPr id="5" name="Slide Number Placeholder 4">
            <a:extLst>
              <a:ext uri="{FF2B5EF4-FFF2-40B4-BE49-F238E27FC236}">
                <a16:creationId xmlns:a16="http://schemas.microsoft.com/office/drawing/2014/main" id="{4CFF48D3-759F-7014-BEE6-11FE7BC4E1BF}"/>
              </a:ext>
            </a:extLst>
          </p:cNvPr>
          <p:cNvSpPr>
            <a:spLocks noGrp="1"/>
          </p:cNvSpPr>
          <p:nvPr>
            <p:ph type="sldNum" sz="quarter" idx="12"/>
          </p:nvPr>
        </p:nvSpPr>
        <p:spPr/>
        <p:txBody>
          <a:bodyPr/>
          <a:lstStyle/>
          <a:p>
            <a:fld id="{2D155C46-B3B3-224E-8B19-B7676C4F0E9B}" type="slidenum">
              <a:rPr lang="en-US" smtClean="0"/>
              <a:t>23</a:t>
            </a:fld>
            <a:endParaRPr lang="en-US"/>
          </a:p>
        </p:txBody>
      </p:sp>
    </p:spTree>
    <p:extLst>
      <p:ext uri="{BB962C8B-B14F-4D97-AF65-F5344CB8AC3E}">
        <p14:creationId xmlns:p14="http://schemas.microsoft.com/office/powerpoint/2010/main" val="3221805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58364-15A7-E6B8-CDDD-19C1EAB71A99}"/>
              </a:ext>
            </a:extLst>
          </p:cNvPr>
          <p:cNvSpPr>
            <a:spLocks noGrp="1"/>
          </p:cNvSpPr>
          <p:nvPr>
            <p:ph type="title"/>
          </p:nvPr>
        </p:nvSpPr>
        <p:spPr/>
        <p:txBody>
          <a:bodyPr/>
          <a:lstStyle/>
          <a:p>
            <a:endParaRPr lang="en-IL"/>
          </a:p>
        </p:txBody>
      </p:sp>
      <p:sp>
        <p:nvSpPr>
          <p:cNvPr id="3" name="Content Placeholder 2">
            <a:extLst>
              <a:ext uri="{FF2B5EF4-FFF2-40B4-BE49-F238E27FC236}">
                <a16:creationId xmlns:a16="http://schemas.microsoft.com/office/drawing/2014/main" id="{3B5E9D17-2A75-F9C9-0942-F5C1E2823C1A}"/>
              </a:ext>
            </a:extLst>
          </p:cNvPr>
          <p:cNvSpPr>
            <a:spLocks noGrp="1"/>
          </p:cNvSpPr>
          <p:nvPr>
            <p:ph idx="1"/>
          </p:nvPr>
        </p:nvSpPr>
        <p:spPr/>
        <p:txBody>
          <a:bodyPr/>
          <a:lstStyle/>
          <a:p>
            <a:r>
              <a:rPr lang="en-US" dirty="0">
                <a:solidFill>
                  <a:schemeClr val="accent6"/>
                </a:solidFill>
              </a:rPr>
              <a:t>Not implemented</a:t>
            </a:r>
          </a:p>
          <a:p>
            <a:pPr lvl="1"/>
            <a:r>
              <a:rPr lang="en-US" dirty="0"/>
              <a:t>The EHC solver is not active anymore</a:t>
            </a:r>
          </a:p>
          <a:p>
            <a:endParaRPr lang="en-US" dirty="0"/>
          </a:p>
          <a:p>
            <a:r>
              <a:rPr lang="en-US" dirty="0"/>
              <a:t>Possible alternative for future work: </a:t>
            </a:r>
            <a:br>
              <a:rPr lang="en-US" dirty="0"/>
            </a:br>
            <a:r>
              <a:rPr lang="en-US" dirty="0" err="1">
                <a:solidFill>
                  <a:schemeClr val="accent6"/>
                </a:solidFill>
              </a:rPr>
              <a:t>pfwCSP</a:t>
            </a:r>
            <a:r>
              <a:rPr lang="en-US" dirty="0">
                <a:solidFill>
                  <a:schemeClr val="accent6"/>
                </a:solidFill>
              </a:rPr>
              <a:t> by Unno, Terauchi, Koskinen</a:t>
            </a:r>
          </a:p>
          <a:p>
            <a:pPr lvl="1"/>
            <a:r>
              <a:rPr lang="en-US" dirty="0"/>
              <a:t>The authors conjectured that </a:t>
            </a:r>
            <a:r>
              <a:rPr lang="en-US" dirty="0" err="1"/>
              <a:t>pfwCSP</a:t>
            </a:r>
            <a:r>
              <a:rPr lang="en-US" dirty="0"/>
              <a:t> and EHC are inter-reducible </a:t>
            </a:r>
            <a:endParaRPr lang="en-IL" dirty="0"/>
          </a:p>
        </p:txBody>
      </p:sp>
      <p:sp>
        <p:nvSpPr>
          <p:cNvPr id="4" name="Footer Placeholder 3">
            <a:extLst>
              <a:ext uri="{FF2B5EF4-FFF2-40B4-BE49-F238E27FC236}">
                <a16:creationId xmlns:a16="http://schemas.microsoft.com/office/drawing/2014/main" id="{7C5FA0C7-B4D8-D567-B12E-261C17E31B0D}"/>
              </a:ext>
            </a:extLst>
          </p:cNvPr>
          <p:cNvSpPr>
            <a:spLocks noGrp="1"/>
          </p:cNvSpPr>
          <p:nvPr>
            <p:ph type="ftr" sz="quarter" idx="11"/>
          </p:nvPr>
        </p:nvSpPr>
        <p:spPr>
          <a:xfrm>
            <a:off x="838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Chapter 4</a:t>
            </a:r>
            <a:endParaRPr lang="en-US" dirty="0"/>
          </a:p>
        </p:txBody>
      </p:sp>
      <p:sp>
        <p:nvSpPr>
          <p:cNvPr id="5" name="Slide Number Placeholder 4">
            <a:extLst>
              <a:ext uri="{FF2B5EF4-FFF2-40B4-BE49-F238E27FC236}">
                <a16:creationId xmlns:a16="http://schemas.microsoft.com/office/drawing/2014/main" id="{C8C8179F-21BE-40D4-BF88-A6F3351110C9}"/>
              </a:ext>
            </a:extLst>
          </p:cNvPr>
          <p:cNvSpPr>
            <a:spLocks noGrp="1"/>
          </p:cNvSpPr>
          <p:nvPr>
            <p:ph type="sldNum" sz="quarter" idx="12"/>
          </p:nvPr>
        </p:nvSpPr>
        <p:spPr/>
        <p:txBody>
          <a:bodyPr/>
          <a:lstStyle/>
          <a:p>
            <a:fld id="{2D155C46-B3B3-224E-8B19-B7676C4F0E9B}" type="slidenum">
              <a:rPr lang="en-US" smtClean="0"/>
              <a:t>24</a:t>
            </a:fld>
            <a:endParaRPr lang="en-US"/>
          </a:p>
        </p:txBody>
      </p:sp>
    </p:spTree>
    <p:extLst>
      <p:ext uri="{BB962C8B-B14F-4D97-AF65-F5344CB8AC3E}">
        <p14:creationId xmlns:p14="http://schemas.microsoft.com/office/powerpoint/2010/main" val="558303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9ABF-B8F4-2184-CBA2-B83230B51BCE}"/>
              </a:ext>
            </a:extLst>
          </p:cNvPr>
          <p:cNvSpPr>
            <a:spLocks noGrp="1"/>
          </p:cNvSpPr>
          <p:nvPr>
            <p:ph type="title"/>
          </p:nvPr>
        </p:nvSpPr>
        <p:spPr/>
        <p:txBody>
          <a:bodyPr/>
          <a:lstStyle/>
          <a:p>
            <a:r>
              <a:rPr lang="en-US" dirty="0"/>
              <a:t>Summary</a:t>
            </a:r>
            <a:endParaRPr lang="en-IL" dirty="0"/>
          </a:p>
        </p:txBody>
      </p:sp>
      <p:sp>
        <p:nvSpPr>
          <p:cNvPr id="3" name="Content Placeholder 2">
            <a:extLst>
              <a:ext uri="{FF2B5EF4-FFF2-40B4-BE49-F238E27FC236}">
                <a16:creationId xmlns:a16="http://schemas.microsoft.com/office/drawing/2014/main" id="{0ED6E8DE-28FC-C1F9-2D2B-E45112B90024}"/>
              </a:ext>
            </a:extLst>
          </p:cNvPr>
          <p:cNvSpPr>
            <a:spLocks noGrp="1"/>
          </p:cNvSpPr>
          <p:nvPr>
            <p:ph idx="1"/>
          </p:nvPr>
        </p:nvSpPr>
        <p:spPr/>
        <p:txBody>
          <a:bodyPr/>
          <a:lstStyle/>
          <a:p>
            <a:pPr marL="0" indent="0">
              <a:buNone/>
            </a:pPr>
            <a:r>
              <a:rPr lang="en-US" dirty="0"/>
              <a:t>In this series of talks we saw</a:t>
            </a:r>
          </a:p>
          <a:p>
            <a:r>
              <a:rPr lang="en-US" dirty="0"/>
              <a:t>A </a:t>
            </a:r>
            <a:r>
              <a:rPr lang="en-US" dirty="0">
                <a:solidFill>
                  <a:srgbClr val="FF0000"/>
                </a:solidFill>
              </a:rPr>
              <a:t>theory modular </a:t>
            </a:r>
            <a:r>
              <a:rPr lang="en-US" dirty="0"/>
              <a:t>approach to solving CHCs</a:t>
            </a:r>
          </a:p>
          <a:p>
            <a:pPr lvl="1"/>
            <a:r>
              <a:rPr lang="en-US" dirty="0"/>
              <a:t>Based on CHC solvers as a </a:t>
            </a:r>
            <a:r>
              <a:rPr lang="en-US" dirty="0" err="1"/>
              <a:t>blackbox</a:t>
            </a:r>
            <a:endParaRPr lang="en-US" dirty="0"/>
          </a:p>
          <a:p>
            <a:endParaRPr lang="en-US" dirty="0"/>
          </a:p>
          <a:p>
            <a:r>
              <a:rPr lang="en-US" dirty="0"/>
              <a:t>A non-standard use of CHCs for </a:t>
            </a:r>
            <a:r>
              <a:rPr lang="en-US" dirty="0">
                <a:solidFill>
                  <a:srgbClr val="FF0000"/>
                </a:solidFill>
              </a:rPr>
              <a:t>synthesis</a:t>
            </a:r>
          </a:p>
          <a:p>
            <a:endParaRPr lang="en-US" dirty="0"/>
          </a:p>
          <a:p>
            <a:r>
              <a:rPr lang="en-US" dirty="0"/>
              <a:t>A </a:t>
            </a:r>
            <a:r>
              <a:rPr lang="en-US" dirty="0">
                <a:solidFill>
                  <a:srgbClr val="FF0000"/>
                </a:solidFill>
              </a:rPr>
              <a:t>variation of CHCs </a:t>
            </a:r>
            <a:r>
              <a:rPr lang="en-US" dirty="0"/>
              <a:t>(EHC) that can do much more than standard CHCs</a:t>
            </a:r>
          </a:p>
          <a:p>
            <a:pPr lvl="1"/>
            <a:r>
              <a:rPr lang="en-US" dirty="0"/>
              <a:t>BUT – need a working solver</a:t>
            </a:r>
            <a:br>
              <a:rPr lang="en-US" dirty="0"/>
            </a:br>
            <a:r>
              <a:rPr lang="en-US" dirty="0"/>
              <a:t>	 </a:t>
            </a:r>
          </a:p>
          <a:p>
            <a:endParaRPr lang="en-IL" dirty="0"/>
          </a:p>
        </p:txBody>
      </p:sp>
      <p:sp>
        <p:nvSpPr>
          <p:cNvPr id="4" name="Slide Number Placeholder 3">
            <a:extLst>
              <a:ext uri="{FF2B5EF4-FFF2-40B4-BE49-F238E27FC236}">
                <a16:creationId xmlns:a16="http://schemas.microsoft.com/office/drawing/2014/main" id="{4FA26907-0476-7E38-5F68-CB74C5B38E0E}"/>
              </a:ext>
            </a:extLst>
          </p:cNvPr>
          <p:cNvSpPr>
            <a:spLocks noGrp="1"/>
          </p:cNvSpPr>
          <p:nvPr>
            <p:ph type="sldNum" sz="quarter" idx="12"/>
          </p:nvPr>
        </p:nvSpPr>
        <p:spPr/>
        <p:txBody>
          <a:bodyPr/>
          <a:lstStyle/>
          <a:p>
            <a:fld id="{2D155C46-B3B3-224E-8B19-B7676C4F0E9B}" type="slidenum">
              <a:rPr lang="en-US" smtClean="0"/>
              <a:t>25</a:t>
            </a:fld>
            <a:endParaRPr lang="en-US"/>
          </a:p>
        </p:txBody>
      </p:sp>
    </p:spTree>
    <p:extLst>
      <p:ext uri="{BB962C8B-B14F-4D97-AF65-F5344CB8AC3E}">
        <p14:creationId xmlns:p14="http://schemas.microsoft.com/office/powerpoint/2010/main" val="1048561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DA417-D610-F1E8-5289-62372B7EAF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BEE87C-333C-4AE9-658A-1A32FD814BA3}"/>
              </a:ext>
            </a:extLst>
          </p:cNvPr>
          <p:cNvSpPr>
            <a:spLocks noGrp="1"/>
          </p:cNvSpPr>
          <p:nvPr>
            <p:ph idx="1"/>
          </p:nvPr>
        </p:nvSpPr>
        <p:spPr/>
        <p:txBody>
          <a:bodyPr/>
          <a:lstStyle/>
          <a:p>
            <a:pPr marL="0" indent="0">
              <a:buNone/>
            </a:pPr>
            <a:endParaRPr lang="en-US" dirty="0"/>
          </a:p>
          <a:p>
            <a:endParaRPr lang="en-US" dirty="0"/>
          </a:p>
          <a:p>
            <a:pPr marL="0" indent="0" algn="ctr">
              <a:buNone/>
            </a:pPr>
            <a:r>
              <a:rPr lang="en-US" sz="4400" dirty="0">
                <a:solidFill>
                  <a:srgbClr val="0000FF"/>
                </a:solidFill>
              </a:rPr>
              <a:t>Thank you!</a:t>
            </a:r>
          </a:p>
        </p:txBody>
      </p:sp>
      <p:sp>
        <p:nvSpPr>
          <p:cNvPr id="4" name="Footer Placeholder 3">
            <a:extLst>
              <a:ext uri="{FF2B5EF4-FFF2-40B4-BE49-F238E27FC236}">
                <a16:creationId xmlns:a16="http://schemas.microsoft.com/office/drawing/2014/main" id="{78AD016E-084E-98D5-9D64-A08A18F8F5EE}"/>
              </a:ext>
            </a:extLst>
          </p:cNvPr>
          <p:cNvSpPr>
            <a:spLocks noGrp="1"/>
          </p:cNvSpPr>
          <p:nvPr>
            <p:ph type="ftr" sz="quarter" idx="11"/>
          </p:nvPr>
        </p:nvSpPr>
        <p:spPr>
          <a:xfrm>
            <a:off x="8382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t>Chapter 4</a:t>
            </a:r>
            <a:endParaRPr lang="en-US" dirty="0"/>
          </a:p>
        </p:txBody>
      </p:sp>
      <p:sp>
        <p:nvSpPr>
          <p:cNvPr id="5" name="Slide Number Placeholder 4">
            <a:extLst>
              <a:ext uri="{FF2B5EF4-FFF2-40B4-BE49-F238E27FC236}">
                <a16:creationId xmlns:a16="http://schemas.microsoft.com/office/drawing/2014/main" id="{AAEBA05D-2ECA-8BCE-05AC-1422A4151721}"/>
              </a:ext>
            </a:extLst>
          </p:cNvPr>
          <p:cNvSpPr>
            <a:spLocks noGrp="1"/>
          </p:cNvSpPr>
          <p:nvPr>
            <p:ph type="sldNum" sz="quarter" idx="12"/>
          </p:nvPr>
        </p:nvSpPr>
        <p:spPr/>
        <p:txBody>
          <a:bodyPr/>
          <a:lstStyle/>
          <a:p>
            <a:fld id="{2D155C46-B3B3-224E-8B19-B7676C4F0E9B}" type="slidenum">
              <a:rPr lang="en-US" smtClean="0"/>
              <a:t>26</a:t>
            </a:fld>
            <a:endParaRPr lang="en-US"/>
          </a:p>
        </p:txBody>
      </p:sp>
    </p:spTree>
    <p:extLst>
      <p:ext uri="{BB962C8B-B14F-4D97-AF65-F5344CB8AC3E}">
        <p14:creationId xmlns:p14="http://schemas.microsoft.com/office/powerpoint/2010/main" val="2553347947"/>
      </p:ext>
    </p:extLst>
  </p:cSld>
  <p:clrMapOvr>
    <a:masterClrMapping/>
  </p:clrMapOvr>
</p:sld>
</file>

<file path=ppt/theme/theme1.xml><?xml version="1.0" encoding="utf-8"?>
<a:theme xmlns:a="http://schemas.openxmlformats.org/drawingml/2006/main" name="BookThemeNew">
  <a:themeElements>
    <a:clrScheme name="Custom 2">
      <a:dk1>
        <a:srgbClr val="000000"/>
      </a:dk1>
      <a:lt1>
        <a:srgbClr val="FFFFFF"/>
      </a:lt1>
      <a:dk2>
        <a:srgbClr val="632E62"/>
      </a:dk2>
      <a:lt2>
        <a:srgbClr val="EAE5EB"/>
      </a:lt2>
      <a:accent1>
        <a:srgbClr val="92278F"/>
      </a:accent1>
      <a:accent2>
        <a:srgbClr val="FFFF00"/>
      </a:accent2>
      <a:accent3>
        <a:srgbClr val="FF0000"/>
      </a:accent3>
      <a:accent4>
        <a:srgbClr val="008E00"/>
      </a:accent4>
      <a:accent5>
        <a:srgbClr val="45A5ED"/>
      </a:accent5>
      <a:accent6>
        <a:srgbClr val="0000FF"/>
      </a:accent6>
      <a:hlink>
        <a:srgbClr val="0066FF"/>
      </a:hlink>
      <a:folHlink>
        <a:srgbClr val="66669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okThemeNew" id="{C82F7818-D64C-6D4A-9055-59B64CE3D983}" vid="{5E01472F-F872-6849-BC4F-4BD1C77CB7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BookThemeNew</Template>
  <TotalTime>20149</TotalTime>
  <Words>1363</Words>
  <Application>Microsoft Office PowerPoint</Application>
  <PresentationFormat>Widescreen</PresentationFormat>
  <Paragraphs>289</Paragraphs>
  <Slides>26</Slides>
  <Notes>10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26</vt:i4>
      </vt:variant>
    </vt:vector>
  </HeadingPairs>
  <TitlesOfParts>
    <vt:vector size="39" baseType="lpstr">
      <vt:lpstr>Arial</vt:lpstr>
      <vt:lpstr>Bahnschrift SemiCondensed</vt:lpstr>
      <vt:lpstr>Calibri</vt:lpstr>
      <vt:lpstr>Cambria Math</vt:lpstr>
      <vt:lpstr>CMSSI10</vt:lpstr>
      <vt:lpstr>CMSY10</vt:lpstr>
      <vt:lpstr>CMSY8</vt:lpstr>
      <vt:lpstr>Comic Sans MS</vt:lpstr>
      <vt:lpstr>Dosis</vt:lpstr>
      <vt:lpstr>NimbusRomNo9L-Regu</vt:lpstr>
      <vt:lpstr>SFSS1095</vt:lpstr>
      <vt:lpstr>Trebuchet MS</vt:lpstr>
      <vt:lpstr>BookThemeNew</vt:lpstr>
      <vt:lpstr>PowerPoint Presentation</vt:lpstr>
      <vt:lpstr>Condition Synthesis Realizability via</vt:lpstr>
      <vt:lpstr>Condition Synthesis</vt:lpstr>
      <vt:lpstr>Doomed initial states</vt:lpstr>
      <vt:lpstr>Correctness Evidance</vt:lpstr>
      <vt:lpstr>Reduction to CHC</vt:lpstr>
      <vt:lpstr>Reduction to CHC – cont.</vt:lpstr>
      <vt:lpstr>Condition Synthesis Running Example</vt:lpstr>
      <vt:lpstr>Condition Synthesis Running Example</vt:lpstr>
      <vt:lpstr>Condition Synthesis Running Example</vt:lpstr>
      <vt:lpstr>Condition Synthesis Running Example</vt:lpstr>
      <vt:lpstr>Condition Synthesis Running Example</vt:lpstr>
      <vt:lpstr>Combination with SyGuS</vt:lpstr>
      <vt:lpstr>Combination with SyGuS</vt:lpstr>
      <vt:lpstr>Combination with SyGuS</vt:lpstr>
      <vt:lpstr>Conclusion</vt:lpstr>
      <vt:lpstr>PowerPoint Presentation</vt:lpstr>
      <vt:lpstr>PowerPoint Presentation</vt:lpstr>
      <vt:lpstr>CTL* verification and Synthesis using</vt:lpstr>
      <vt:lpstr>PowerPoint Presentation</vt:lpstr>
      <vt:lpstr>Difference between the two applications</vt:lpstr>
      <vt:lpstr>Limitation of Horn clauses</vt:lpstr>
      <vt:lpstr>Summary</vt:lpstr>
      <vt:lpstr>PowerPoint Presentation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Temporal Logic</dc:title>
  <dc:creator>Orna Grumberg</dc:creator>
  <cp:lastModifiedBy>Orna Grumberg</cp:lastModifiedBy>
  <cp:revision>1437</cp:revision>
  <dcterms:created xsi:type="dcterms:W3CDTF">2020-06-21T13:53:03Z</dcterms:created>
  <dcterms:modified xsi:type="dcterms:W3CDTF">2026-08-15T14:58:38Z</dcterms:modified>
</cp:coreProperties>
</file>