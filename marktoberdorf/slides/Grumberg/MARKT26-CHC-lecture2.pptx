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8" r:id="rId1"/>
  </p:sldMasterIdLst>
  <p:notesMasterIdLst>
    <p:notesMasterId r:id="rId28"/>
  </p:notesMasterIdLst>
  <p:sldIdLst>
    <p:sldId id="343" r:id="rId2"/>
    <p:sldId id="929" r:id="rId3"/>
    <p:sldId id="991" r:id="rId4"/>
    <p:sldId id="989" r:id="rId5"/>
    <p:sldId id="990" r:id="rId6"/>
    <p:sldId id="994" r:id="rId7"/>
    <p:sldId id="993" r:id="rId8"/>
    <p:sldId id="940" r:id="rId9"/>
    <p:sldId id="941" r:id="rId10"/>
    <p:sldId id="942" r:id="rId11"/>
    <p:sldId id="943" r:id="rId12"/>
    <p:sldId id="944" r:id="rId13"/>
    <p:sldId id="945" r:id="rId14"/>
    <p:sldId id="946" r:id="rId15"/>
    <p:sldId id="947" r:id="rId16"/>
    <p:sldId id="948" r:id="rId17"/>
    <p:sldId id="949" r:id="rId18"/>
    <p:sldId id="950" r:id="rId19"/>
    <p:sldId id="951" r:id="rId20"/>
    <p:sldId id="952" r:id="rId21"/>
    <p:sldId id="953" r:id="rId22"/>
    <p:sldId id="954" r:id="rId23"/>
    <p:sldId id="955" r:id="rId24"/>
    <p:sldId id="956" r:id="rId25"/>
    <p:sldId id="957" r:id="rId26"/>
    <p:sldId id="99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3886573-EFDC-481F-B176-F478E7A76EFD}">
          <p14:sldIdLst>
            <p14:sldId id="343"/>
          </p14:sldIdLst>
        </p14:section>
        <p14:section name="Background" id="{7BF767B5-C47A-4478-8DC5-30118CC5B817}">
          <p14:sldIdLst>
            <p14:sldId id="929"/>
            <p14:sldId id="991"/>
            <p14:sldId id="989"/>
            <p14:sldId id="990"/>
            <p14:sldId id="994"/>
            <p14:sldId id="993"/>
            <p14:sldId id="940"/>
            <p14:sldId id="941"/>
            <p14:sldId id="942"/>
            <p14:sldId id="943"/>
            <p14:sldId id="944"/>
            <p14:sldId id="945"/>
            <p14:sldId id="946"/>
            <p14:sldId id="947"/>
            <p14:sldId id="948"/>
            <p14:sldId id="949"/>
            <p14:sldId id="950"/>
            <p14:sldId id="951"/>
            <p14:sldId id="952"/>
            <p14:sldId id="953"/>
            <p14:sldId id="954"/>
            <p14:sldId id="955"/>
            <p14:sldId id="956"/>
            <p14:sldId id="957"/>
            <p14:sldId id="996"/>
          </p14:sldIdLst>
        </p14:section>
        <p14:section name="Hook &amp; Problem" id="{B786CAB4-5BE9-4FB4-80E9-8CCC14AA11D1}">
          <p14:sldIdLst/>
        </p14:section>
        <p14:section name="Key Idea &amp; Framework" id="{7BFB0A39-D7D7-4D65-951C-980429180EAA}">
          <p14:sldIdLst/>
        </p14:section>
        <p14:section name="Theory Transformers" id="{C0A13871-B8DD-410E-87A4-70979F2E2791}">
          <p14:sldIdLst/>
        </p14:section>
        <p14:section name="Theory-Modular Encoding" id="{C5565D52-496E-4C7E-AC5F-6DE3C4AB2230}">
          <p14:sldIdLst/>
        </p14:section>
        <p14:section name="MosaicSolve" id="{41A712FA-8B70-4BBE-AF8C-FFD043CCAB2A}">
          <p14:sldIdLst/>
        </p14:section>
        <p14:section name="Evaluation" id="{2A3A3969-2F7E-4950-8D00-746891245F90}">
          <p14:sldIdLst/>
        </p14:section>
        <p14:section name="Conclusion" id="{A69ED71E-8C18-4F8D-9BD3-1536BB11784B}">
          <p14:sldIdLst/>
        </p14:section>
        <p14:section name="Backups" id="{C5B6A420-4D0F-4AE5-93A5-F082A5DE342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07A7"/>
    <a:srgbClr val="0000FF"/>
    <a:srgbClr val="EAB200"/>
    <a:srgbClr val="D3501B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010" autoAdjust="0"/>
    <p:restoredTop sz="94660" autoAdjust="0"/>
  </p:normalViewPr>
  <p:slideViewPr>
    <p:cSldViewPr snapToGrid="0">
      <p:cViewPr varScale="1">
        <p:scale>
          <a:sx n="84" d="100"/>
          <a:sy n="84" d="100"/>
        </p:scale>
        <p:origin x="393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625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222BF3-8149-44B9-9744-C614AF96F935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1672A8-944D-454C-B36A-F4D10AF28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77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en-US" dirty="0">
              <a:solidFill>
                <a:schemeClr val="bg2">
                  <a:lumMod val="50000"/>
                </a:schemeClr>
              </a:solidFill>
              <a:latin typeface="Dosis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13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10553-129F-5AC2-A8B9-0793DBAD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61DDE-BEB7-0B17-B930-C2A4ACE0B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78D1C-EFB9-AA56-533E-B3FC789C6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7F556-170A-AC44-F01A-81B6C01AD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58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73A94-71E7-A003-91BC-BB9663E3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A8696-548F-5928-2CDB-324C2987E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08F73CA-3FED-3192-45B7-BA66376760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Another example: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 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"The predicate symbols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are uninterpreted, but the constraint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already has a meaning. That meaning is provided by a background theory."</a:t>
                </a:r>
                <a:endParaRPr lang="en-I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Another example: </a:t>
                </a:r>
                <a:r>
                  <a:rPr lang="en-US" sz="1200" b="0" i="0">
                    <a:latin typeface="Cambria Math" panose="02040503050406030204" pitchFamily="18" charset="0"/>
                  </a:rPr>
                  <a:t>∀𝑥,𝑦,𝑧.   𝑝_3 </a:t>
                </a:r>
                <a:r>
                  <a:rPr lang="en-US" sz="1200" i="0">
                    <a:latin typeface="Cambria Math" panose="02040503050406030204" pitchFamily="18" charset="0"/>
                  </a:rPr>
                  <a:t>(𝑥,𝑧)→𝑥≤𝑧</a:t>
                </a:r>
                <a:endParaRPr lang="en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D0FB8-F9D4-E324-E9AE-C6EC887AC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43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12C5F-4224-1376-F9E2-4D7D96A56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FF07D-D250-D11C-DB85-649D6162B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1A2FB46-5436-2860-053A-63A28972F5D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I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Another example: </a:t>
                </a:r>
                <a:r>
                  <a:rPr lang="en-US" sz="1200" b="0" i="0">
                    <a:latin typeface="Cambria Math" panose="02040503050406030204" pitchFamily="18" charset="0"/>
                  </a:rPr>
                  <a:t>∀𝑥,𝑦,𝑧.   𝑝_3 </a:t>
                </a:r>
                <a:r>
                  <a:rPr lang="en-US" sz="1200" i="0">
                    <a:latin typeface="Cambria Math" panose="02040503050406030204" pitchFamily="18" charset="0"/>
                  </a:rPr>
                  <a:t>(𝑥,𝑧)→𝑥≤𝑧</a:t>
                </a:r>
                <a:endParaRPr lang="en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29C38-CDB7-497C-6911-3C9AFF5E6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16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D0899-F5F5-349C-05AD-7E2882F6E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3B45D-8BF7-3409-3A25-DE705A476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4AEEE-31C0-6C6D-FDFB-0F35D7231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4C11A-EBD2-288F-7651-993B9A807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34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5109E-11E9-44DF-C74F-A7EF2B7A5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65792-F3D7-30CF-3D96-0E513A7E3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C3E58-4422-AB7B-AFF6-8C5CDC370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813AD-4996-F6C3-57A1-73E733162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82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 dirty="0"/>
              <a:t>"Sound by construction — but CHC solvers generalize poorly over bit-vectors, even on the purely arithmetic part. Two hours buys you nine bits."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23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96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F6803-89FE-B9AB-A31B-A1AE15230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5E530-D395-28B3-C379-47A6AD024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8B5C9-4FB5-02A7-4EA3-E7F591460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4F912-2552-7F72-FDB1-F3DC0110D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42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44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 dirty="0"/>
              <a:t>"Every bit-vector variable gets an integer twin — the prime marks the integer side from here on. A domain transformer δ fixes what each bit-pattern </a:t>
            </a:r>
            <a:r>
              <a:rPr lang="en-IL" i="1" dirty="0"/>
              <a:t>means</a:t>
            </a:r>
            <a:r>
              <a:rPr lang="en-IL" dirty="0"/>
              <a:t> as an integer — one per variable, always injective, so distinct patterns stay distinct. Two natural readings: unsigned or two's complement — 1101, which is b after our loop, is thirteen or minus three. Our example is signed; the per-variable choice is a small heuristic, backup slide if anyone asks. Next: what it takes for a formula translation to respect this mapping."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1996EB-4D3B-4D61-B2C3-26962135A0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5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65DD-5CDB-A14C-B891-FE82D8E43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9C0BE-9C70-AB41-A52B-E6776717F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6A16-3576-1343-A38E-A78D03BE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4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65DD-5CDB-A14C-B891-FE82D8E437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GB" dirty="0"/>
              <a:t>Click to edit Subsection</a:t>
            </a:r>
            <a:br>
              <a:rPr lang="en-GB" dirty="0"/>
            </a:br>
            <a:r>
              <a:rPr lang="en-GB" dirty="0"/>
              <a:t>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9C0BE-9C70-AB41-A52B-E6776717F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5EE5C-2C7B-C443-918D-BD4E0D70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/>
              <a:t>Chapter 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6A16-3576-1343-A38E-A78D03BE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5136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3879-14EB-974D-89E7-40CAD847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E8CDA-532D-0B43-8C9E-8EEF920AB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846E4-8C49-324E-8448-B31C52B0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4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2AD8-B8CA-9649-8CF1-1B184F5F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8C325-CE1F-0948-BD6F-C86336678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8F37F-6DDF-7347-BFE7-8C96CBAB5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1F288-355C-124B-9A9D-731CB8533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04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A1E6-003D-F042-9995-612D70A1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34635-6191-634F-BC79-803827D18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4B411-B241-8B4D-8296-9EABF10D2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90EC6-F0D6-C149-B2E9-4D4092FA2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D31D69-486C-B94B-9E64-773D9A1EB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B8901-F3BC-D443-90F9-213AA1E1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90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A247-9709-9449-899C-520915537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B38A8-2811-7D4A-9C67-C5063C13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88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96654-735D-E340-A169-6C2C723A0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56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2576-0DAE-AD46-85F1-FCF8D73E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32E9D-848A-004B-8B9C-460388BB1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29AF2-1356-B848-A4A2-FD955B20A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8058F-FF27-0147-AADD-0CC162E3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2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5FC22-EBEF-4040-BAE8-F896AC29D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08CAF8-5D2E-7845-83F6-BCF242744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F1D4A-0A2F-B849-8921-07BD41191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B3800-E015-2640-AF3D-93D08D0D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94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te for the Lecturer">
    <p:bg>
      <p:bgPr>
        <a:solidFill>
          <a:srgbClr val="FFFF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3879-14EB-974D-89E7-40CAD847A2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Note for the Lecturer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E8CDA-532D-0B43-8C9E-8EEF920AB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846E4-8C49-324E-8448-B31C52B0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41868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95F8C-516E-D84E-9AA4-655AE85D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7DA8A-7C69-7346-A2C6-C58069E40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0D813-4D44-1C4A-AE6A-0D2173F5F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55C46-B3B3-224E-8B19-B7676C4F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60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6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3.png"/><Relationship Id="rId3" Type="http://schemas.openxmlformats.org/officeDocument/2006/relationships/image" Target="../media/image4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4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7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1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5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5.png"/><Relationship Id="rId5" Type="http://schemas.openxmlformats.org/officeDocument/2006/relationships/image" Target="../media/image29.png"/><Relationship Id="rId4" Type="http://schemas.openxmlformats.org/officeDocument/2006/relationships/image" Target="../media/image4.png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image32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4.png"/><Relationship Id="rId4" Type="http://schemas.openxmlformats.org/officeDocument/2006/relationships/image" Target="../media/image1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7" Type="http://schemas.openxmlformats.org/officeDocument/2006/relationships/image" Target="../media/image4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png"/><Relationship Id="rId5" Type="http://schemas.openxmlformats.org/officeDocument/2006/relationships/image" Target="../media/image470.png"/><Relationship Id="rId4" Type="http://schemas.openxmlformats.org/officeDocument/2006/relationships/image" Target="../media/image28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5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29.png"/><Relationship Id="rId4" Type="http://schemas.openxmlformats.org/officeDocument/2006/relationships/image" Target="../media/image4.png"/><Relationship Id="rId9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4.png"/><Relationship Id="rId2" Type="http://schemas.openxmlformats.org/officeDocument/2006/relationships/image" Target="../media/image49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15.png"/><Relationship Id="rId4" Type="http://schemas.openxmlformats.org/officeDocument/2006/relationships/image" Target="../media/image59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15.png"/><Relationship Id="rId4" Type="http://schemas.openxmlformats.org/officeDocument/2006/relationships/image" Target="../media/image59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59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15.png"/><Relationship Id="rId10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579B-689D-531B-23A2-8ADEBA05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858;p16">
            <a:extLst>
              <a:ext uri="{FF2B5EF4-FFF2-40B4-BE49-F238E27FC236}">
                <a16:creationId xmlns:a16="http://schemas.microsoft.com/office/drawing/2014/main" id="{8F74E3E5-7B9E-731C-915C-0BF37C1EEBCE}"/>
              </a:ext>
            </a:extLst>
          </p:cNvPr>
          <p:cNvSpPr txBox="1">
            <a:spLocks/>
          </p:cNvSpPr>
          <p:nvPr/>
        </p:nvSpPr>
        <p:spPr>
          <a:xfrm>
            <a:off x="914399" y="1518407"/>
            <a:ext cx="7970293" cy="240244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1" i="0" u="none" strike="noStrike" kern="1200" cap="none" spc="0" normalizeH="0" baseline="0" noProof="0" dirty="0">
                <a:solidFill>
                  <a:srgbClr val="156082"/>
                </a:solidFill>
                <a:effectLst/>
                <a:uLnTx/>
                <a:uFillTx/>
                <a:latin typeface="Dosis" pitchFamily="2" charset="0"/>
                <a:ea typeface="+mj-ea"/>
                <a:cs typeface="+mj-cs"/>
              </a:rPr>
              <a:t>Constrained Horn Clauses and their Applications</a:t>
            </a:r>
            <a:endParaRPr kumimoji="0" lang="en-GB" sz="4400" b="0" i="0" u="none" strike="noStrike" kern="1200" cap="none" spc="0" normalizeH="0" baseline="0" noProof="0" dirty="0">
              <a:solidFill>
                <a:srgbClr val="AA8F6A"/>
              </a:solidFill>
              <a:effectLst/>
              <a:uLnTx/>
              <a:uFillTx/>
              <a:latin typeface="Dosis" pitchFamily="2" charset="0"/>
              <a:ea typeface="+mj-ea"/>
              <a:cs typeface="+mj-cs"/>
            </a:endParaRPr>
          </a:p>
        </p:txBody>
      </p:sp>
      <p:sp>
        <p:nvSpPr>
          <p:cNvPr id="5" name="Google Shape;3859;p16">
            <a:extLst>
              <a:ext uri="{FF2B5EF4-FFF2-40B4-BE49-F238E27FC236}">
                <a16:creationId xmlns:a16="http://schemas.microsoft.com/office/drawing/2014/main" id="{F4D872B1-E14F-7B92-AF36-0C2330A4351F}"/>
              </a:ext>
            </a:extLst>
          </p:cNvPr>
          <p:cNvSpPr txBox="1">
            <a:spLocks/>
          </p:cNvSpPr>
          <p:nvPr/>
        </p:nvSpPr>
        <p:spPr>
          <a:xfrm>
            <a:off x="914400" y="4228559"/>
            <a:ext cx="7218727" cy="1046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Lecture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972A0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Orna Grumberg, </a:t>
            </a:r>
            <a:r>
              <a:rPr lang="en-US" sz="3200" dirty="0">
                <a:solidFill>
                  <a:srgbClr val="0972A0"/>
                </a:solidFill>
                <a:latin typeface="Dosis" pitchFamily="2" charset="0"/>
              </a:rPr>
              <a:t>Technion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972A0"/>
              </a:solidFill>
              <a:effectLst/>
              <a:uLnTx/>
              <a:uFillTx/>
              <a:latin typeface="Dosis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330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579B-689D-531B-23A2-8ADEBA05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858;p16">
            <a:extLst>
              <a:ext uri="{FF2B5EF4-FFF2-40B4-BE49-F238E27FC236}">
                <a16:creationId xmlns:a16="http://schemas.microsoft.com/office/drawing/2014/main" id="{8F74E3E5-7B9E-731C-915C-0BF37C1EEBCE}"/>
              </a:ext>
            </a:extLst>
          </p:cNvPr>
          <p:cNvSpPr txBox="1">
            <a:spLocks/>
          </p:cNvSpPr>
          <p:nvPr/>
        </p:nvSpPr>
        <p:spPr>
          <a:xfrm>
            <a:off x="566444" y="1293403"/>
            <a:ext cx="7970293" cy="176172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b="1" i="0" u="none" strike="noStrike" kern="1200" cap="none" spc="0" normalizeH="0" baseline="0" noProof="0" dirty="0">
                <a:solidFill>
                  <a:srgbClr val="156082"/>
                </a:solidFill>
                <a:effectLst/>
                <a:uLnTx/>
                <a:uFillTx/>
                <a:latin typeface="Dosis" pitchFamily="2" charset="0"/>
                <a:ea typeface="+mj-ea"/>
                <a:cs typeface="+mj-cs"/>
              </a:rPr>
              <a:t>Bit-Precise CHC Satisfiability Using Theory-Modular Reasoning</a:t>
            </a:r>
            <a:endParaRPr kumimoji="0" lang="en-GB" b="0" i="0" u="none" strike="noStrike" kern="1200" cap="none" spc="0" normalizeH="0" baseline="0" noProof="0" dirty="0">
              <a:solidFill>
                <a:srgbClr val="AA8F6A"/>
              </a:solidFill>
              <a:effectLst/>
              <a:uLnTx/>
              <a:uFillTx/>
              <a:latin typeface="Dosis" pitchFamily="2" charset="0"/>
              <a:ea typeface="+mj-ea"/>
              <a:cs typeface="+mj-cs"/>
            </a:endParaRPr>
          </a:p>
        </p:txBody>
      </p:sp>
      <p:sp>
        <p:nvSpPr>
          <p:cNvPr id="5" name="Google Shape;3859;p16">
            <a:extLst>
              <a:ext uri="{FF2B5EF4-FFF2-40B4-BE49-F238E27FC236}">
                <a16:creationId xmlns:a16="http://schemas.microsoft.com/office/drawing/2014/main" id="{F4D872B1-E14F-7B92-AF36-0C2330A4351F}"/>
              </a:ext>
            </a:extLst>
          </p:cNvPr>
          <p:cNvSpPr txBox="1">
            <a:spLocks/>
          </p:cNvSpPr>
          <p:nvPr/>
        </p:nvSpPr>
        <p:spPr>
          <a:xfrm>
            <a:off x="566444" y="2862892"/>
            <a:ext cx="8170623" cy="337586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 dirty="0">
                <a:solidFill>
                  <a:srgbClr val="AA8F6A"/>
                </a:solidFill>
                <a:latin typeface="Dosis" pitchFamily="2" charset="0"/>
                <a:ea typeface="+mj-ea"/>
                <a:cs typeface="+mj-cs"/>
              </a:rPr>
              <a:t>Omer Rappoport, Orna Grumberg, Yakir Vizel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3200" dirty="0">
              <a:solidFill>
                <a:srgbClr val="0972A0"/>
              </a:solidFill>
              <a:latin typeface="Dosis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3200" dirty="0">
              <a:solidFill>
                <a:srgbClr val="0972A0"/>
              </a:solidFill>
              <a:latin typeface="Dosis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3200" dirty="0">
                <a:solidFill>
                  <a:srgbClr val="0972A0"/>
                </a:solidFill>
                <a:latin typeface="Dosis" pitchFamily="2" charset="0"/>
              </a:rPr>
              <a:t>ATVA 2026</a:t>
            </a:r>
          </a:p>
        </p:txBody>
      </p:sp>
    </p:spTree>
    <p:extLst>
      <p:ext uri="{BB962C8B-B14F-4D97-AF65-F5344CB8AC3E}">
        <p14:creationId xmlns:p14="http://schemas.microsoft.com/office/powerpoint/2010/main" val="2544381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3F302-FF01-13C2-85C2-E1F52AFE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B2B8-12C0-FFFB-A274-D73776B4B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Program verification via CHCs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302F92E-02C6-8086-6F3D-46324684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6E0988-9AC2-2C2C-37CE-694C21DFBB8C}"/>
                  </a:ext>
                </a:extLst>
              </p:cNvPr>
              <p:cNvSpPr txBox="1"/>
              <p:nvPr/>
            </p:nvSpPr>
            <p:spPr>
              <a:xfrm>
                <a:off x="4720638" y="4385386"/>
                <a:ext cx="261545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200" dirty="0">
                    <a:latin typeface="Dosis" pitchFamily="2" charset="0"/>
                  </a:rPr>
                  <a:t>Set of CHCs modulo</a:t>
                </a:r>
                <a:br>
                  <a:rPr lang="en-US" sz="2200" dirty="0">
                    <a:latin typeface="Dosis" pitchFamily="2" charset="0"/>
                  </a:rPr>
                </a:br>
                <a:r>
                  <a:rPr lang="en-US" sz="2200" dirty="0">
                    <a:latin typeface="Dosis" pitchFamily="2" charset="0"/>
                  </a:rPr>
                  <a:t>a </a:t>
                </a:r>
                <a:r>
                  <a:rPr lang="en-US" sz="2200" b="1" dirty="0">
                    <a:solidFill>
                      <a:schemeClr val="accent1"/>
                    </a:solidFill>
                    <a:latin typeface="Dosis" pitchFamily="2" charset="0"/>
                  </a:rPr>
                  <a:t>single</a:t>
                </a:r>
                <a:r>
                  <a:rPr lang="en-US" sz="2200" dirty="0">
                    <a:latin typeface="Dosis" pitchFamily="2" charset="0"/>
                  </a:rPr>
                  <a:t> theory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𝓣</m:t>
                    </m:r>
                  </m:oMath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7E5718-08D1-0620-7D03-C5E1638E9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0638" y="4385386"/>
                <a:ext cx="2615458" cy="769441"/>
              </a:xfrm>
              <a:prstGeom prst="rect">
                <a:avLst/>
              </a:prstGeom>
              <a:blipFill>
                <a:blip r:embed="rId3"/>
                <a:stretch>
                  <a:fillRect t="-4724" b="-1338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67357B-C0AD-45A6-34AE-DA4A74E9983B}"/>
              </a:ext>
            </a:extLst>
          </p:cNvPr>
          <p:cNvCxnSpPr>
            <a:cxnSpLocks/>
          </p:cNvCxnSpPr>
          <p:nvPr/>
        </p:nvCxnSpPr>
        <p:spPr>
          <a:xfrm flipH="1" flipV="1">
            <a:off x="6024032" y="4309836"/>
            <a:ext cx="531" cy="112939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079A0F8-FF6A-5C57-2E52-FE3E97381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10359947" y="4042686"/>
            <a:ext cx="1409350" cy="1306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859246-FB81-51E3-567E-E8C1B1B99E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630878" y="2053167"/>
            <a:ext cx="1306677" cy="1138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4D0966-A057-45C2-44B6-57E735D177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10359947" y="1877918"/>
            <a:ext cx="1280583" cy="1306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83DB9D-5ED0-5B2C-3854-5DF3E26E96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" r="-209"/>
          <a:stretch>
            <a:fillRect/>
          </a:stretch>
        </p:blipFill>
        <p:spPr>
          <a:xfrm>
            <a:off x="630878" y="4044528"/>
            <a:ext cx="1306677" cy="130667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47685C9-8CD5-9AE6-62BA-3CFD305292B4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2180758" y="3720564"/>
            <a:ext cx="407288" cy="288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6EBDCE7-1F5A-D3B8-1ADA-8BBC83BCD781}"/>
              </a:ext>
            </a:extLst>
          </p:cNvPr>
          <p:cNvSpPr txBox="1"/>
          <p:nvPr/>
        </p:nvSpPr>
        <p:spPr>
          <a:xfrm>
            <a:off x="666179" y="3184595"/>
            <a:ext cx="12360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Program</a:t>
            </a:r>
            <a:endParaRPr lang="en-US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02AE1-4EB7-FB59-6BA4-842C60F19FC2}"/>
              </a:ext>
            </a:extLst>
          </p:cNvPr>
          <p:cNvSpPr txBox="1"/>
          <p:nvPr/>
        </p:nvSpPr>
        <p:spPr>
          <a:xfrm>
            <a:off x="422703" y="5351205"/>
            <a:ext cx="17230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Specification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6EBFC5-5B42-16C0-B91F-DE788E4AFF85}"/>
              </a:ext>
            </a:extLst>
          </p:cNvPr>
          <p:cNvSpPr txBox="1"/>
          <p:nvPr/>
        </p:nvSpPr>
        <p:spPr>
          <a:xfrm>
            <a:off x="10640142" y="3183769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Safe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781908-0985-D487-B508-2B3724325E13}"/>
              </a:ext>
            </a:extLst>
          </p:cNvPr>
          <p:cNvSpPr txBox="1"/>
          <p:nvPr/>
        </p:nvSpPr>
        <p:spPr>
          <a:xfrm>
            <a:off x="10606792" y="5345602"/>
            <a:ext cx="9156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Buggy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3E4841-B9A2-CB3E-8CE9-3BBAB5BF04E5}"/>
              </a:ext>
            </a:extLst>
          </p:cNvPr>
          <p:cNvCxnSpPr>
            <a:cxnSpLocks/>
          </p:cNvCxnSpPr>
          <p:nvPr/>
        </p:nvCxnSpPr>
        <p:spPr>
          <a:xfrm flipV="1">
            <a:off x="1937555" y="2620433"/>
            <a:ext cx="251876" cy="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903E81-FAEA-6183-558C-0CC4A0938C79}"/>
              </a:ext>
            </a:extLst>
          </p:cNvPr>
          <p:cNvCxnSpPr>
            <a:cxnSpLocks/>
          </p:cNvCxnSpPr>
          <p:nvPr/>
        </p:nvCxnSpPr>
        <p:spPr>
          <a:xfrm>
            <a:off x="2180758" y="2608263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71DEC84-F2C9-F8D1-0A6F-59C5AE189473}"/>
              </a:ext>
            </a:extLst>
          </p:cNvPr>
          <p:cNvCxnSpPr>
            <a:cxnSpLocks/>
          </p:cNvCxnSpPr>
          <p:nvPr/>
        </p:nvCxnSpPr>
        <p:spPr>
          <a:xfrm>
            <a:off x="2180758" y="3720565"/>
            <a:ext cx="0" cy="11271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412537-F250-ED6C-06E0-F26ACC2723C3}"/>
              </a:ext>
            </a:extLst>
          </p:cNvPr>
          <p:cNvCxnSpPr>
            <a:cxnSpLocks/>
          </p:cNvCxnSpPr>
          <p:nvPr/>
        </p:nvCxnSpPr>
        <p:spPr>
          <a:xfrm>
            <a:off x="1937555" y="4833938"/>
            <a:ext cx="251876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19F87B-1588-3662-E9DC-BE614A52CCB5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533464" y="3723450"/>
            <a:ext cx="325168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6355F64-7DD5-78EF-904A-00A857CDE22D}"/>
              </a:ext>
            </a:extLst>
          </p:cNvPr>
          <p:cNvCxnSpPr>
            <a:cxnSpLocks/>
          </p:cNvCxnSpPr>
          <p:nvPr/>
        </p:nvCxnSpPr>
        <p:spPr>
          <a:xfrm>
            <a:off x="9858632" y="2589707"/>
            <a:ext cx="1331" cy="114726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71ABDC-E8E9-3B5B-48EF-41B144035A89}"/>
              </a:ext>
            </a:extLst>
          </p:cNvPr>
          <p:cNvCxnSpPr>
            <a:cxnSpLocks/>
          </p:cNvCxnSpPr>
          <p:nvPr/>
        </p:nvCxnSpPr>
        <p:spPr>
          <a:xfrm flipV="1">
            <a:off x="9845407" y="2589707"/>
            <a:ext cx="376370" cy="169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2DBE68-140F-56A5-BC97-29AA55492A3F}"/>
              </a:ext>
            </a:extLst>
          </p:cNvPr>
          <p:cNvCxnSpPr>
            <a:cxnSpLocks/>
          </p:cNvCxnSpPr>
          <p:nvPr/>
        </p:nvCxnSpPr>
        <p:spPr>
          <a:xfrm>
            <a:off x="9848582" y="4840886"/>
            <a:ext cx="373195" cy="1052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436D589-CCBC-8D4A-93DC-3A92CFD0DE87}"/>
              </a:ext>
            </a:extLst>
          </p:cNvPr>
          <p:cNvSpPr/>
          <p:nvPr/>
        </p:nvSpPr>
        <p:spPr>
          <a:xfrm>
            <a:off x="2588046" y="3305053"/>
            <a:ext cx="1616738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Dosis" pitchFamily="2" charset="0"/>
              </a:rPr>
              <a:t>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462D66D-43BD-DB34-436A-FBC07E17DA2A}"/>
                  </a:ext>
                </a:extLst>
              </p:cNvPr>
              <p:cNvSpPr/>
              <p:nvPr/>
            </p:nvSpPr>
            <p:spPr>
              <a:xfrm>
                <a:off x="4680787" y="3131293"/>
                <a:ext cx="2686489" cy="1178543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&gt;0→</m:t>
                      </m:r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latin typeface="Dosis" pitchFamily="2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latin typeface="Dosis" pitchFamily="2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d>
                        </m:e>
                      </m:d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latin typeface="Dosis" pitchFamily="2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z="1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  <a:latin typeface="Dosis" pitchFamily="2" charset="0"/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6CE84925-23A1-7BC4-756B-55B3F077A2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787" y="3131293"/>
                <a:ext cx="2686489" cy="1178543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B70A4BD-0A65-4D87-C8BC-714E81631E21}"/>
              </a:ext>
            </a:extLst>
          </p:cNvPr>
          <p:cNvSpPr/>
          <p:nvPr/>
        </p:nvSpPr>
        <p:spPr>
          <a:xfrm>
            <a:off x="7843277" y="3305053"/>
            <a:ext cx="1690187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Dosis" pitchFamily="2" charset="0"/>
              </a:rPr>
              <a:t>CHC Solver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EBC5F6-0164-69D1-C58B-2A0B8F4B0B66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4204784" y="3720565"/>
            <a:ext cx="476003" cy="2885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0F4946-06A3-0C8D-4271-3DF1B9089DF1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7367276" y="3720565"/>
            <a:ext cx="476001" cy="2885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47405DC-E57E-C2AF-47FE-EFCF73C72510}"/>
              </a:ext>
            </a:extLst>
          </p:cNvPr>
          <p:cNvSpPr txBox="1"/>
          <p:nvPr/>
        </p:nvSpPr>
        <p:spPr>
          <a:xfrm>
            <a:off x="9195466" y="2730536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SAT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3025AE-4E79-1FA7-F980-A6A5142450AE}"/>
              </a:ext>
            </a:extLst>
          </p:cNvPr>
          <p:cNvSpPr txBox="1"/>
          <p:nvPr/>
        </p:nvSpPr>
        <p:spPr>
          <a:xfrm>
            <a:off x="8882410" y="4275253"/>
            <a:ext cx="9935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UNSAT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35C974B-AE1F-F87E-ECDF-037696886E7C}"/>
              </a:ext>
            </a:extLst>
          </p:cNvPr>
          <p:cNvCxnSpPr>
            <a:cxnSpLocks/>
          </p:cNvCxnSpPr>
          <p:nvPr/>
        </p:nvCxnSpPr>
        <p:spPr>
          <a:xfrm>
            <a:off x="9860220" y="3713225"/>
            <a:ext cx="0" cy="114194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3D979C8-2987-58B2-1B25-EDB18A30A2BE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6024032" y="1818640"/>
            <a:ext cx="0" cy="1312653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078D04C-1252-F446-16FB-B6E87124E0CC}"/>
              </a:ext>
            </a:extLst>
          </p:cNvPr>
          <p:cNvCxnSpPr>
            <a:cxnSpLocks/>
          </p:cNvCxnSpPr>
          <p:nvPr/>
        </p:nvCxnSpPr>
        <p:spPr>
          <a:xfrm flipH="1" flipV="1">
            <a:off x="6026150" y="5111750"/>
            <a:ext cx="1588" cy="89693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CD0A808-AD8C-0654-3511-B83393B9085D}"/>
              </a:ext>
            </a:extLst>
          </p:cNvPr>
          <p:cNvSpPr txBox="1"/>
          <p:nvPr/>
        </p:nvSpPr>
        <p:spPr>
          <a:xfrm>
            <a:off x="3327456" y="2184539"/>
            <a:ext cx="13066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accent1"/>
                </a:solidFill>
                <a:latin typeface="Dosis" pitchFamily="2" charset="0"/>
              </a:rPr>
              <a:t>Encoding</a:t>
            </a:r>
            <a:endParaRPr lang="en-US" sz="2200" b="1" dirty="0">
              <a:solidFill>
                <a:schemeClr val="accent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58CFD9-B4D6-D2F7-A87C-C8DC3960D109}"/>
              </a:ext>
            </a:extLst>
          </p:cNvPr>
          <p:cNvSpPr txBox="1"/>
          <p:nvPr/>
        </p:nvSpPr>
        <p:spPr>
          <a:xfrm>
            <a:off x="7090292" y="2005829"/>
            <a:ext cx="16888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accent1"/>
                </a:solidFill>
                <a:latin typeface="Dosis" pitchFamily="2" charset="0"/>
              </a:rPr>
              <a:t>Satisfiability Checking</a:t>
            </a:r>
            <a:endParaRPr lang="en-US" sz="2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55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1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5" grpId="0"/>
      <p:bldP spid="24" grpId="0" animBg="1"/>
      <p:bldP spid="25" grpId="0" animBg="1"/>
      <p:bldP spid="26" grpId="0" animBg="1"/>
      <p:bldP spid="29" grpId="0"/>
      <p:bldP spid="30" grpId="0"/>
      <p:bldP spid="34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3528A-411A-4CCF-BA5B-4A382175F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17DBE-AB6B-D1DB-DC4E-BEF27A6F8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Constrained Horn Clauses (CHCs)</a:t>
            </a:r>
            <a:endParaRPr lang="en-IL" dirty="0">
              <a:latin typeface="Dosi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04452-9E48-B2DD-4F45-1D13E9D31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dirty="0"/>
                  <a:t>A </a:t>
                </a:r>
                <a:r>
                  <a:rPr lang="en-US" sz="2200" b="1" dirty="0">
                    <a:solidFill>
                      <a:schemeClr val="accent6"/>
                    </a:solidFill>
                  </a:rPr>
                  <a:t>constrained Horn clause</a:t>
                </a:r>
                <a:r>
                  <a:rPr lang="en-US" sz="2200" dirty="0">
                    <a:solidFill>
                      <a:schemeClr val="accent6"/>
                    </a:solidFill>
                  </a:rPr>
                  <a:t> </a:t>
                </a:r>
                <a:r>
                  <a:rPr lang="en-US" sz="2200" dirty="0"/>
                  <a:t>is a first order logic formula of the form: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w</a:t>
                </a:r>
                <a:r>
                  <a:rPr lang="en-US" sz="2200" b="0" dirty="0"/>
                  <a:t>here</a:t>
                </a:r>
                <a:endParaRPr lang="en-US" sz="2200" dirty="0"/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ℬ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∧⋯∧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200" b="0" dirty="0"/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ℋ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200" b="0" dirty="0"/>
                  <a:t> is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b="0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22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he-IL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2200" b="0" dirty="0"/>
              </a:p>
              <a:p>
                <a:endParaRPr lang="en-US" sz="2200" dirty="0"/>
              </a:p>
              <a:p>
                <a:pPr marL="0" indent="0">
                  <a:buNone/>
                </a:pPr>
                <a:r>
                  <a:rPr lang="en-US" sz="2200" b="0" u="sng" dirty="0"/>
                  <a:t>Example</a:t>
                </a:r>
                <a:r>
                  <a:rPr lang="en-US" sz="2200" b="0" dirty="0"/>
                  <a:t>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.  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sz="22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04452-9E48-B2DD-4F45-1D13E9D31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54" t="-16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DE9035-23AD-6E53-EE0F-014689613B95}"/>
                  </a:ext>
                </a:extLst>
              </p:cNvPr>
              <p:cNvSpPr txBox="1"/>
              <p:nvPr/>
            </p:nvSpPr>
            <p:spPr>
              <a:xfrm>
                <a:off x="3350354" y="2293537"/>
                <a:ext cx="609669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∀</m:t>
                      </m:r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ℬ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ℋ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151187-51AE-2505-4F27-C9B30F60B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354" y="2293537"/>
                <a:ext cx="609669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85ACAEE-8B3D-F5E9-7E93-84499041DDF0}"/>
              </a:ext>
            </a:extLst>
          </p:cNvPr>
          <p:cNvSpPr txBox="1"/>
          <p:nvPr/>
        </p:nvSpPr>
        <p:spPr>
          <a:xfrm>
            <a:off x="1432446" y="2841647"/>
            <a:ext cx="16658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latin typeface="Dosis" pitchFamily="2" charset="0"/>
              </a:rPr>
              <a:t>uninterpreted</a:t>
            </a:r>
            <a:r>
              <a:rPr lang="en-US" sz="2000" b="1" i="1" dirty="0">
                <a:solidFill>
                  <a:schemeClr val="accent6"/>
                </a:solidFill>
                <a:latin typeface="+mj-lt"/>
              </a:rPr>
              <a:t> </a:t>
            </a:r>
            <a:r>
              <a:rPr lang="en-US" sz="2000" dirty="0">
                <a:solidFill>
                  <a:schemeClr val="accent6"/>
                </a:solidFill>
                <a:latin typeface="Dosis" pitchFamily="2" charset="0"/>
              </a:rPr>
              <a:t>predicate</a:t>
            </a:r>
            <a:endParaRPr lang="en-IL" sz="2000" dirty="0">
              <a:solidFill>
                <a:schemeClr val="accent6"/>
              </a:solidFill>
              <a:latin typeface="Dosi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FB0877-6645-7AA1-EF93-222D72B3EE13}"/>
              </a:ext>
            </a:extLst>
          </p:cNvPr>
          <p:cNvSpPr txBox="1"/>
          <p:nvPr/>
        </p:nvSpPr>
        <p:spPr>
          <a:xfrm>
            <a:off x="4261865" y="3162815"/>
            <a:ext cx="13482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latin typeface="Dosis" pitchFamily="2" charset="0"/>
              </a:rPr>
              <a:t>constraint</a:t>
            </a:r>
            <a:endParaRPr lang="en-IL" sz="2000" dirty="0">
              <a:solidFill>
                <a:schemeClr val="accent6"/>
              </a:solidFill>
              <a:latin typeface="Dosi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CA6C91-3A65-C73A-F896-0E91449DE44B}"/>
              </a:ext>
            </a:extLst>
          </p:cNvPr>
          <p:cNvSpPr txBox="1"/>
          <p:nvPr/>
        </p:nvSpPr>
        <p:spPr>
          <a:xfrm>
            <a:off x="5768118" y="2693647"/>
            <a:ext cx="772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latin typeface="Dosis" pitchFamily="2" charset="0"/>
              </a:rPr>
              <a:t>body</a:t>
            </a:r>
            <a:endParaRPr lang="en-IL" dirty="0">
              <a:solidFill>
                <a:schemeClr val="accent6"/>
              </a:solidFill>
              <a:latin typeface="Dosi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E0BE59-266D-18C1-3D46-5BF219E23EA5}"/>
              </a:ext>
            </a:extLst>
          </p:cNvPr>
          <p:cNvSpPr txBox="1"/>
          <p:nvPr/>
        </p:nvSpPr>
        <p:spPr>
          <a:xfrm>
            <a:off x="6657177" y="2693647"/>
            <a:ext cx="772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solidFill>
                  <a:srgbClr val="7D6A3B"/>
                </a:solidFill>
                <a:latin typeface="Dosis" pitchFamily="2" charset="0"/>
              </a:defRPr>
            </a:lvl1pPr>
          </a:lstStyle>
          <a:p>
            <a:r>
              <a:rPr lang="en-US" dirty="0">
                <a:solidFill>
                  <a:schemeClr val="accent6"/>
                </a:solidFill>
              </a:rPr>
              <a:t>head</a:t>
            </a:r>
            <a:endParaRPr lang="en-IL" dirty="0">
              <a:solidFill>
                <a:schemeClr val="accent6"/>
              </a:solidFill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DAB1D1C0-2682-1D76-2A39-EE0A839514E2}"/>
              </a:ext>
            </a:extLst>
          </p:cNvPr>
          <p:cNvSpPr/>
          <p:nvPr/>
        </p:nvSpPr>
        <p:spPr>
          <a:xfrm rot="16200000">
            <a:off x="6112559" y="2417992"/>
            <a:ext cx="83343" cy="533518"/>
          </a:xfrm>
          <a:prstGeom prst="leftBrace">
            <a:avLst/>
          </a:prstGeom>
          <a:noFill/>
          <a:ln>
            <a:solidFill>
              <a:srgbClr val="7D6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9D6CCF90-72F3-2F6E-0242-6C3FBE545F01}"/>
              </a:ext>
            </a:extLst>
          </p:cNvPr>
          <p:cNvSpPr/>
          <p:nvPr/>
        </p:nvSpPr>
        <p:spPr>
          <a:xfrm rot="16200000">
            <a:off x="7001618" y="2417991"/>
            <a:ext cx="83343" cy="533518"/>
          </a:xfrm>
          <a:prstGeom prst="leftBrace">
            <a:avLst/>
          </a:prstGeom>
          <a:noFill/>
          <a:ln>
            <a:solidFill>
              <a:srgbClr val="7D6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2C454D-03B9-98AD-008F-185EC55B8563}"/>
              </a:ext>
            </a:extLst>
          </p:cNvPr>
          <p:cNvCxnSpPr>
            <a:cxnSpLocks/>
          </p:cNvCxnSpPr>
          <p:nvPr/>
        </p:nvCxnSpPr>
        <p:spPr>
          <a:xfrm rot="5400000" flipV="1">
            <a:off x="4748659" y="3748787"/>
            <a:ext cx="376370" cy="1691"/>
          </a:xfrm>
          <a:prstGeom prst="line">
            <a:avLst/>
          </a:prstGeom>
          <a:ln w="28575">
            <a:solidFill>
              <a:srgbClr val="7D6A3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C683DF-DE1C-1DAC-98EA-769CB8CA60DC}"/>
              </a:ext>
            </a:extLst>
          </p:cNvPr>
          <p:cNvCxnSpPr>
            <a:cxnSpLocks/>
          </p:cNvCxnSpPr>
          <p:nvPr/>
        </p:nvCxnSpPr>
        <p:spPr>
          <a:xfrm rot="5400000" flipV="1">
            <a:off x="2078028" y="3748788"/>
            <a:ext cx="376370" cy="1691"/>
          </a:xfrm>
          <a:prstGeom prst="line">
            <a:avLst/>
          </a:prstGeom>
          <a:ln w="28575">
            <a:solidFill>
              <a:srgbClr val="7D6A3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13A48E7F-0201-103A-E328-CF2DA13A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4822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9598512-AA03-4E60-A115-A4A9F8177A4D}" type="slidenum">
              <a:rPr lang="en-US" sz="1600" b="1" smtClean="0">
                <a:solidFill>
                  <a:srgbClr val="005888"/>
                </a:solidFill>
              </a:rPr>
              <a:pPr/>
              <a:t>4</a:t>
            </a:fld>
            <a:endParaRPr lang="en-US" sz="1600" b="1" dirty="0">
              <a:solidFill>
                <a:srgbClr val="0058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0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CF6B2-5D78-A7A3-E685-DE0F9670B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4D2F-227F-9BCA-3449-3862E37B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Background theories</a:t>
            </a:r>
            <a:endParaRPr lang="en-IL" dirty="0">
              <a:latin typeface="Dosis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D4CA7-33DD-7A4C-0198-291D7F012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CHCs are formulated with respect to a background</a:t>
            </a:r>
            <a:r>
              <a:rPr lang="en-US" sz="2200" b="1" dirty="0">
                <a:solidFill>
                  <a:srgbClr val="7D6A3B"/>
                </a:solidFill>
              </a:rPr>
              <a:t> </a:t>
            </a:r>
            <a:r>
              <a:rPr lang="en-US" sz="2200" b="1" dirty="0">
                <a:solidFill>
                  <a:schemeClr val="accent6"/>
                </a:solidFill>
              </a:rPr>
              <a:t>theory</a:t>
            </a:r>
            <a:r>
              <a:rPr lang="en-US" sz="2200" dirty="0"/>
              <a:t>, which defines the sorts and semantics of the constraints.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1B46611-6801-0FAC-613A-B11930F3C6D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0968" y="3290616"/>
              <a:ext cx="8510064" cy="19800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63460">
                      <a:extLst>
                        <a:ext uri="{9D8B030D-6E8A-4147-A177-3AD203B41FA5}">
                          <a16:colId xmlns:a16="http://schemas.microsoft.com/office/drawing/2014/main" val="2846646332"/>
                        </a:ext>
                      </a:extLst>
                    </a:gridCol>
                    <a:gridCol w="2288394">
                      <a:extLst>
                        <a:ext uri="{9D8B030D-6E8A-4147-A177-3AD203B41FA5}">
                          <a16:colId xmlns:a16="http://schemas.microsoft.com/office/drawing/2014/main" val="1923340647"/>
                        </a:ext>
                      </a:extLst>
                    </a:gridCol>
                    <a:gridCol w="2358210">
                      <a:extLst>
                        <a:ext uri="{9D8B030D-6E8A-4147-A177-3AD203B41FA5}">
                          <a16:colId xmlns:a16="http://schemas.microsoft.com/office/drawing/2014/main" val="2374826913"/>
                        </a:ext>
                      </a:extLst>
                    </a:gridCol>
                  </a:tblGrid>
                  <a:tr h="4932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Theory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Sorts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Constraint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0789030"/>
                      </a:ext>
                    </a:extLst>
                  </a:tr>
                  <a:tr h="4932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Integer Arithmetic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Int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480169"/>
                      </a:ext>
                    </a:extLst>
                  </a:tr>
                  <a:tr h="5002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Real Arithmetic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Real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−0.5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15727932"/>
                      </a:ext>
                    </a:extLst>
                  </a:tr>
                  <a:tr h="4932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Arrays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Array[I,V]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965364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2EDCCDC-F2EF-292F-0556-335F98ACA7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4775173"/>
                  </p:ext>
                </p:extLst>
              </p:nvPr>
            </p:nvGraphicFramePr>
            <p:xfrm>
              <a:off x="1840968" y="3290616"/>
              <a:ext cx="8510064" cy="198000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863460">
                      <a:extLst>
                        <a:ext uri="{9D8B030D-6E8A-4147-A177-3AD203B41FA5}">
                          <a16:colId xmlns:a16="http://schemas.microsoft.com/office/drawing/2014/main" val="2846646332"/>
                        </a:ext>
                      </a:extLst>
                    </a:gridCol>
                    <a:gridCol w="2288394">
                      <a:extLst>
                        <a:ext uri="{9D8B030D-6E8A-4147-A177-3AD203B41FA5}">
                          <a16:colId xmlns:a16="http://schemas.microsoft.com/office/drawing/2014/main" val="1923340647"/>
                        </a:ext>
                      </a:extLst>
                    </a:gridCol>
                    <a:gridCol w="2358210">
                      <a:extLst>
                        <a:ext uri="{9D8B030D-6E8A-4147-A177-3AD203B41FA5}">
                          <a16:colId xmlns:a16="http://schemas.microsoft.com/office/drawing/2014/main" val="2374826913"/>
                        </a:ext>
                      </a:extLst>
                    </a:gridCol>
                  </a:tblGrid>
                  <a:tr h="4932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Theory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Sorts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Constraint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0789030"/>
                      </a:ext>
                    </a:extLst>
                  </a:tr>
                  <a:tr h="4932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Integer Arithmetic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Int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1499" t="-101235" r="-1034" b="-2209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480169"/>
                      </a:ext>
                    </a:extLst>
                  </a:tr>
                  <a:tr h="5002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Real Arithmetic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Real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1499" t="-196386" r="-1034" b="-1156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5727932"/>
                      </a:ext>
                    </a:extLst>
                  </a:tr>
                  <a:tr h="4932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Arrays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/>
                            <a:t>Array[I,V]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1499" t="-303704" r="-1034" b="-18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65364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A543CC2-1F04-322B-A803-C91C8525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fld id="{E9598512-AA03-4E60-A115-A4A9F8177A4D}" type="slidenum">
              <a:rPr lang="en-US" sz="1600" b="1" smtClean="0">
                <a:solidFill>
                  <a:srgbClr val="005888"/>
                </a:solidFill>
              </a:rPr>
              <a:pPr/>
              <a:t>5</a:t>
            </a:fld>
            <a:endParaRPr lang="en-US" sz="1600" b="1" dirty="0">
              <a:solidFill>
                <a:srgbClr val="0058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9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F9E-54A1-8C85-AFFC-21A4D3F8A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B7141-BD81-F45A-FBD8-42BE3EBE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Bit-precise verification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AF5C147-4C6B-E6CD-10D5-0D97B565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6F2D9D8-A01A-355B-32F7-A81B34ECE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699"/>
            <a:ext cx="10515600" cy="423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D6A3B"/>
                </a:solidFill>
                <a:latin typeface="Dosis" pitchFamily="2" charset="0"/>
              </a:rPr>
              <a:t>In reality, machine integers are represented as finite binary arrays.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94CFEF9-879A-42F0-8FFF-796C6450B8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3278" y="2240521"/>
                <a:ext cx="5677294" cy="30304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u="sng" dirty="0"/>
                  <a:t>Example</a:t>
                </a:r>
                <a:r>
                  <a:rPr lang="en-US" sz="2200" dirty="0"/>
                  <a:t>: 4-bit width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Domain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−8,7</m:t>
                        </m:r>
                      </m:e>
                    </m:d>
                  </m:oMath>
                </a14:m>
                <a:endParaRPr lang="en-US" sz="2200" b="1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Input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=0011 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After the loop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=0011 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=1101 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</m:oMath>
                </a14:m>
                <a:endParaRPr lang="en-US" sz="2200" b="0" dirty="0"/>
              </a:p>
              <a:p>
                <a:pPr>
                  <a:lnSpc>
                    <a:spcPct val="100000"/>
                  </a:lnSpc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Assertion</a:t>
                </a:r>
                <a:r>
                  <a:rPr lang="en-US" sz="2200" dirty="0"/>
                  <a:t>: </a:t>
                </a:r>
                <a:r>
                  <a:rPr lang="en-US" sz="2200" dirty="0">
                    <a:solidFill>
                      <a:srgbClr val="F8475E"/>
                    </a:solidFill>
                  </a:rPr>
                  <a:t>fails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i="1">
                          <a:latin typeface="Cambria Math" panose="02040503050406030204" pitchFamily="18" charset="0"/>
                        </a:rPr>
                        <m:t>0011×1101=0111 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94CFEF9-879A-42F0-8FFF-796C6450B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278" y="2240521"/>
                <a:ext cx="5677294" cy="3030447"/>
              </a:xfrm>
              <a:prstGeom prst="rect">
                <a:avLst/>
              </a:prstGeom>
              <a:blipFill>
                <a:blip r:embed="rId3"/>
                <a:stretch>
                  <a:fillRect l="-1395" t="-140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199A991-0426-4659-39CE-5288E0A9AA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8804441" y="5270968"/>
            <a:ext cx="579140" cy="536949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995D151-C336-FE75-83F1-4A790ABAE4D3}"/>
              </a:ext>
            </a:extLst>
          </p:cNvPr>
          <p:cNvCxnSpPr>
            <a:cxnSpLocks/>
          </p:cNvCxnSpPr>
          <p:nvPr/>
        </p:nvCxnSpPr>
        <p:spPr>
          <a:xfrm flipV="1">
            <a:off x="8246279" y="4917413"/>
            <a:ext cx="0" cy="415791"/>
          </a:xfrm>
          <a:prstGeom prst="straightConnector1">
            <a:avLst/>
          </a:prstGeom>
          <a:ln w="28575">
            <a:solidFill>
              <a:srgbClr val="F8475E"/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DBB5A7A-70FD-D3C2-0102-47C5674BA8ED}"/>
              </a:ext>
            </a:extLst>
          </p:cNvPr>
          <p:cNvSpPr txBox="1"/>
          <p:nvPr/>
        </p:nvSpPr>
        <p:spPr>
          <a:xfrm>
            <a:off x="7683868" y="5323630"/>
            <a:ext cx="1128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>
                <a:solidFill>
                  <a:srgbClr val="F8475E"/>
                </a:solidFill>
              </a:rPr>
              <a:t>overflow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134C53-A416-F4A7-96A2-5D998E50351A}"/>
              </a:ext>
            </a:extLst>
          </p:cNvPr>
          <p:cNvGrpSpPr/>
          <p:nvPr/>
        </p:nvGrpSpPr>
        <p:grpSpPr>
          <a:xfrm>
            <a:off x="1521553" y="2120837"/>
            <a:ext cx="3122027" cy="3758136"/>
            <a:chOff x="1521553" y="2120837"/>
            <a:chExt cx="3122027" cy="375813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E7C8FDC-D1AD-B803-F963-7B8D71EC1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03" t="5003" r="10549"/>
            <a:stretch>
              <a:fillRect/>
            </a:stretch>
          </p:blipFill>
          <p:spPr>
            <a:xfrm>
              <a:off x="1521553" y="2120837"/>
              <a:ext cx="3122027" cy="375813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08F19CB-BB3E-A2ED-6008-55D9FBF494BD}"/>
                    </a:ext>
                  </a:extLst>
                </p:cNvPr>
                <p:cNvSpPr txBox="1"/>
                <p:nvPr/>
              </p:nvSpPr>
              <p:spPr>
                <a:xfrm>
                  <a:off x="3212106" y="5079543"/>
                  <a:ext cx="530606" cy="369332"/>
                </a:xfrm>
                <a:prstGeom prst="rect">
                  <a:avLst/>
                </a:prstGeom>
                <a:solidFill>
                  <a:srgbClr val="FAFAFA"/>
                </a:solidFill>
                <a:effectLst>
                  <a:softEdge rad="63500"/>
                </a:effectLst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E06B74"/>
                      </a:solidFill>
                    </a:rPr>
                    <a:t>a</a:t>
                  </a:r>
                  <a14:m>
                    <m:oMath xmlns:m="http://schemas.openxmlformats.org/officeDocument/2006/math">
                      <m:r>
                        <a:rPr lang="en-US">
                          <a:solidFill>
                            <a:srgbClr val="E06B74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a14:m>
                  <a:r>
                    <a:rPr lang="en-US" dirty="0">
                      <a:solidFill>
                        <a:srgbClr val="E06B74"/>
                      </a:solidFill>
                    </a:rPr>
                    <a:t>b</a:t>
                  </a:r>
                  <a:endParaRPr lang="en-US" dirty="0">
                    <a:solidFill>
                      <a:srgbClr val="36383E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CCECE72-4E73-5747-073A-0BD6E45085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2106" y="5079543"/>
                  <a:ext cx="53060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0345" t="-8197" r="-8046" b="-24590"/>
                  </a:stretch>
                </a:blipFill>
                <a:effectLst>
                  <a:softEdge rad="63500"/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EFE9B63-39DD-90FA-B0E0-0D6F71A567BB}"/>
              </a:ext>
            </a:extLst>
          </p:cNvPr>
          <p:cNvSpPr txBox="1"/>
          <p:nvPr/>
        </p:nvSpPr>
        <p:spPr>
          <a:xfrm>
            <a:off x="5242181" y="5923439"/>
            <a:ext cx="574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Note: Integers behave differently than bit vectors</a:t>
            </a:r>
            <a:endParaRPr lang="en-IL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582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4190-8F4E-DF40-8FC4-CED822997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8978E51-635B-F827-845C-3BBBC945F8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5003" r="10549"/>
          <a:stretch>
            <a:fillRect/>
          </a:stretch>
        </p:blipFill>
        <p:spPr>
          <a:xfrm>
            <a:off x="1521553" y="2120837"/>
            <a:ext cx="3122027" cy="37581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053F26-3ED3-4BE8-9FC4-B52402F6B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Bit-precise verification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8BD6483-8103-EACE-3807-B9EDEB0EE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564" y="6364822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0DD1D3E-8EFA-7B08-6DAE-55CC2E002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699"/>
            <a:ext cx="10515600" cy="423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7D6A3B"/>
                </a:solidFill>
                <a:latin typeface="Dosis" pitchFamily="2" charset="0"/>
              </a:rPr>
              <a:t>In reality, machine integers are represented as finite binary arrays.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6A5E9C-EFF8-05A8-F84C-330E7C28B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7966909" y="5083663"/>
            <a:ext cx="573877" cy="5855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13C4FD85-91EC-0FC9-5BDE-74FBF5E1A5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3278" y="2240521"/>
                <a:ext cx="5677294" cy="30304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u="sng" dirty="0"/>
                  <a:t>Example</a:t>
                </a:r>
                <a:r>
                  <a:rPr lang="en-US" sz="2200" dirty="0"/>
                  <a:t>: 4-bit width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Domain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−8,7</m:t>
                        </m:r>
                      </m:e>
                    </m:d>
                  </m:oMath>
                </a14:m>
                <a:endParaRPr lang="en-US" sz="2200" b="1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Input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=0011 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After the loop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=0011 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=1101 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</m:oMath>
                </a14:m>
                <a:endParaRPr lang="en-US" sz="2200" b="0" dirty="0"/>
              </a:p>
              <a:p>
                <a:pPr>
                  <a:lnSpc>
                    <a:spcPct val="100000"/>
                  </a:lnSpc>
                </a:pPr>
                <a:r>
                  <a:rPr lang="en-US" sz="2200" b="1" dirty="0">
                    <a:solidFill>
                      <a:schemeClr val="accent1"/>
                    </a:solidFill>
                  </a:rPr>
                  <a:t>Assertion</a:t>
                </a:r>
                <a:r>
                  <a:rPr lang="en-US" sz="2200" dirty="0"/>
                  <a:t>: </a:t>
                </a:r>
                <a:r>
                  <a:rPr lang="en-US" sz="22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holds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i="1">
                          <a:latin typeface="Cambria Math" panose="02040503050406030204" pitchFamily="18" charset="0"/>
                        </a:rPr>
                        <m:t>0011⊕1101=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1110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AD43375-947F-8095-109D-A8D53171F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278" y="2240521"/>
                <a:ext cx="5677294" cy="3030447"/>
              </a:xfrm>
              <a:prstGeom prst="rect">
                <a:avLst/>
              </a:prstGeom>
              <a:blipFill>
                <a:blip r:embed="rId5"/>
                <a:stretch>
                  <a:fillRect l="-1395" t="-140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58E9865-5DE1-A955-D593-80DE50FB58A0}"/>
              </a:ext>
            </a:extLst>
          </p:cNvPr>
          <p:cNvSpPr/>
          <p:nvPr/>
        </p:nvSpPr>
        <p:spPr>
          <a:xfrm>
            <a:off x="3250667" y="5144101"/>
            <a:ext cx="450019" cy="253734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1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6C74-3224-2766-1760-5E87B6802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2835DAB-D3B6-0F66-BE4C-5D320BC9DDB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fr-FR" dirty="0">
                    <a:solidFill>
                      <a:schemeClr val="accent1"/>
                    </a:solidFill>
                    <a:latin typeface="Dosis" pitchFamily="2" charset="0"/>
                  </a:rPr>
                  <a:t>Option 1: encode modulo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endParaRPr lang="en-IL" dirty="0">
                  <a:solidFill>
                    <a:schemeClr val="accent1"/>
                  </a:solidFill>
                  <a:latin typeface="Dosis" pitchFamily="2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2835DAB-D3B6-0F66-BE4C-5D320BC9DD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A6BE1F2-CCB2-56F5-EFF3-3D38BB3C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D1AC5-1951-6F4F-2E67-1BD149CAF4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5003" r="10549"/>
          <a:stretch>
            <a:fillRect/>
          </a:stretch>
        </p:blipFill>
        <p:spPr>
          <a:xfrm>
            <a:off x="1015328" y="2164352"/>
            <a:ext cx="3122027" cy="37581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65A81A-3F37-630C-ED6B-456A4A31C854}"/>
                  </a:ext>
                </a:extLst>
              </p:cNvPr>
              <p:cNvSpPr txBox="1"/>
              <p:nvPr/>
            </p:nvSpPr>
            <p:spPr>
              <a:xfrm>
                <a:off x="4849748" y="2657532"/>
                <a:ext cx="7137988" cy="2762284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bSup>
                            <m:sSubSup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b="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bSup>
                            <m:sSub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0001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Sup>
                                <m:sSubSupPr>
                                  <m:ctrlP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bSup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65A81A-3F37-630C-ED6B-456A4A31C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748" y="2657532"/>
                <a:ext cx="7137988" cy="276228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4A4372-70D9-307B-281F-350C5EAD1E23}"/>
                  </a:ext>
                </a:extLst>
              </p:cNvPr>
              <p:cNvSpPr txBox="1"/>
              <p:nvPr/>
            </p:nvSpPr>
            <p:spPr>
              <a:xfrm>
                <a:off x="5851254" y="5552562"/>
                <a:ext cx="513497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>
                    <a:latin typeface="Dosis" pitchFamily="2" charset="0"/>
                  </a:rPr>
                  <a:t> have sort BV[4]</a:t>
                </a:r>
                <a:endParaRPr 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4A4372-70D9-307B-281F-350C5EAD1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254" y="5552562"/>
                <a:ext cx="5134974" cy="430887"/>
              </a:xfrm>
              <a:prstGeom prst="rect">
                <a:avLst/>
              </a:prstGeom>
              <a:blipFill>
                <a:blip r:embed="rId6"/>
                <a:stretch>
                  <a:fillRect t="-12676" b="-239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12D713-1CB9-05BA-5FE0-6CF0562C03FC}"/>
                  </a:ext>
                </a:extLst>
              </p:cNvPr>
              <p:cNvSpPr txBox="1"/>
              <p:nvPr/>
            </p:nvSpPr>
            <p:spPr>
              <a:xfrm>
                <a:off x="294688" y="3688047"/>
                <a:ext cx="4344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12D713-1CB9-05BA-5FE0-6CF0562C0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88" y="3688047"/>
                <a:ext cx="434485" cy="369332"/>
              </a:xfrm>
              <a:prstGeom prst="rect">
                <a:avLst/>
              </a:prstGeom>
              <a:blipFill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1441D2-6FC9-595A-61B5-74D0965690F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729173" y="3872713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BD4B3BD-9D03-95A3-1F3A-B00DCBA32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566" y="1438184"/>
            <a:ext cx="10515600" cy="423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7D6A3B"/>
                </a:solidFill>
                <a:latin typeface="Dosis" pitchFamily="2" charset="0"/>
              </a:rPr>
              <a:t>The theory of fixed-size bit-vectors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B31BCD-88CF-C1C8-BADA-6FF10FD2A3A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4137355" y="4038674"/>
            <a:ext cx="712393" cy="474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7F039A-FD62-9034-904A-DD7667FA9777}"/>
                  </a:ext>
                </a:extLst>
              </p:cNvPr>
              <p:cNvSpPr txBox="1"/>
              <p:nvPr/>
            </p:nvSpPr>
            <p:spPr>
              <a:xfrm>
                <a:off x="294688" y="5130406"/>
                <a:ext cx="4344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I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7F039A-FD62-9034-904A-DD7667FA9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88" y="5130406"/>
                <a:ext cx="434485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BBFF0D-8EA9-0CEA-A30F-8E7C59FBB14D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729173" y="5315072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1DD3059-D745-9C43-7CC6-789C8DD4E34D}"/>
              </a:ext>
            </a:extLst>
          </p:cNvPr>
          <p:cNvSpPr txBox="1"/>
          <p:nvPr/>
        </p:nvSpPr>
        <p:spPr>
          <a:xfrm>
            <a:off x="7507150" y="789279"/>
            <a:ext cx="1823183" cy="476726"/>
          </a:xfrm>
          <a:prstGeom prst="roundRect">
            <a:avLst/>
          </a:prstGeom>
          <a:solidFill>
            <a:srgbClr val="F8475E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ysClr val="windowText" lastClr="000000"/>
                </a:solidFill>
                <a:latin typeface="Dosis" pitchFamily="2" charset="0"/>
              </a:rPr>
              <a:t>Not scalable</a:t>
            </a:r>
            <a:endParaRPr lang="en-US" sz="2200" b="1" dirty="0">
              <a:solidFill>
                <a:sysClr val="windowText" lastClr="0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B647EE-6085-2BEA-D0B7-18BB96DD5E4A}"/>
              </a:ext>
            </a:extLst>
          </p:cNvPr>
          <p:cNvSpPr txBox="1"/>
          <p:nvPr/>
        </p:nvSpPr>
        <p:spPr>
          <a:xfrm>
            <a:off x="7220214" y="1305438"/>
            <a:ext cx="23970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Spacer reaches width </a:t>
            </a:r>
            <a:r>
              <a:rPr lang="en-US" sz="2200" b="1" dirty="0">
                <a:solidFill>
                  <a:srgbClr val="F8475E"/>
                </a:solidFill>
                <a:latin typeface="Dosis" pitchFamily="2" charset="0"/>
              </a:rPr>
              <a:t>9</a:t>
            </a:r>
            <a:r>
              <a:rPr lang="en-US" sz="2200" dirty="0">
                <a:latin typeface="Dosis" pitchFamily="2" charset="0"/>
              </a:rPr>
              <a:t> in 2 hours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70021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 animBg="1"/>
      <p:bldP spid="6" grpId="0"/>
      <p:bldP spid="11" grpId="0"/>
      <p:bldP spid="20" grpId="0"/>
      <p:bldP spid="22" grpId="0" animBg="1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BE537-FA6B-8145-ECA4-A6CE9C851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1DF9738-2B9A-19D0-6961-B6BC97B5B75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fr-FR" dirty="0">
                    <a:solidFill>
                      <a:schemeClr val="accent1"/>
                    </a:solidFill>
                    <a:latin typeface="Dosis" pitchFamily="2" charset="0"/>
                  </a:rPr>
                  <a:t>Option 2: encode modulo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IL" dirty="0">
                  <a:solidFill>
                    <a:schemeClr val="accent1"/>
                  </a:solidFill>
                  <a:latin typeface="Dosis" pitchFamily="2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1DF9738-2B9A-19D0-6961-B6BC97B5B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29915A92-CB36-B5C2-B68B-E893E98A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64C4EB-70B5-DD2F-9406-5259E8BB88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5003" r="10549"/>
          <a:stretch>
            <a:fillRect/>
          </a:stretch>
        </p:blipFill>
        <p:spPr>
          <a:xfrm>
            <a:off x="1015328" y="2164352"/>
            <a:ext cx="3122027" cy="37581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01BC77-C410-0CD0-332B-3A982E3B7F86}"/>
                  </a:ext>
                </a:extLst>
              </p:cNvPr>
              <p:cNvSpPr txBox="1"/>
              <p:nvPr/>
            </p:nvSpPr>
            <p:spPr>
              <a:xfrm>
                <a:off x="294688" y="3688047"/>
                <a:ext cx="4344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E01BC77-C410-0CD0-332B-3A982E3B7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88" y="3688047"/>
                <a:ext cx="434485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ED12BF7-0AED-45B3-441F-A98EF89ADF5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29173" y="3872713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F16E05-7D02-A21C-4814-4AFE3B8C53B6}"/>
                  </a:ext>
                </a:extLst>
              </p:cNvPr>
              <p:cNvSpPr txBox="1"/>
              <p:nvPr/>
            </p:nvSpPr>
            <p:spPr>
              <a:xfrm>
                <a:off x="294688" y="5130406"/>
                <a:ext cx="4344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I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F16E05-7D02-A21C-4814-4AFE3B8C5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88" y="5130406"/>
                <a:ext cx="434485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280C11-868A-CE39-C9F5-79270157965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29173" y="5315072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040758F-8877-9F07-623C-2353EBD0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566" y="1438184"/>
            <a:ext cx="10515600" cy="423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7D6A3B"/>
                </a:solidFill>
                <a:latin typeface="Dosis" pitchFamily="2" charset="0"/>
              </a:rPr>
              <a:t>The theory of integer arithmetic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1765CC-B865-84E2-DE0D-82AB6998953B}"/>
                  </a:ext>
                </a:extLst>
              </p:cNvPr>
              <p:cNvSpPr txBox="1"/>
              <p:nvPr/>
            </p:nvSpPr>
            <p:spPr>
              <a:xfrm>
                <a:off x="4482730" y="2175359"/>
                <a:ext cx="7466708" cy="298400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&gt;0∧−8≤</m:t>
                          </m:r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&lt;8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=0∧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b="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sz="2200" dirty="0"/>
                  <a:t>	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 i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 i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 i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 i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200" i="1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</m:e>
                    </m:d>
                  </m:oMath>
                </a14:m>
                <a:endParaRPr lang="en-US" sz="22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uts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𝐗𝐎𝐑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1765CC-B865-84E2-DE0D-82AB69989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730" y="2175359"/>
                <a:ext cx="7466708" cy="298400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F3FF82-0DB4-FDE2-160E-534A7FEEDB5D}"/>
                  </a:ext>
                </a:extLst>
              </p:cNvPr>
              <p:cNvSpPr txBox="1"/>
              <p:nvPr/>
            </p:nvSpPr>
            <p:spPr>
              <a:xfrm>
                <a:off x="6616164" y="5249208"/>
                <a:ext cx="319983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>
                    <a:latin typeface="Dosis" pitchFamily="2" charset="0"/>
                  </a:rPr>
                  <a:t> have sort Int</a:t>
                </a:r>
                <a:endParaRPr lang="en-US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F3FF82-0DB4-FDE2-160E-534A7FEED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164" y="5249208"/>
                <a:ext cx="3199839" cy="430887"/>
              </a:xfrm>
              <a:prstGeom prst="rect">
                <a:avLst/>
              </a:prstGeom>
              <a:blipFill>
                <a:blip r:embed="rId8"/>
                <a:stretch>
                  <a:fillRect t="-12676" b="-2535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AECF0A-6E2E-E27C-1B3F-8A8C6431511F}"/>
                  </a:ext>
                </a:extLst>
              </p:cNvPr>
              <p:cNvSpPr txBox="1"/>
              <p:nvPr/>
            </p:nvSpPr>
            <p:spPr>
              <a:xfrm>
                <a:off x="6385406" y="5680095"/>
                <a:ext cx="366135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uts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ite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&lt;8,</m:t>
                          </m:r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−16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AECF0A-6E2E-E27C-1B3F-8A8C64315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406" y="5680095"/>
                <a:ext cx="3661354" cy="430887"/>
              </a:xfrm>
              <a:prstGeom prst="rect">
                <a:avLst/>
              </a:prstGeom>
              <a:blipFill>
                <a:blip r:embed="rId9"/>
                <a:stretch>
                  <a:fillRect l="-49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EC0F48-606B-8498-2880-7399ED5400EC}"/>
              </a:ext>
            </a:extLst>
          </p:cNvPr>
          <p:cNvCxnSpPr>
            <a:cxnSpLocks/>
          </p:cNvCxnSpPr>
          <p:nvPr/>
        </p:nvCxnSpPr>
        <p:spPr>
          <a:xfrm>
            <a:off x="4137355" y="4043420"/>
            <a:ext cx="345375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60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EDDF3-00DC-18FD-0B37-818B463A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2AEAD40-7644-DD72-F5F6-9A2E9A63A62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fr-FR" dirty="0">
                    <a:solidFill>
                      <a:schemeClr val="accent1"/>
                    </a:solidFill>
                    <a:latin typeface="Dosis" pitchFamily="2" charset="0"/>
                  </a:rPr>
                  <a:t>Option 2: encode modulo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IL" dirty="0">
                  <a:solidFill>
                    <a:schemeClr val="accent1"/>
                  </a:solidFill>
                  <a:latin typeface="Dosis" pitchFamily="2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2AEAD40-7644-DD72-F5F6-9A2E9A63A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A05D8875-A435-1498-1E46-521B84A6B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03D0C2-21C1-C213-E163-79A5036499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5003" r="10549"/>
          <a:stretch>
            <a:fillRect/>
          </a:stretch>
        </p:blipFill>
        <p:spPr>
          <a:xfrm>
            <a:off x="1015328" y="2164352"/>
            <a:ext cx="3122027" cy="37581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D2A8CE-576C-0D01-0805-1895607CFFE7}"/>
                  </a:ext>
                </a:extLst>
              </p:cNvPr>
              <p:cNvSpPr txBox="1"/>
              <p:nvPr/>
            </p:nvSpPr>
            <p:spPr>
              <a:xfrm>
                <a:off x="294688" y="3688047"/>
                <a:ext cx="4344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D2A8CE-576C-0D01-0805-1895607CF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88" y="3688047"/>
                <a:ext cx="434485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B5E72A-B914-AC4A-F00D-9C4E8CAA9C4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29173" y="3872713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51F533-F628-515B-C004-D8B2BE7C7BC9}"/>
                  </a:ext>
                </a:extLst>
              </p:cNvPr>
              <p:cNvSpPr txBox="1"/>
              <p:nvPr/>
            </p:nvSpPr>
            <p:spPr>
              <a:xfrm>
                <a:off x="294688" y="5130406"/>
                <a:ext cx="4344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I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51F533-F628-515B-C004-D8B2BE7C7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88" y="5130406"/>
                <a:ext cx="434485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0C21AE-D369-99DA-69BE-88F66B0C5A7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29173" y="5315072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559ED6-91C0-A73B-0CA5-6D849002E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566" y="1438184"/>
            <a:ext cx="10515600" cy="423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7D6A3B"/>
                </a:solidFill>
                <a:latin typeface="Dosis" pitchFamily="2" charset="0"/>
              </a:rPr>
              <a:t>The theory of integer arithmetic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2511EF-01FD-D794-AEA7-318D3C3D8D85}"/>
                  </a:ext>
                </a:extLst>
              </p:cNvPr>
              <p:cNvSpPr txBox="1"/>
              <p:nvPr/>
            </p:nvSpPr>
            <p:spPr>
              <a:xfrm>
                <a:off x="4482730" y="2175359"/>
                <a:ext cx="7466708" cy="298400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&gt;0∧−8≤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&lt;8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=0∧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b="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sz="22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uts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𝐗𝐎𝐑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2511EF-01FD-D794-AEA7-318D3C3D8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730" y="2175359"/>
                <a:ext cx="7466708" cy="298400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796090-673A-33F4-958F-73F67BC2DD25}"/>
                  </a:ext>
                </a:extLst>
              </p:cNvPr>
              <p:cNvSpPr txBox="1"/>
              <p:nvPr/>
            </p:nvSpPr>
            <p:spPr>
              <a:xfrm>
                <a:off x="6616164" y="5249208"/>
                <a:ext cx="319983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>
                    <a:latin typeface="Dosis" pitchFamily="2" charset="0"/>
                  </a:rPr>
                  <a:t> have sort Int</a:t>
                </a:r>
                <a:endParaRPr lang="en-US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796090-673A-33F4-958F-73F67BC2D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164" y="5249208"/>
                <a:ext cx="3199839" cy="430887"/>
              </a:xfrm>
              <a:prstGeom prst="rect">
                <a:avLst/>
              </a:prstGeom>
              <a:blipFill>
                <a:blip r:embed="rId8"/>
                <a:stretch>
                  <a:fillRect t="-12676" b="-2535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30E524-48A8-2418-3C26-A1DB4B1504A2}"/>
                  </a:ext>
                </a:extLst>
              </p:cNvPr>
              <p:cNvSpPr txBox="1"/>
              <p:nvPr/>
            </p:nvSpPr>
            <p:spPr>
              <a:xfrm>
                <a:off x="6385406" y="5680095"/>
                <a:ext cx="366135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uts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ite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&lt;8,</m:t>
                          </m:r>
                          <m:r>
                            <a:rPr lang="en-US" sz="22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−16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30E524-48A8-2418-3C26-A1DB4B150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406" y="5680095"/>
                <a:ext cx="3661354" cy="430887"/>
              </a:xfrm>
              <a:prstGeom prst="rect">
                <a:avLst/>
              </a:prstGeom>
              <a:blipFill>
                <a:blip r:embed="rId9"/>
                <a:stretch>
                  <a:fillRect l="-49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C83A1A-8702-CF58-CEB6-119950EFFE63}"/>
              </a:ext>
            </a:extLst>
          </p:cNvPr>
          <p:cNvCxnSpPr>
            <a:cxnSpLocks/>
          </p:cNvCxnSpPr>
          <p:nvPr/>
        </p:nvCxnSpPr>
        <p:spPr>
          <a:xfrm>
            <a:off x="4137355" y="4043420"/>
            <a:ext cx="345375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7CB507E-D463-3A25-7115-B6A1E61A89CC}"/>
              </a:ext>
            </a:extLst>
          </p:cNvPr>
          <p:cNvSpPr txBox="1"/>
          <p:nvPr/>
        </p:nvSpPr>
        <p:spPr>
          <a:xfrm>
            <a:off x="7507150" y="789279"/>
            <a:ext cx="1823183" cy="476726"/>
          </a:xfrm>
          <a:prstGeom prst="roundRect">
            <a:avLst/>
          </a:prstGeom>
          <a:solidFill>
            <a:srgbClr val="F8475E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ysClr val="windowText" lastClr="000000"/>
                </a:solidFill>
                <a:latin typeface="Dosis" pitchFamily="2" charset="0"/>
              </a:rPr>
              <a:t>Not scalable</a:t>
            </a:r>
            <a:endParaRPr lang="en-US" sz="2200" b="1" dirty="0">
              <a:solidFill>
                <a:sysClr val="windowText" lastClr="0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9EFD46-0F51-6459-41AB-BD6C5EAE845D}"/>
              </a:ext>
            </a:extLst>
          </p:cNvPr>
          <p:cNvSpPr txBox="1"/>
          <p:nvPr/>
        </p:nvSpPr>
        <p:spPr>
          <a:xfrm>
            <a:off x="7220214" y="1305438"/>
            <a:ext cx="23970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Spacer reaches width </a:t>
            </a:r>
            <a:r>
              <a:rPr lang="en-US" sz="2200" b="1" dirty="0">
                <a:solidFill>
                  <a:srgbClr val="F8475E"/>
                </a:solidFill>
                <a:latin typeface="Dosis" pitchFamily="2" charset="0"/>
              </a:rPr>
              <a:t>3</a:t>
            </a:r>
            <a:r>
              <a:rPr lang="en-US" sz="2200" dirty="0">
                <a:latin typeface="Dosis" pitchFamily="2" charset="0"/>
              </a:rPr>
              <a:t> in 2 hours</a:t>
            </a: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43608DD2-4331-DFD9-FB13-2D4028B68E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90526" y="3416538"/>
                <a:ext cx="10163274" cy="1164504"/>
              </a:xfrm>
              <a:prstGeom prst="roundRect">
                <a:avLst/>
              </a:prstGeom>
              <a:solidFill>
                <a:srgbClr val="F8475E"/>
              </a:solidFill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ctr">
                  <a:defRPr sz="2200" b="1">
                    <a:solidFill>
                      <a:sysClr val="windowText" lastClr="000000"/>
                    </a:solidFill>
                    <a:latin typeface="Dosis" pitchFamily="2" charset="0"/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XOR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ite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div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p>
                                        <m:sSupPr>
                                          <m:ctrl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↔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div</m:t>
                                      </m:r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p>
                                        <m:sSupPr>
                                          <m:ctrl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mod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 2</m:t>
                                  </m:r>
                                </m:e>
                              </m:d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,0,</m:t>
                              </m:r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43608DD2-4331-DFD9-FB13-2D4028B68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526" y="3416538"/>
                <a:ext cx="10163274" cy="1164504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252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3808-9EA9-28A4-6285-50276797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9801-4808-EE90-F713-D1B8F783A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Key idea: don't commit to one theory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871E80D4-024A-2E74-7549-0A8FBAE72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C5CE1F1-B9C9-ACB0-65EF-3056314365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6566" y="1438184"/>
                <a:ext cx="10515600" cy="4235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400" dirty="0">
                    <a:solidFill>
                      <a:srgbClr val="7D6A3B"/>
                    </a:solidFill>
                    <a:latin typeface="Dosis" pitchFamily="2" charset="0"/>
                  </a:rPr>
                  <a:t>Our approach: Leveraging the complementary strengths of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D6A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D6A3B"/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7D6A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7D6A3B"/>
                    </a:solidFill>
                    <a:latin typeface="Dosis" pitchFamily="2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D6A3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7D6A3B"/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smtClean="0">
                            <a:solidFill>
                              <a:srgbClr val="7D6A3B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sz="2400" dirty="0">
                  <a:solidFill>
                    <a:srgbClr val="7D6A3B"/>
                  </a:solidFill>
                  <a:latin typeface="Dosis" pitchFamily="2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C5CE1F1-B9C9-ACB0-65EF-305631436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566" y="1438184"/>
                <a:ext cx="10515600" cy="423556"/>
              </a:xfrm>
              <a:prstGeom prst="rect">
                <a:avLst/>
              </a:prstGeom>
              <a:blipFill>
                <a:blip r:embed="rId3"/>
                <a:stretch>
                  <a:fillRect l="-870" t="-20290" b="-33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97ACA33-5591-1A2B-E2D4-02E4B8995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" t="5003" r="10549"/>
          <a:stretch>
            <a:fillRect/>
          </a:stretch>
        </p:blipFill>
        <p:spPr>
          <a:xfrm>
            <a:off x="1015328" y="2164352"/>
            <a:ext cx="3122027" cy="37581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E43DB1-4C50-0D00-2CFE-6A43DA90057C}"/>
                  </a:ext>
                </a:extLst>
              </p:cNvPr>
              <p:cNvSpPr txBox="1"/>
              <p:nvPr/>
            </p:nvSpPr>
            <p:spPr>
              <a:xfrm>
                <a:off x="294688" y="3688047"/>
                <a:ext cx="4344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E43DB1-4C50-0D00-2CFE-6A43DA900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88" y="3688047"/>
                <a:ext cx="434485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543958-5806-D06A-AF36-DA4013A4A4E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29173" y="3872713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2919F4-BF8F-0D12-AD7D-D74E4E8AC65A}"/>
                  </a:ext>
                </a:extLst>
              </p:cNvPr>
              <p:cNvSpPr txBox="1"/>
              <p:nvPr/>
            </p:nvSpPr>
            <p:spPr>
              <a:xfrm>
                <a:off x="294688" y="5130406"/>
                <a:ext cx="4344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IL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2919F4-BF8F-0D12-AD7D-D74E4E8AC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88" y="5130406"/>
                <a:ext cx="434485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FAAB28D-CDCF-0C65-240A-433CCF76AB3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729173" y="5315072"/>
            <a:ext cx="479360" cy="0"/>
          </a:xfrm>
          <a:prstGeom prst="straightConnector1">
            <a:avLst/>
          </a:prstGeom>
          <a:ln w="28575">
            <a:solidFill>
              <a:srgbClr val="01597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EF4913-9DFC-E5FA-AAD2-5D7F19DB7904}"/>
                  </a:ext>
                </a:extLst>
              </p:cNvPr>
              <p:cNvSpPr txBox="1"/>
              <p:nvPr/>
            </p:nvSpPr>
            <p:spPr>
              <a:xfrm>
                <a:off x="4482730" y="2175359"/>
                <a:ext cx="7361383" cy="229131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&gt;0∧−8≤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&lt;8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=0∧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b="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sz="2200" dirty="0"/>
                  <a:t>	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</m:e>
                    </m:d>
                  </m:oMath>
                </a14:m>
                <a:endParaRPr lang="en-US" sz="2200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EF4913-9DFC-E5FA-AAD2-5D7F19DB7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730" y="2175359"/>
                <a:ext cx="7361383" cy="2291317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C86FC4-8C44-65AB-08B5-DB1DB5B482F0}"/>
                  </a:ext>
                </a:extLst>
              </p:cNvPr>
              <p:cNvSpPr txBox="1"/>
              <p:nvPr/>
            </p:nvSpPr>
            <p:spPr>
              <a:xfrm>
                <a:off x="4482729" y="5311995"/>
                <a:ext cx="7361383" cy="623831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C86FC4-8C44-65AB-08B5-DB1DB5B48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2729" y="5311995"/>
                <a:ext cx="7361383" cy="623831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9D3E8351-39D4-8D7C-7B61-4A56415F49F8}"/>
              </a:ext>
            </a:extLst>
          </p:cNvPr>
          <p:cNvCxnSpPr>
            <a:cxnSpLocks/>
            <a:stCxn id="16" idx="4"/>
            <a:endCxn id="15" idx="0"/>
          </p:cNvCxnSpPr>
          <p:nvPr/>
        </p:nvCxnSpPr>
        <p:spPr>
          <a:xfrm rot="5400000">
            <a:off x="6266977" y="3344318"/>
            <a:ext cx="1166799" cy="3144041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5400000" scaled="1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2D0E865-D347-A50F-AA88-444CA5CCDC12}"/>
              </a:ext>
            </a:extLst>
          </p:cNvPr>
          <p:cNvSpPr/>
          <p:nvPr/>
        </p:nvSpPr>
        <p:spPr>
          <a:xfrm>
            <a:off x="5089007" y="5499738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1703508-802F-78CF-30DC-0FC85CC651DA}"/>
              </a:ext>
            </a:extLst>
          </p:cNvPr>
          <p:cNvSpPr/>
          <p:nvPr/>
        </p:nvSpPr>
        <p:spPr>
          <a:xfrm>
            <a:off x="8233048" y="3937818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14A86BF-F2E5-FF11-3997-F20AEA61FBE1}"/>
              </a:ext>
            </a:extLst>
          </p:cNvPr>
          <p:cNvSpPr txBox="1">
            <a:spLocks/>
          </p:cNvSpPr>
          <p:nvPr/>
        </p:nvSpPr>
        <p:spPr>
          <a:xfrm>
            <a:off x="8233048" y="4677384"/>
            <a:ext cx="2434060" cy="42390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 dirty="0">
                <a:latin typeface="Dosis" pitchFamily="2" charset="0"/>
                <a:ea typeface="+mn-ea"/>
                <a:cs typeface="+mn-cs"/>
              </a:rPr>
              <a:t>interface constraint</a:t>
            </a:r>
            <a:endParaRPr lang="en-IL" sz="2200" b="1" dirty="0">
              <a:latin typeface="Dosis" pitchFamily="2" charset="0"/>
              <a:ea typeface="+mn-ea"/>
              <a:cs typeface="+mn-cs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CE494E-D78B-95D1-4DC7-1D72982947EC}"/>
              </a:ext>
            </a:extLst>
          </p:cNvPr>
          <p:cNvCxnSpPr>
            <a:cxnSpLocks/>
          </p:cNvCxnSpPr>
          <p:nvPr/>
        </p:nvCxnSpPr>
        <p:spPr>
          <a:xfrm>
            <a:off x="4137355" y="4857284"/>
            <a:ext cx="345375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AC186E0-4445-CE39-0542-B73BBA99C3B5}"/>
              </a:ext>
            </a:extLst>
          </p:cNvPr>
          <p:cNvSpPr txBox="1"/>
          <p:nvPr/>
        </p:nvSpPr>
        <p:spPr>
          <a:xfrm>
            <a:off x="4735187" y="4456899"/>
            <a:ext cx="10490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osis" pitchFamily="2" charset="0"/>
              </a:rPr>
              <a:t>sort Int</a:t>
            </a:r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D352E4-7808-6A0D-277F-1B70D76FE6D6}"/>
              </a:ext>
            </a:extLst>
          </p:cNvPr>
          <p:cNvSpPr txBox="1"/>
          <p:nvPr/>
        </p:nvSpPr>
        <p:spPr>
          <a:xfrm>
            <a:off x="4735187" y="5931090"/>
            <a:ext cx="13373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Dosis" pitchFamily="2" charset="0"/>
              </a:rPr>
              <a:t>sort BV[4]</a:t>
            </a:r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67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7" grpId="0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82F23-2E85-F69E-7FF9-87C486237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6C56C-BD82-4F02-A425-56073FF69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The Mosaic framework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23DF504-C3E7-4C71-73E6-28EE34C7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99268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7739F8-87DC-1D3E-1027-15C06B389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3236"/>
            <a:ext cx="889340" cy="889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10FC41-9265-38B1-2FE0-A5AFF6116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630878" y="1951567"/>
            <a:ext cx="1306677" cy="1138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351D0C-92DD-D12C-1ECE-78C7480628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" r="-209"/>
          <a:stretch>
            <a:fillRect/>
          </a:stretch>
        </p:blipFill>
        <p:spPr>
          <a:xfrm>
            <a:off x="630878" y="3942928"/>
            <a:ext cx="1306677" cy="130667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6E2E57-EF18-4533-0024-4F0FC25B3B18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180758" y="2741676"/>
            <a:ext cx="407288" cy="288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910AFEF-F5A4-A88E-8371-8C19277CDBF3}"/>
              </a:ext>
            </a:extLst>
          </p:cNvPr>
          <p:cNvSpPr txBox="1"/>
          <p:nvPr/>
        </p:nvSpPr>
        <p:spPr>
          <a:xfrm>
            <a:off x="666179" y="3082995"/>
            <a:ext cx="12360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Program</a:t>
            </a:r>
            <a:endParaRPr 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080879-D2B7-B18A-4B0B-1AF28B4B8BD1}"/>
              </a:ext>
            </a:extLst>
          </p:cNvPr>
          <p:cNvSpPr txBox="1"/>
          <p:nvPr/>
        </p:nvSpPr>
        <p:spPr>
          <a:xfrm>
            <a:off x="422703" y="5249605"/>
            <a:ext cx="17230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Specification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7B5C8-0E6C-3C72-65BF-C6CA2EA6AD1B}"/>
              </a:ext>
            </a:extLst>
          </p:cNvPr>
          <p:cNvCxnSpPr>
            <a:cxnSpLocks/>
          </p:cNvCxnSpPr>
          <p:nvPr/>
        </p:nvCxnSpPr>
        <p:spPr>
          <a:xfrm flipV="1">
            <a:off x="1937555" y="2518833"/>
            <a:ext cx="251876" cy="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748EBB-00FC-E3D7-EFFA-01976C82A0F7}"/>
              </a:ext>
            </a:extLst>
          </p:cNvPr>
          <p:cNvCxnSpPr>
            <a:cxnSpLocks/>
          </p:cNvCxnSpPr>
          <p:nvPr/>
        </p:nvCxnSpPr>
        <p:spPr>
          <a:xfrm>
            <a:off x="2180758" y="2506663"/>
            <a:ext cx="0" cy="465137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20824B-D276-02F8-2A68-C5AAA6C1334B}"/>
              </a:ext>
            </a:extLst>
          </p:cNvPr>
          <p:cNvCxnSpPr>
            <a:cxnSpLocks/>
          </p:cNvCxnSpPr>
          <p:nvPr/>
        </p:nvCxnSpPr>
        <p:spPr>
          <a:xfrm>
            <a:off x="2180758" y="2933164"/>
            <a:ext cx="0" cy="1812926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6261F7-595A-591A-4F9E-7D80E869EB27}"/>
              </a:ext>
            </a:extLst>
          </p:cNvPr>
          <p:cNvCxnSpPr>
            <a:cxnSpLocks/>
          </p:cNvCxnSpPr>
          <p:nvPr/>
        </p:nvCxnSpPr>
        <p:spPr>
          <a:xfrm>
            <a:off x="1937555" y="4732338"/>
            <a:ext cx="251876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3F41FB-FB78-C87C-1773-2E281B4B40B0}"/>
              </a:ext>
            </a:extLst>
          </p:cNvPr>
          <p:cNvSpPr/>
          <p:nvPr/>
        </p:nvSpPr>
        <p:spPr>
          <a:xfrm>
            <a:off x="2588046" y="2326165"/>
            <a:ext cx="1616738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Dosis" pitchFamily="2" charset="0"/>
              </a:rPr>
              <a:t>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ADD82EA2-A350-3AA2-775D-3F575BEF01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03399" y="2105966"/>
                <a:ext cx="2113372" cy="1273564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Π</m:t>
                      </m:r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00000"/>
                  </a:lnSpc>
                </a:pPr>
                <a:r>
                  <a:rPr lang="en-US" sz="2400" b="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 of CHCs modulo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</m:oMath>
                </a14:m>
                <a:endParaRPr lang="en-US" sz="2400" b="0" dirty="0">
                  <a:solidFill>
                    <a:schemeClr val="tx1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ADD82EA2-A350-3AA2-775D-3F575BEF0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399" y="2105966"/>
                <a:ext cx="2113372" cy="1273564"/>
              </a:xfrm>
              <a:prstGeom prst="roundRect">
                <a:avLst/>
              </a:prstGeom>
              <a:blipFill>
                <a:blip r:embed="rId5"/>
                <a:stretch>
                  <a:fillRect b="-8962"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62055EB-E6F6-9F38-536B-310F8C58FC28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759339" y="3527425"/>
            <a:ext cx="0" cy="96018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A4C82F-03F4-42DD-DAF5-469649E220EE}"/>
              </a:ext>
            </a:extLst>
          </p:cNvPr>
          <p:cNvSpPr/>
          <p:nvPr/>
        </p:nvSpPr>
        <p:spPr>
          <a:xfrm>
            <a:off x="2596718" y="4487605"/>
            <a:ext cx="2325241" cy="836794"/>
          </a:xfrm>
          <a:prstGeom prst="roundRect">
            <a:avLst/>
          </a:prstGeom>
          <a:solidFill>
            <a:srgbClr val="EFEADD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Dosis" pitchFamily="2" charset="0"/>
              </a:rPr>
              <a:t>Theory-Modular Encoder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7A45A7-A4EF-048F-4E04-787D4BAAFC14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4204784" y="2742748"/>
            <a:ext cx="398615" cy="1814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18A89FD-C69D-13E3-723A-1079EFFB0306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4921959" y="4902914"/>
            <a:ext cx="428632" cy="3088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58BCB4A7-6C78-8749-EB66-FB96C3B36E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0591" y="4266132"/>
                <a:ext cx="2502131" cy="1273564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800" b="0" i="1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smtClean="0">
                                  <a:solidFill>
                                    <a:srgbClr val="B307A7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smtClean="0">
                                  <a:solidFill>
                                    <a:srgbClr val="B307A7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B307A7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B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00000"/>
                  </a:lnSpc>
                </a:pPr>
                <a:r>
                  <a:rPr lang="en-US" sz="2400" b="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Theory-modular encoding</a:t>
                </a:r>
                <a:endParaRPr lang="en-US" sz="2800" dirty="0"/>
              </a:p>
            </p:txBody>
          </p:sp>
        </mc:Choice>
        <mc:Fallback xmlns="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58BCB4A7-6C78-8749-EB66-FB96C3B36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591" y="4266132"/>
                <a:ext cx="2502131" cy="1273564"/>
              </a:xfrm>
              <a:prstGeom prst="roundRect">
                <a:avLst/>
              </a:prstGeom>
              <a:blipFill>
                <a:blip r:embed="rId6"/>
                <a:stretch>
                  <a:fillRect b="-9479"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1">
            <a:extLst>
              <a:ext uri="{FF2B5EF4-FFF2-40B4-BE49-F238E27FC236}">
                <a16:creationId xmlns:a16="http://schemas.microsoft.com/office/drawing/2014/main" id="{7E3AC25B-F139-4952-F5E2-4CA61995F451}"/>
              </a:ext>
            </a:extLst>
          </p:cNvPr>
          <p:cNvSpPr txBox="1">
            <a:spLocks/>
          </p:cNvSpPr>
          <p:nvPr/>
        </p:nvSpPr>
        <p:spPr>
          <a:xfrm>
            <a:off x="7389805" y="3590303"/>
            <a:ext cx="1396126" cy="64675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dirty="0">
                <a:solidFill>
                  <a:prstClr val="black"/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interface constraints</a:t>
            </a:r>
            <a:endParaRPr lang="en-IL" sz="2200" dirty="0">
              <a:solidFill>
                <a:prstClr val="black"/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F37E4E-7BA6-B335-49A4-729BB308222E}"/>
              </a:ext>
            </a:extLst>
          </p:cNvPr>
          <p:cNvCxnSpPr>
            <a:cxnSpLocks/>
          </p:cNvCxnSpPr>
          <p:nvPr/>
        </p:nvCxnSpPr>
        <p:spPr>
          <a:xfrm>
            <a:off x="5828097" y="4182177"/>
            <a:ext cx="216135" cy="20694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85B162D-2B27-B26F-5FB3-F814CCE6887B}"/>
              </a:ext>
            </a:extLst>
          </p:cNvPr>
          <p:cNvSpPr txBox="1"/>
          <p:nvPr/>
        </p:nvSpPr>
        <p:spPr>
          <a:xfrm>
            <a:off x="4743575" y="3599745"/>
            <a:ext cx="1233111" cy="63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200" dirty="0">
                <a:solidFill>
                  <a:srgbClr val="B307A7"/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bit-vector</a:t>
            </a:r>
          </a:p>
          <a:p>
            <a:pPr algn="ctr">
              <a:lnSpc>
                <a:spcPct val="80000"/>
              </a:lnSpc>
            </a:pPr>
            <a:r>
              <a:rPr lang="en-US" sz="2200" dirty="0">
                <a:solidFill>
                  <a:srgbClr val="B307A7"/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fragment</a:t>
            </a:r>
            <a:endParaRPr lang="en-IL" sz="2200" dirty="0">
              <a:solidFill>
                <a:srgbClr val="B307A7"/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4D17EB-C412-7203-B9AC-BA59A468C318}"/>
                  </a:ext>
                </a:extLst>
              </p:cNvPr>
              <p:cNvSpPr txBox="1"/>
              <p:nvPr/>
            </p:nvSpPr>
            <p:spPr>
              <a:xfrm>
                <a:off x="6082345" y="3596671"/>
                <a:ext cx="1198390" cy="634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2200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integer</a:t>
                </a:r>
              </a:p>
              <a:p>
                <a:pPr algn="ctr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sz="2200" i="0" dirty="0">
                          <a:solidFill>
                            <a:srgbClr val="FFC000"/>
                          </a:solidFill>
                          <a:latin typeface="Dosis" pitchFamily="2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fragment</m:t>
                      </m:r>
                    </m:oMath>
                  </m:oMathPara>
                </a14:m>
                <a:endParaRPr lang="en-IL" sz="2200" dirty="0">
                  <a:solidFill>
                    <a:srgbClr val="FFC000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4D17EB-C412-7203-B9AC-BA59A468C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345" y="3596671"/>
                <a:ext cx="1198390" cy="634020"/>
              </a:xfrm>
              <a:prstGeom prst="rect">
                <a:avLst/>
              </a:prstGeom>
              <a:blipFill>
                <a:blip r:embed="rId7"/>
                <a:stretch>
                  <a:fillRect l="-3571" t="-17308" r="-3571" b="-1442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5E84252-6D24-DE21-95B7-644902F19D75}"/>
              </a:ext>
            </a:extLst>
          </p:cNvPr>
          <p:cNvCxnSpPr>
            <a:cxnSpLocks/>
          </p:cNvCxnSpPr>
          <p:nvPr/>
        </p:nvCxnSpPr>
        <p:spPr>
          <a:xfrm flipH="1">
            <a:off x="7180446" y="4182177"/>
            <a:ext cx="413748" cy="18288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493134F-6C43-C948-5F22-ACB69E2A5F78}"/>
              </a:ext>
            </a:extLst>
          </p:cNvPr>
          <p:cNvCxnSpPr>
            <a:cxnSpLocks/>
          </p:cNvCxnSpPr>
          <p:nvPr/>
        </p:nvCxnSpPr>
        <p:spPr>
          <a:xfrm>
            <a:off x="6615170" y="4172850"/>
            <a:ext cx="2198" cy="22108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6EC63E8-4692-7BE2-750B-437D92752743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5658125" y="3379530"/>
            <a:ext cx="1960" cy="17914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A278433-14E5-46EC-0284-EBE534ABA3C7}"/>
              </a:ext>
            </a:extLst>
          </p:cNvPr>
          <p:cNvCxnSpPr>
            <a:cxnSpLocks/>
          </p:cNvCxnSpPr>
          <p:nvPr/>
        </p:nvCxnSpPr>
        <p:spPr>
          <a:xfrm flipH="1" flipV="1">
            <a:off x="3751630" y="3541208"/>
            <a:ext cx="1906979" cy="257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1FF24F2-CA08-399D-155F-69D587A690DE}"/>
              </a:ext>
            </a:extLst>
          </p:cNvPr>
          <p:cNvCxnSpPr>
            <a:cxnSpLocks/>
            <a:stCxn id="21" idx="3"/>
            <a:endCxn id="31" idx="1"/>
          </p:cNvCxnSpPr>
          <p:nvPr/>
        </p:nvCxnSpPr>
        <p:spPr>
          <a:xfrm>
            <a:off x="7852722" y="4902914"/>
            <a:ext cx="385550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D6059FE-6A6F-0CD9-A0F6-C19AF655AA84}"/>
              </a:ext>
            </a:extLst>
          </p:cNvPr>
          <p:cNvSpPr/>
          <p:nvPr/>
        </p:nvSpPr>
        <p:spPr>
          <a:xfrm>
            <a:off x="8238272" y="4484517"/>
            <a:ext cx="2325241" cy="836794"/>
          </a:xfrm>
          <a:prstGeom prst="roundRect">
            <a:avLst/>
          </a:prstGeom>
          <a:solidFill>
            <a:srgbClr val="EFEADD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Dosis" pitchFamily="2" charset="0"/>
              </a:rPr>
              <a:t>Theory-Modular CHC solver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B0E9205-4C97-3959-2D66-324CC21B19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10532973" y="3169111"/>
            <a:ext cx="1409350" cy="13066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79B1662-58EB-221D-9816-780257F75C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10532973" y="1004343"/>
            <a:ext cx="1280583" cy="130667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0195647-EA95-8A93-FE50-7CE9F36A32DA}"/>
              </a:ext>
            </a:extLst>
          </p:cNvPr>
          <p:cNvSpPr txBox="1"/>
          <p:nvPr/>
        </p:nvSpPr>
        <p:spPr>
          <a:xfrm>
            <a:off x="10813168" y="2310194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Safe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C89998-8CB0-FD24-CF16-660E339612BC}"/>
              </a:ext>
            </a:extLst>
          </p:cNvPr>
          <p:cNvSpPr txBox="1"/>
          <p:nvPr/>
        </p:nvSpPr>
        <p:spPr>
          <a:xfrm>
            <a:off x="10779818" y="4472027"/>
            <a:ext cx="9156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Buggy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9DC4FCF-0416-5ED0-9809-49BEE8D863FD}"/>
              </a:ext>
            </a:extLst>
          </p:cNvPr>
          <p:cNvCxnSpPr>
            <a:cxnSpLocks/>
          </p:cNvCxnSpPr>
          <p:nvPr/>
        </p:nvCxnSpPr>
        <p:spPr>
          <a:xfrm>
            <a:off x="9400892" y="2849875"/>
            <a:ext cx="325969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137FD3-619B-DD8F-0EB7-B57FA7DB2549}"/>
              </a:ext>
            </a:extLst>
          </p:cNvPr>
          <p:cNvCxnSpPr>
            <a:cxnSpLocks/>
          </p:cNvCxnSpPr>
          <p:nvPr/>
        </p:nvCxnSpPr>
        <p:spPr>
          <a:xfrm flipH="1">
            <a:off x="9728192" y="1704975"/>
            <a:ext cx="5505" cy="11584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8D1DCCA-AB3D-9ED6-7888-1F11CA2F806B}"/>
              </a:ext>
            </a:extLst>
          </p:cNvPr>
          <p:cNvCxnSpPr>
            <a:cxnSpLocks/>
          </p:cNvCxnSpPr>
          <p:nvPr/>
        </p:nvCxnSpPr>
        <p:spPr>
          <a:xfrm>
            <a:off x="9726861" y="1716132"/>
            <a:ext cx="667942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ADCB145-FDFB-423C-82D2-54F068C570A8}"/>
              </a:ext>
            </a:extLst>
          </p:cNvPr>
          <p:cNvCxnSpPr>
            <a:cxnSpLocks/>
          </p:cNvCxnSpPr>
          <p:nvPr/>
        </p:nvCxnSpPr>
        <p:spPr>
          <a:xfrm>
            <a:off x="9720997" y="3965575"/>
            <a:ext cx="673806" cy="278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AE6AC8C-2545-0A8B-B50A-D193007F5462}"/>
              </a:ext>
            </a:extLst>
          </p:cNvPr>
          <p:cNvSpPr txBox="1"/>
          <p:nvPr/>
        </p:nvSpPr>
        <p:spPr>
          <a:xfrm>
            <a:off x="9697803" y="1269691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SAT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87B704-5169-EF9A-C25C-108224A277BB}"/>
              </a:ext>
            </a:extLst>
          </p:cNvPr>
          <p:cNvSpPr txBox="1"/>
          <p:nvPr/>
        </p:nvSpPr>
        <p:spPr>
          <a:xfrm>
            <a:off x="9548738" y="4006099"/>
            <a:ext cx="9935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UNSAT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4425424-2CC4-0A57-8D5D-DEF2E2BF1E8F}"/>
              </a:ext>
            </a:extLst>
          </p:cNvPr>
          <p:cNvCxnSpPr>
            <a:cxnSpLocks/>
          </p:cNvCxnSpPr>
          <p:nvPr/>
        </p:nvCxnSpPr>
        <p:spPr>
          <a:xfrm>
            <a:off x="9728449" y="2839650"/>
            <a:ext cx="0" cy="114194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E2C295B-EAE7-1885-2632-0586E4AA8811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9400893" y="2836333"/>
            <a:ext cx="9807" cy="1648184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12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 animBg="1"/>
      <p:bldP spid="16" grpId="0" animBg="1"/>
      <p:bldP spid="18" grpId="0" animBg="1"/>
      <p:bldP spid="21" grpId="0" animBg="1"/>
      <p:bldP spid="22" grpId="0"/>
      <p:bldP spid="24" grpId="0"/>
      <p:bldP spid="25" grpId="0"/>
      <p:bldP spid="31" grpId="0" animBg="1"/>
      <p:bldP spid="34" grpId="0"/>
      <p:bldP spid="35" grpId="0"/>
      <p:bldP spid="40" grpId="0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D3F1-67D3-9C15-5341-BD28682B9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348-435D-074D-8AC7-E0DCA775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Relating values across theories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8C59A299-4F5F-714A-E56F-912F69FA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768" y="6369660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05C6A3-769E-9D91-0E15-22E44CE53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200" b="0" dirty="0"/>
                  <a:t>Each bit-vector variable is associated with an integer counterpart.</a:t>
                </a:r>
                <a:br>
                  <a:rPr lang="en-US" sz="2200" b="0" dirty="0"/>
                </a:br>
                <a:r>
                  <a:rPr lang="en-US" sz="2200" u="sng" dirty="0"/>
                  <a:t>Example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rgbClr val="B307A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solidFill>
                      <a:srgbClr val="B307A7"/>
                    </a:solidFill>
                  </a:rPr>
                  <a:t>: </a:t>
                </a:r>
                <a:r>
                  <a:rPr lang="en-US" sz="2200" dirty="0">
                    <a:solidFill>
                      <a:srgbClr val="B307A7"/>
                    </a:solidFill>
                    <a:latin typeface="Dosis" pitchFamily="2" charset="0"/>
                  </a:rPr>
                  <a:t>BV[4]</a:t>
                </a:r>
                <a:r>
                  <a:rPr lang="en-US" sz="2200" dirty="0">
                    <a:solidFill>
                      <a:srgbClr val="B307A7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srgbClr val="FFC000"/>
                    </a:solidFill>
                  </a:rPr>
                  <a:t>: </a:t>
                </a:r>
                <a:r>
                  <a:rPr lang="en-US" sz="2200" dirty="0">
                    <a:solidFill>
                      <a:srgbClr val="FFC000"/>
                    </a:solidFill>
                    <a:latin typeface="Dosis" pitchFamily="2" charset="0"/>
                  </a:rPr>
                  <a:t>Int</a:t>
                </a:r>
                <a:br>
                  <a:rPr lang="en-US" sz="2200" dirty="0">
                    <a:solidFill>
                      <a:schemeClr val="accent2"/>
                    </a:solidFill>
                    <a:latin typeface="Dosis" pitchFamily="2" charset="0"/>
                  </a:rPr>
                </a:br>
                <a:endParaRPr lang="en-US" sz="2200" b="0" dirty="0"/>
              </a:p>
              <a:p>
                <a:pPr>
                  <a:lnSpc>
                    <a:spcPct val="150000"/>
                  </a:lnSpc>
                </a:pPr>
                <a:r>
                  <a:rPr lang="en-US" sz="2200" b="0" dirty="0"/>
                  <a:t>For each variable pair, an injective </a:t>
                </a:r>
                <a:r>
                  <a:rPr lang="en-US" sz="2200" b="1" dirty="0">
                    <a:solidFill>
                      <a:schemeClr val="accent6"/>
                    </a:solidFill>
                  </a:rPr>
                  <a:t>domain transformer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⇝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200" b="0" dirty="0"/>
                  <a:t> maps each bit-vector value to an integer. Two natural choices: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200" dirty="0"/>
                  <a:t>Unsigned:		image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0,15</m:t>
                        </m:r>
                      </m:e>
                    </m:d>
                  </m:oMath>
                </a14:m>
                <a:r>
                  <a:rPr lang="en-US" sz="22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⇝</m:t>
                        </m:r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</a:rPr>
                          <m:t>1101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rgbClr val="EAB200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lang="en-US" sz="22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2200" dirty="0"/>
                  <a:t>Signed:		image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[−8,7]</m:t>
                    </m:r>
                  </m:oMath>
                </a14:m>
                <a:r>
                  <a:rPr lang="en-US" sz="22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⇝</m:t>
                        </m:r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</a:rPr>
                          <m:t>1101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rgbClr val="EAB2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200" i="1">
                        <a:solidFill>
                          <a:srgbClr val="EAB2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200" dirty="0"/>
              </a:p>
              <a:p>
                <a:pPr lvl="1">
                  <a:lnSpc>
                    <a:spcPct val="150000"/>
                  </a:lnSpc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05C6A3-769E-9D91-0E15-22E44CE53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696" r="-17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183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7394B-52EA-8883-12CE-B83D11E3D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itle 1">
                <a:extLst>
                  <a:ext uri="{FF2B5EF4-FFF2-40B4-BE49-F238E27FC236}">
                    <a16:creationId xmlns:a16="http://schemas.microsoft.com/office/drawing/2014/main" id="{5F7CFA88-174C-EDF9-C4CD-799B769ABF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31517" y="3956668"/>
                <a:ext cx="1403589" cy="742859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B</m:t>
                          </m:r>
                          <m:r>
                            <a:rPr lang="en-US" sz="22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⇝</m:t>
                          </m:r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IL" sz="2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9" name="Title 1">
                <a:extLst>
                  <a:ext uri="{FF2B5EF4-FFF2-40B4-BE49-F238E27FC236}">
                    <a16:creationId xmlns:a16="http://schemas.microsoft.com/office/drawing/2014/main" id="{5F7CFA88-174C-EDF9-C4CD-799B769AB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517" y="3956668"/>
                <a:ext cx="1403589" cy="74285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F939ADFF-3251-AE3F-8752-063A708B1C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562666"/>
                <a:ext cx="10515600" cy="5029144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sz="2200" b="0" dirty="0"/>
                  <a:t>A </a:t>
                </a:r>
                <a:r>
                  <a:rPr lang="en-US" sz="2200" b="1" dirty="0">
                    <a:solidFill>
                      <a:schemeClr val="accent6"/>
                    </a:solidFill>
                  </a:rPr>
                  <a:t>theory transformer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⇝</m:t>
                        </m:r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200" b="0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b="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200" b="0" dirty="0"/>
                  <a:t> translates every quantifier-free bit-vector formula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200" b="0" dirty="0"/>
                  <a:t> </a:t>
                </a:r>
                <a:r>
                  <a:rPr lang="en-US" sz="2200" dirty="0"/>
                  <a:t>into a quantifier-free integer formula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⇝</m:t>
                        </m:r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I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en-US" sz="2200" b="0" dirty="0"/>
                  <a:t> such that: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B</m:t>
                          </m:r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⇝</m:t>
                          </m:r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⟦"/>
                              <m:endChr m:val="⟧"/>
                              <m:ctrlPr>
                                <a:rPr 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𝜑</m:t>
                              </m:r>
                            </m:e>
                          </m:d>
                        </m:e>
                      </m:d>
                      <m:r>
                        <a:rPr lang="en-US" sz="2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⟦"/>
                              <m:endChr m:val="⟧"/>
                              <m:ctrlPr>
                                <a:rPr 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lang="en-US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sSub>
                        <m:sSub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200" dirty="0">
                  <a:solidFill>
                    <a:srgbClr val="EAB200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sz="2200" b="0" dirty="0"/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⇝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b="0" dirty="0"/>
                  <a:t> is defined dually.</a:t>
                </a: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F939ADFF-3251-AE3F-8752-063A708B1C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562666"/>
                <a:ext cx="10515600" cy="5029144"/>
              </a:xfrm>
              <a:blipFill>
                <a:blip r:embed="rId11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9757097-6000-3B6F-8897-5045ACA9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33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What makes a translation correct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94C14D0E-0B20-D8BD-F20D-AAE3CA39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2E2564-8F93-6678-6A0D-59C509AF95E3}"/>
              </a:ext>
            </a:extLst>
          </p:cNvPr>
          <p:cNvSpPr/>
          <p:nvPr/>
        </p:nvSpPr>
        <p:spPr>
          <a:xfrm>
            <a:off x="1557886" y="3643932"/>
            <a:ext cx="1881463" cy="187188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6694D9-3F89-305D-4824-CCE5B5641207}"/>
              </a:ext>
            </a:extLst>
          </p:cNvPr>
          <p:cNvSpPr/>
          <p:nvPr/>
        </p:nvSpPr>
        <p:spPr>
          <a:xfrm>
            <a:off x="2371750" y="4490435"/>
            <a:ext cx="818651" cy="8138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9375DA6B-E94E-36F7-A26A-146054D1C17F}"/>
              </a:ext>
            </a:extLst>
          </p:cNvPr>
          <p:cNvSpPr/>
          <p:nvPr/>
        </p:nvSpPr>
        <p:spPr>
          <a:xfrm rot="16200000">
            <a:off x="4992096" y="3047545"/>
            <a:ext cx="2207807" cy="3064657"/>
          </a:xfrm>
          <a:prstGeom prst="round2Same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EF1999-BFD2-B125-3AB1-FFE21AD3F56E}"/>
              </a:ext>
            </a:extLst>
          </p:cNvPr>
          <p:cNvSpPr/>
          <p:nvPr/>
        </p:nvSpPr>
        <p:spPr>
          <a:xfrm rot="16200000">
            <a:off x="4703704" y="3634757"/>
            <a:ext cx="1881463" cy="187188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7BCD40-4B71-E07F-9B49-9AFE697F0E6E}"/>
              </a:ext>
            </a:extLst>
          </p:cNvPr>
          <p:cNvSpPr/>
          <p:nvPr/>
        </p:nvSpPr>
        <p:spPr>
          <a:xfrm rot="16200000">
            <a:off x="5764121" y="4288240"/>
            <a:ext cx="818651" cy="8138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92622DC-5041-E1E8-FFFB-35F046AF2946}"/>
              </a:ext>
            </a:extLst>
          </p:cNvPr>
          <p:cNvCxnSpPr/>
          <p:nvPr/>
        </p:nvCxnSpPr>
        <p:spPr>
          <a:xfrm>
            <a:off x="6580379" y="4276139"/>
            <a:ext cx="0" cy="89323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2192214-95F0-4F10-1342-55967E1556EB}"/>
              </a:ext>
            </a:extLst>
          </p:cNvPr>
          <p:cNvGrpSpPr/>
          <p:nvPr/>
        </p:nvGrpSpPr>
        <p:grpSpPr>
          <a:xfrm>
            <a:off x="7768585" y="4636590"/>
            <a:ext cx="399703" cy="110943"/>
            <a:chOff x="9240947" y="3332873"/>
            <a:chExt cx="399703" cy="11094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2593413-17D0-B998-F00B-1706F07C160A}"/>
                </a:ext>
              </a:extLst>
            </p:cNvPr>
            <p:cNvSpPr/>
            <p:nvPr/>
          </p:nvSpPr>
          <p:spPr>
            <a:xfrm>
              <a:off x="9240947" y="3332873"/>
              <a:ext cx="110067" cy="110943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F6E8CC-5757-C2FC-6DA7-4CA3400A0AD2}"/>
                </a:ext>
              </a:extLst>
            </p:cNvPr>
            <p:cNvSpPr/>
            <p:nvPr/>
          </p:nvSpPr>
          <p:spPr>
            <a:xfrm>
              <a:off x="9385765" y="3332873"/>
              <a:ext cx="110067" cy="110943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7191C42-108B-BEBE-7AE8-3FC1ADB4EE97}"/>
                </a:ext>
              </a:extLst>
            </p:cNvPr>
            <p:cNvSpPr/>
            <p:nvPr/>
          </p:nvSpPr>
          <p:spPr>
            <a:xfrm>
              <a:off x="9530583" y="3332873"/>
              <a:ext cx="110067" cy="110943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le 1">
                <a:extLst>
                  <a:ext uri="{FF2B5EF4-FFF2-40B4-BE49-F238E27FC236}">
                    <a16:creationId xmlns:a16="http://schemas.microsoft.com/office/drawing/2014/main" id="{7E645A7E-E464-005E-183B-E11C9EE854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34487" y="3700350"/>
                <a:ext cx="651835" cy="395679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0" name="Title 1">
                <a:extLst>
                  <a:ext uri="{FF2B5EF4-FFF2-40B4-BE49-F238E27FC236}">
                    <a16:creationId xmlns:a16="http://schemas.microsoft.com/office/drawing/2014/main" id="{7E645A7E-E464-005E-183B-E11C9EE85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487" y="3700350"/>
                <a:ext cx="651835" cy="395679"/>
              </a:xfrm>
              <a:prstGeom prst="rect">
                <a:avLst/>
              </a:prstGeom>
              <a:blipFill>
                <a:blip r:embed="rId3"/>
                <a:stretch>
                  <a:fillRect b="-3077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E868CECB-DC20-F91B-8B57-CA2FE1CDCE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66281" y="3502511"/>
                <a:ext cx="651835" cy="395679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E868CECB-DC20-F91B-8B57-CA2FE1CDC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6281" y="3502511"/>
                <a:ext cx="651835" cy="395679"/>
              </a:xfrm>
              <a:prstGeom prst="rect">
                <a:avLst/>
              </a:prstGeom>
              <a:blipFill>
                <a:blip r:embed="rId4"/>
                <a:stretch>
                  <a:fillRect b="-4688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B5456D38-6951-959D-82D4-0A14384370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88971" y="4699527"/>
                <a:ext cx="651835" cy="395679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⟦"/>
                          <m:endChr m:val="⟧"/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𝜑</m:t>
                          </m:r>
                        </m:e>
                      </m:d>
                    </m:oMath>
                  </m:oMathPara>
                </a14:m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B5456D38-6951-959D-82D4-0A1438437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971" y="4699527"/>
                <a:ext cx="651835" cy="395679"/>
              </a:xfrm>
              <a:prstGeom prst="rect">
                <a:avLst/>
              </a:prstGeom>
              <a:blipFill>
                <a:blip r:embed="rId5"/>
                <a:stretch>
                  <a:fillRect b="-12308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le 1">
                <a:extLst>
                  <a:ext uri="{FF2B5EF4-FFF2-40B4-BE49-F238E27FC236}">
                    <a16:creationId xmlns:a16="http://schemas.microsoft.com/office/drawing/2014/main" id="{F6A31D64-22BB-1554-19B2-E2290C7E90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9857" y="3525701"/>
                <a:ext cx="1403589" cy="742859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B</m:t>
                          </m:r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⇝</m:t>
                          </m:r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𝔻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B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Title 1">
                <a:extLst>
                  <a:ext uri="{FF2B5EF4-FFF2-40B4-BE49-F238E27FC236}">
                    <a16:creationId xmlns:a16="http://schemas.microsoft.com/office/drawing/2014/main" id="{F6A31D64-22BB-1554-19B2-E2290C7E9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857" y="3525701"/>
                <a:ext cx="1403589" cy="742859"/>
              </a:xfrm>
              <a:prstGeom prst="rect">
                <a:avLst/>
              </a:prstGeom>
              <a:blipFill>
                <a:blip r:embed="rId6"/>
                <a:stretch>
                  <a:fillRect l="-433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2A0F71D2-C565-4B17-1BDB-6A9B74F726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28183" y="5478348"/>
                <a:ext cx="1387856" cy="410858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B</m:t>
                          </m:r>
                          <m: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⇝</m:t>
                          </m:r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⟦"/>
                              <m:endChr m:val="⟧"/>
                              <m:ctrlPr>
                                <a:rPr 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𝜑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2A0F71D2-C565-4B17-1BDB-6A9B74F72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8183" y="5478348"/>
                <a:ext cx="1387856" cy="410858"/>
              </a:xfrm>
              <a:prstGeom prst="rect">
                <a:avLst/>
              </a:prstGeom>
              <a:blipFill>
                <a:blip r:embed="rId7"/>
                <a:stretch>
                  <a:fillRect l="-3947" b="-10448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CE82B5-0833-91CC-8FFE-2D9693AC6AB0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6173446" y="4703579"/>
            <a:ext cx="1654737" cy="980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DA1A95A3-1CCC-A5F9-0756-A94E02057800}"/>
              </a:ext>
            </a:extLst>
          </p:cNvPr>
          <p:cNvCxnSpPr>
            <a:cxnSpLocks/>
            <a:stCxn id="4" idx="3"/>
            <a:endCxn id="9" idx="0"/>
          </p:cNvCxnSpPr>
          <p:nvPr/>
        </p:nvCxnSpPr>
        <p:spPr>
          <a:xfrm flipV="1">
            <a:off x="3439349" y="4570700"/>
            <a:ext cx="1269143" cy="9176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10800000" scaled="0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920C5A2C-0122-4D0E-5439-AA5F48BF4D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91297" y="4484401"/>
                <a:ext cx="2002071" cy="395679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⟦"/>
                          <m:endChr m:val="⟧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920C5A2C-0122-4D0E-5439-AA5F48BF4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1297" y="4484401"/>
                <a:ext cx="2002071" cy="395679"/>
              </a:xfrm>
              <a:prstGeom prst="rect">
                <a:avLst/>
              </a:prstGeom>
              <a:blipFill>
                <a:blip r:embed="rId8"/>
                <a:stretch>
                  <a:fillRect b="-12308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A339E54F-3E54-1ADB-A280-1F9C7DF4CE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46071" y="4299568"/>
                <a:ext cx="3299132" cy="784989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2200" b="0" dirty="0">
                    <a:solidFill>
                      <a:prstClr val="black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“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𝜑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𝜑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must agree on the restricted bit-vector domain”</a:t>
                </a:r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Title 1">
                <a:extLst>
                  <a:ext uri="{FF2B5EF4-FFF2-40B4-BE49-F238E27FC236}">
                    <a16:creationId xmlns:a16="http://schemas.microsoft.com/office/drawing/2014/main" id="{A339E54F-3E54-1ADB-A280-1F9C7DF4C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6071" y="4299568"/>
                <a:ext cx="3299132" cy="784989"/>
              </a:xfrm>
              <a:prstGeom prst="rect">
                <a:avLst/>
              </a:prstGeom>
              <a:blipFill>
                <a:blip r:embed="rId9"/>
                <a:stretch>
                  <a:fillRect l="-1664" t="-3876" r="-2957" b="-10078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79BFF73-1D3D-F8A4-3B09-1E65C2B33956}"/>
              </a:ext>
            </a:extLst>
          </p:cNvPr>
          <p:cNvCxnSpPr>
            <a:cxnSpLocks/>
          </p:cNvCxnSpPr>
          <p:nvPr/>
        </p:nvCxnSpPr>
        <p:spPr>
          <a:xfrm>
            <a:off x="6562725" y="4286844"/>
            <a:ext cx="10752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28EDAEC-1796-1944-F248-7AE911EEFF6A}"/>
              </a:ext>
            </a:extLst>
          </p:cNvPr>
          <p:cNvCxnSpPr>
            <a:cxnSpLocks/>
          </p:cNvCxnSpPr>
          <p:nvPr/>
        </p:nvCxnSpPr>
        <p:spPr>
          <a:xfrm>
            <a:off x="6562725" y="5102434"/>
            <a:ext cx="1065603" cy="36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9EDBBF58-3448-2947-7E3B-5EC72F872E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46071" y="3216500"/>
                <a:ext cx="3064657" cy="1069346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𝜑</m:t>
                      </m:r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≔</m:t>
                      </m:r>
                      <m:r>
                        <a:rPr lang="en-US" sz="2200" b="0" i="1" smtClean="0">
                          <a:solidFill>
                            <a:srgbClr val="B307A7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𝑥</m:t>
                      </m:r>
                      <m:sSubSup>
                        <m:sSubSupPr>
                          <m:ctrlPr>
                            <a:rPr lang="en-US" sz="2200" b="0" i="1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&gt;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s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B</m:t>
                          </m:r>
                        </m:sup>
                      </m:sSubSup>
                      <m:r>
                        <a:rPr lang="en-US" sz="2200" b="0" i="1" smtClean="0">
                          <a:solidFill>
                            <a:srgbClr val="B307A7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0101</m:t>
                      </m:r>
                    </m:oMath>
                  </m:oMathPara>
                </a14:m>
                <a:endParaRPr lang="en-US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𝜑</m:t>
                          </m:r>
                        </m:e>
                        <m:sup>
                          <m:r>
                            <a:rPr lang="en-US" sz="2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≔</m:t>
                      </m:r>
                      <m:sSup>
                        <m:sSupPr>
                          <m:ctrlPr>
                            <a:rPr lang="en-US" sz="2200" b="0" i="1" smtClean="0">
                              <a:solidFill>
                                <a:srgbClr val="EAB2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rgbClr val="EAB2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n-US" sz="2200" b="0" i="1" smtClean="0">
                              <a:solidFill>
                                <a:srgbClr val="EAB2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sz="2200" b="0" i="1" smtClean="0">
                          <a:solidFill>
                            <a:srgbClr val="EAB2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&gt;5</m:t>
                      </m:r>
                    </m:oMath>
                  </m:oMathPara>
                </a14:m>
                <a:endParaRPr lang="en-IL" sz="2200" dirty="0">
                  <a:solidFill>
                    <a:prstClr val="black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9EDBBF58-3448-2947-7E3B-5EC72F872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6071" y="3216500"/>
                <a:ext cx="3064657" cy="106934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62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4" grpId="0" animBg="1"/>
      <p:bldP spid="5" grpId="0" animBg="1"/>
      <p:bldP spid="6" grpId="0" animBg="1"/>
      <p:bldP spid="9" grpId="0" animBg="1"/>
      <p:bldP spid="7" grpId="0" animBg="1"/>
      <p:bldP spid="20" grpId="0"/>
      <p:bldP spid="21" grpId="0"/>
      <p:bldP spid="22" grpId="0"/>
      <p:bldP spid="24" grpId="0"/>
      <p:bldP spid="25" grpId="0"/>
      <p:bldP spid="23" grpId="0"/>
      <p:bldP spid="31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B9EF5-DC47-59B1-0DEC-8B698E9A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9EA1C4-7E8A-680C-B086-C3E6B20775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⇝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1"/>
                    </a:solidFill>
                    <a:latin typeface="Dosis" pitchFamily="2" charset="0"/>
                  </a:rPr>
                  <a:t>: bit-vectors to integers</a:t>
                </a:r>
                <a:endParaRPr lang="en-IL" dirty="0">
                  <a:solidFill>
                    <a:schemeClr val="accent1"/>
                  </a:solidFill>
                  <a:latin typeface="Dosis" pitchFamily="2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9EA1C4-7E8A-680C-B086-C3E6B20775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AC79D2-2D41-180F-4B79-2FC99C7888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200" b="1" dirty="0">
                    <a:solidFill>
                      <a:schemeClr val="accent6"/>
                    </a:solidFill>
                  </a:rPr>
                  <a:t>Theory transformer</a:t>
                </a:r>
                <a:r>
                  <a:rPr lang="en-US" sz="2200" b="0" dirty="0"/>
                  <a:t>: Translates QF_BV formulas to QF</a:t>
                </a:r>
                <a:r>
                  <a:rPr lang="en-US" sz="2200" dirty="0"/>
                  <a:t>_IA formulas.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200" b="0" dirty="0"/>
                  <a:t> We adopt the int-blasting translation [Yoni Zohar et al., VMCAI’22].</a:t>
                </a:r>
                <a:br>
                  <a:rPr lang="en-US" sz="2200" b="0" dirty="0"/>
                </a:br>
                <a:r>
                  <a:rPr lang="en-US" sz="2200" b="0" dirty="0"/>
                  <a:t> </a:t>
                </a:r>
                <a:r>
                  <a:rPr lang="en-US" sz="2200" b="0" u="sng" dirty="0"/>
                  <a:t>Example</a:t>
                </a:r>
                <a:r>
                  <a:rPr lang="en-US" sz="2200" b="0" dirty="0"/>
                  <a:t>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B307A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  <m:r>
                      <a:rPr lang="en-US" sz="2200" b="0" i="1" smtClean="0">
                        <a:solidFill>
                          <a:srgbClr val="B307A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↦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2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200" b="0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sz="22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200" b="0" dirty="0"/>
              </a:p>
              <a:p>
                <a:pPr>
                  <a:lnSpc>
                    <a:spcPct val="150000"/>
                  </a:lnSpc>
                </a:pPr>
                <a:endParaRPr lang="en-US" sz="2200" dirty="0"/>
              </a:p>
              <a:p>
                <a:pPr>
                  <a:lnSpc>
                    <a:spcPct val="150000"/>
                  </a:lnSpc>
                </a:pPr>
                <a:r>
                  <a:rPr lang="en-US" sz="2200" b="0" dirty="0"/>
                  <a:t> </a:t>
                </a:r>
                <a:r>
                  <a:rPr lang="en-US" sz="2200" b="0" dirty="0">
                    <a:solidFill>
                      <a:srgbClr val="B307A7"/>
                    </a:solidFill>
                  </a:rPr>
                  <a:t>The one difference</a:t>
                </a:r>
                <a:r>
                  <a:rPr lang="en-US" sz="2200" b="0" dirty="0"/>
                  <a:t>: we extend int-blasting to support signed domain transformers.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/>
                  <a:t>Adjusted domain restrictions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000" b="0" dirty="0"/>
                  <a:t>Signed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⟷</m:t>
                    </m:r>
                  </m:oMath>
                </a14:m>
                <a:r>
                  <a:rPr lang="en-US" sz="2000" b="0" dirty="0"/>
                  <a:t> unsigned conversions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AC79D2-2D41-180F-4B79-2FC99C7888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5FA3A06-04AA-1841-2BA5-797F9A8E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355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8F4AA-1002-1360-011F-F45BC52D8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03533A-DB43-9061-63E5-B19C19E61C3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⇝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1"/>
                    </a:solidFill>
                    <a:latin typeface="Dosis" pitchFamily="2" charset="0"/>
                  </a:rPr>
                  <a:t>: integers to bit-vectors</a:t>
                </a:r>
                <a:endParaRPr lang="en-IL" dirty="0">
                  <a:solidFill>
                    <a:schemeClr val="accent1"/>
                  </a:solidFill>
                  <a:latin typeface="Dosis" pitchFamily="2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03533A-DB43-9061-63E5-B19C19E61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3122ECC7-EEAE-6023-38BF-0FF50E97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EECA70B-3C5C-58BC-217C-63647B4303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1418" y="1825624"/>
                <a:ext cx="10515600" cy="466725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dirty="0"/>
                  <a:t>Based on </a:t>
                </a:r>
                <a:r>
                  <a:rPr lang="en-US" sz="2200" b="1" dirty="0">
                    <a:solidFill>
                      <a:schemeClr val="accent6"/>
                    </a:solidFill>
                  </a:rPr>
                  <a:t>syntactic substitution</a:t>
                </a:r>
                <a:r>
                  <a:rPr lang="en-US" sz="22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BEECA70B-3C5C-58BC-217C-63647B430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1418" y="1825624"/>
                <a:ext cx="10515600" cy="4667251"/>
              </a:xfrm>
              <a:blipFill>
                <a:blip r:embed="rId3"/>
                <a:stretch>
                  <a:fillRect l="-754" t="-7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55CD98AB-1BEA-95A5-9C74-46336DEC8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IL" altLang="en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define a custom translation</a:t>
            </a:r>
            <a:r>
              <a:rPr kumimoji="0" lang="en-IL" altLang="en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IL" altLang="en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E474E6-BA23-898A-59A8-DFCF61B84AAB}"/>
                  </a:ext>
                </a:extLst>
              </p:cNvPr>
              <p:cNvSpPr txBox="1"/>
              <p:nvPr/>
            </p:nvSpPr>
            <p:spPr>
              <a:xfrm>
                <a:off x="4156075" y="2264643"/>
                <a:ext cx="4011930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22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L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E474E6-BA23-898A-59A8-DFCF61B84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75" y="2264643"/>
                <a:ext cx="4011930" cy="436979"/>
              </a:xfrm>
              <a:prstGeom prst="rect">
                <a:avLst/>
              </a:prstGeom>
              <a:blipFill>
                <a:blip r:embed="rId4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D6C96A-31BA-81E8-2E0E-D7D9B76E0A1E}"/>
                  </a:ext>
                </a:extLst>
              </p:cNvPr>
              <p:cNvSpPr txBox="1"/>
              <p:nvPr/>
            </p:nvSpPr>
            <p:spPr>
              <a:xfrm>
                <a:off x="838200" y="2828768"/>
                <a:ext cx="5323840" cy="3724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200" b="1" dirty="0">
                    <a:solidFill>
                      <a:srgbClr val="F8475E"/>
                    </a:solidFill>
                  </a:rPr>
                  <a:t>Problem</a:t>
                </a:r>
                <a:r>
                  <a:rPr lang="en-US" sz="2200" dirty="0"/>
                  <a:t>: overflow changes the semantics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/>
                  <a:t>Consider the integer assignment: 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2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2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sz="2200" b="0" dirty="0">
                  <a:solidFill>
                    <a:srgbClr val="FFC000"/>
                  </a:solidFill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integer formula is satisfied: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22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7&lt;</m:t>
                      </m:r>
                      <m:r>
                        <a:rPr lang="en-US" sz="2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7+1</m:t>
                      </m:r>
                    </m:oMath>
                  </m:oMathPara>
                </a14:m>
                <a:endParaRPr lang="en-US" sz="2200" b="0" dirty="0">
                  <a:solidFill>
                    <a:srgbClr val="FFC000"/>
                  </a:solidFill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/>
                  <a:t>Corresponding bit-vector assignment: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B307A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rgbClr val="B307A7"/>
                        </a:solidFill>
                        <a:latin typeface="Cambria Math" panose="02040503050406030204" pitchFamily="18" charset="0"/>
                      </a:rPr>
                      <m:t>=0111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B307A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solidFill>
                          <a:srgbClr val="B307A7"/>
                        </a:solidFill>
                        <a:latin typeface="Cambria Math" panose="02040503050406030204" pitchFamily="18" charset="0"/>
                      </a:rPr>
                      <m:t>=0111</m:t>
                    </m:r>
                  </m:oMath>
                </a14:m>
                <a:endParaRPr lang="en-US" sz="2200" b="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bit-vector formula is not satisfied: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rgbClr val="B307A7"/>
                        </a:solidFill>
                        <a:latin typeface="Cambria Math" panose="02040503050406030204" pitchFamily="18" charset="0"/>
                      </a:rPr>
                      <m:t>0111</m:t>
                    </m:r>
                    <m:sSubSup>
                      <m:sSubSupPr>
                        <m:ctrlPr>
                          <a:rPr lang="en-US" sz="2200" b="0" i="1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b="0" i="1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bSup>
                    <m:r>
                      <a:rPr lang="en-US" sz="2200" b="0" i="1" smtClean="0">
                        <a:solidFill>
                          <a:srgbClr val="B307A7"/>
                        </a:solidFill>
                        <a:latin typeface="Cambria Math" panose="02040503050406030204" pitchFamily="18" charset="0"/>
                      </a:rPr>
                      <m:t>0111</m:t>
                    </m:r>
                    <m:sSup>
                      <m:sSupPr>
                        <m:ctrlPr>
                          <a:rPr lang="en-US" sz="2200" i="1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  <m:r>
                      <a:rPr lang="en-US" sz="2200" b="0" i="1" smtClean="0">
                        <a:solidFill>
                          <a:srgbClr val="B307A7"/>
                        </a:solidFill>
                        <a:latin typeface="Cambria Math" panose="02040503050406030204" pitchFamily="18" charset="0"/>
                      </a:rPr>
                      <m:t>0001</m:t>
                    </m:r>
                  </m:oMath>
                </a14:m>
                <a:r>
                  <a:rPr lang="en-US" sz="2200" dirty="0">
                    <a:solidFill>
                      <a:srgbClr val="B307A7"/>
                    </a:solidFill>
                  </a:rPr>
                  <a:t> </a:t>
                </a:r>
                <a:r>
                  <a:rPr lang="en-US" sz="2200" dirty="0"/>
                  <a:t>(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lang="en-US" sz="2200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D6C96A-31BA-81E8-2E0E-D7D9B76E0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28768"/>
                <a:ext cx="5323840" cy="3724738"/>
              </a:xfrm>
              <a:prstGeom prst="rect">
                <a:avLst/>
              </a:prstGeom>
              <a:blipFill>
                <a:blip r:embed="rId5"/>
                <a:stretch>
                  <a:fillRect l="-1489" b="-245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A24AAB-00C0-4F0C-6A63-2485ACF84A6F}"/>
                  </a:ext>
                </a:extLst>
              </p:cNvPr>
              <p:cNvSpPr txBox="1"/>
              <p:nvPr/>
            </p:nvSpPr>
            <p:spPr>
              <a:xfrm>
                <a:off x="4549697" y="2268004"/>
                <a:ext cx="2653991" cy="433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A24AAB-00C0-4F0C-6A63-2485ACF84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697" y="2268004"/>
                <a:ext cx="2653991" cy="4336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14350B-20F6-14A2-FE6F-176B2EB0C7D4}"/>
                  </a:ext>
                </a:extLst>
              </p:cNvPr>
              <p:cNvSpPr txBox="1"/>
              <p:nvPr/>
            </p:nvSpPr>
            <p:spPr>
              <a:xfrm>
                <a:off x="5089060" y="2261282"/>
                <a:ext cx="4011930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200" i="1" smtClean="0">
                          <a:solidFill>
                            <a:srgbClr val="B307A7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bSup>
                        <m:sSubSupPr>
                          <m:ctrlPr>
                            <a:rPr lang="en-US" sz="2200" b="0" i="1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  <m:r>
                        <a:rPr lang="en-US" sz="2200" i="1">
                          <a:solidFill>
                            <a:srgbClr val="B307A7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r>
                        <a:rPr lang="en-US" sz="2200" b="0" i="1" smtClean="0">
                          <a:solidFill>
                            <a:srgbClr val="B307A7"/>
                          </a:solidFill>
                          <a:latin typeface="Cambria Math" panose="02040503050406030204" pitchFamily="18" charset="0"/>
                        </a:rPr>
                        <m:t>000</m:t>
                      </m:r>
                      <m:r>
                        <a:rPr lang="en-US" sz="2200" i="1">
                          <a:solidFill>
                            <a:srgbClr val="B307A7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L" sz="2200" dirty="0">
                  <a:solidFill>
                    <a:srgbClr val="B307A7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14350B-20F6-14A2-FE6F-176B2EB0C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060" y="2261282"/>
                <a:ext cx="4011930" cy="436979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49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2375-051E-6BA8-A867-DF34B4E14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4F5802-4F58-D7E8-2F45-C49DFF8D258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⇝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1"/>
                    </a:solidFill>
                    <a:latin typeface="Dosis" pitchFamily="2" charset="0"/>
                  </a:rPr>
                  <a:t>: integers to bit-vectors</a:t>
                </a:r>
                <a:endParaRPr lang="en-IL" dirty="0">
                  <a:solidFill>
                    <a:schemeClr val="accent1"/>
                  </a:solidFill>
                  <a:latin typeface="Dosis" pitchFamily="2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03533A-DB43-9061-63E5-B19C19E61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4287B10-8BE5-6D86-C820-FDED94D6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262CBEF-27B5-3A48-F688-9F002D3CE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IL" altLang="en-IL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define a custom translation</a:t>
            </a:r>
            <a:r>
              <a:rPr kumimoji="0" lang="en-IL" altLang="en-I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IL" altLang="en-I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42C8B81-CA8D-04D9-E234-C03FE3093F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200" dirty="0"/>
                  <a:t>Based on </a:t>
                </a:r>
                <a:r>
                  <a:rPr lang="en-US" sz="2200" b="1" dirty="0">
                    <a:solidFill>
                      <a:srgbClr val="7D6A3B"/>
                    </a:solidFill>
                  </a:rPr>
                  <a:t>syntactic substitution</a:t>
                </a:r>
                <a:r>
                  <a:rPr lang="en-US" sz="22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42C8B81-CA8D-04D9-E234-C03FE3093F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  <a:blipFill>
                <a:blip r:embed="rId3"/>
                <a:stretch>
                  <a:fillRect l="-754" t="-7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88A6C4-16F1-D3FD-5302-76D9168337B5}"/>
                  </a:ext>
                </a:extLst>
              </p:cNvPr>
              <p:cNvSpPr txBox="1"/>
              <p:nvPr/>
            </p:nvSpPr>
            <p:spPr>
              <a:xfrm>
                <a:off x="838200" y="2828768"/>
                <a:ext cx="5323840" cy="3724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200" b="1" dirty="0">
                    <a:solidFill>
                      <a:srgbClr val="F8475E"/>
                    </a:solidFill>
                  </a:rPr>
                  <a:t>Problem</a:t>
                </a:r>
                <a:r>
                  <a:rPr lang="en-US" sz="2200" dirty="0"/>
                  <a:t>: overflow changes the semantics</a:t>
                </a: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/>
                  <a:t>Consider the integer assignment: 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2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2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sz="2200" b="0" dirty="0">
                  <a:solidFill>
                    <a:srgbClr val="FFC000"/>
                  </a:solidFill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integer formula is satisfied: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sz="22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7&lt;</m:t>
                      </m:r>
                      <m:r>
                        <a:rPr lang="en-US" sz="2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7+1</m:t>
                      </m:r>
                    </m:oMath>
                  </m:oMathPara>
                </a14:m>
                <a:endParaRPr lang="en-US" sz="2200" b="0" dirty="0">
                  <a:solidFill>
                    <a:srgbClr val="FFC000"/>
                  </a:solidFill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/>
                  <a:t>Corresponding bit-vector assignment: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=0111</m:t>
                    </m:r>
                  </m:oMath>
                </a14:m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=0111</m:t>
                    </m:r>
                  </m:oMath>
                </a14:m>
                <a:endParaRPr lang="en-US" sz="2200" b="0" dirty="0">
                  <a:solidFill>
                    <a:schemeClr val="tx2">
                      <a:lumMod val="50000"/>
                      <a:lumOff val="50000"/>
                    </a:schemeClr>
                  </a:solidFill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bit-vector formula is not satisfied: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0111</m:t>
                    </m:r>
                    <m:sSubSup>
                      <m:sSubSupPr>
                        <m:ctrlPr>
                          <a:rPr lang="en-US" sz="22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bSup>
                    <m:r>
                      <a:rPr lang="en-US" sz="22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0111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  <m:r>
                      <a:rPr lang="en-US" sz="22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0001</m:t>
                    </m:r>
                  </m:oMath>
                </a14:m>
                <a:r>
                  <a:rPr lang="en-US" sz="2200" dirty="0"/>
                  <a:t> (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lang="en-US" sz="2200" dirty="0"/>
                  <a:t>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B88A6C4-16F1-D3FD-5302-76D916833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28768"/>
                <a:ext cx="5323840" cy="3724738"/>
              </a:xfrm>
              <a:prstGeom prst="rect">
                <a:avLst/>
              </a:prstGeom>
              <a:blipFill>
                <a:blip r:embed="rId4"/>
                <a:stretch>
                  <a:fillRect l="-1489" b="-245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7F2690-F1E1-7996-6A58-C7105D60E749}"/>
                  </a:ext>
                </a:extLst>
              </p:cNvPr>
              <p:cNvSpPr txBox="1"/>
              <p:nvPr/>
            </p:nvSpPr>
            <p:spPr>
              <a:xfrm>
                <a:off x="6309360" y="2828767"/>
                <a:ext cx="5521960" cy="3724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2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Solution</a:t>
                </a:r>
                <a:r>
                  <a:rPr lang="en-US" sz="2200" dirty="0"/>
                  <a:t>: sign-extend variables and constants by the minimal </a:t>
                </a:r>
                <a:r>
                  <a:rPr lang="en-US" sz="2200"/>
                  <a:t>width that prevents </a:t>
                </a:r>
                <a:r>
                  <a:rPr lang="en-US" sz="2200" dirty="0"/>
                  <a:t>overflow.</a:t>
                </a:r>
              </a:p>
              <a:p>
                <a:pPr>
                  <a:lnSpc>
                    <a:spcPct val="120000"/>
                  </a:lnSpc>
                </a:pPr>
                <a:endParaRPr lang="en-US" sz="2200" dirty="0"/>
              </a:p>
              <a:p>
                <a:pPr>
                  <a:lnSpc>
                    <a:spcPct val="120000"/>
                  </a:lnSpc>
                </a:pPr>
                <a:endParaRPr lang="en-US" sz="2200" dirty="0"/>
              </a:p>
              <a:p>
                <a:pPr>
                  <a:lnSpc>
                    <a:spcPct val="120000"/>
                  </a:lnSpc>
                </a:pPr>
                <a:endParaRPr lang="en-US" sz="2200" dirty="0"/>
              </a:p>
              <a:p>
                <a:pPr>
                  <a:lnSpc>
                    <a:spcPct val="120000"/>
                  </a:lnSpc>
                </a:pPr>
                <a:endParaRPr lang="en-US" sz="2200" dirty="0"/>
              </a:p>
              <a:p>
                <a:pPr>
                  <a:lnSpc>
                    <a:spcPct val="120000"/>
                  </a:lnSpc>
                </a:pPr>
                <a:endParaRPr lang="en-US" sz="2200" dirty="0"/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bit-vector formula is satisfied: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0111</m:t>
                    </m:r>
                    <m:sSubSup>
                      <m:sSubSupPr>
                        <m:ctrlPr>
                          <a:rPr lang="en-US" sz="22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bSup>
                    <m:r>
                      <a:rPr lang="en-US" sz="22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0111</m:t>
                    </m:r>
                    <m:sSup>
                      <m:sSupPr>
                        <m:ctrlPr>
                          <a:rPr lang="en-US" sz="2200" i="1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p>
                    </m:sSup>
                    <m:r>
                      <a:rPr lang="en-US" sz="2200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b="0" i="1" smtClean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200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001</m:t>
                    </m:r>
                  </m:oMath>
                </a14:m>
                <a:r>
                  <a:rPr lang="en-US" sz="2200" dirty="0"/>
                  <a:t> (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200" dirty="0"/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7F2690-F1E1-7996-6A58-C7105D60E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0" y="2828767"/>
                <a:ext cx="5521960" cy="3724738"/>
              </a:xfrm>
              <a:prstGeom prst="rect">
                <a:avLst/>
              </a:prstGeom>
              <a:blipFill>
                <a:blip r:embed="rId5"/>
                <a:stretch>
                  <a:fillRect l="-1435" b="-245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26679D6-190F-B3C2-9389-6461A6F665B2}"/>
                  </a:ext>
                </a:extLst>
              </p:cNvPr>
              <p:cNvSpPr txBox="1"/>
              <p:nvPr/>
            </p:nvSpPr>
            <p:spPr>
              <a:xfrm>
                <a:off x="4123373" y="2264643"/>
                <a:ext cx="6125527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m:rPr>
                          <m:sty m:val="p"/>
                        </m:rPr>
                        <a:rPr lang="en-US" sz="2200" b="0" i="0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sext</m:t>
                      </m:r>
                      <m:r>
                        <a:rPr lang="en-US" sz="2200" b="0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,1)</m:t>
                      </m:r>
                      <m:sSubSup>
                        <m:sSubSupPr>
                          <m:ctrlPr>
                            <a:rPr lang="en-US" sz="22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20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sext</m:t>
                      </m:r>
                      <m:r>
                        <a:rPr lang="en-US" sz="2200" i="1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,1)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r>
                        <a:rPr lang="en-US" sz="2200" b="0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0000</m:t>
                      </m:r>
                      <m:r>
                        <a:rPr lang="en-US" sz="2200" i="1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L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26679D6-190F-B3C2-9389-6461A6F66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73" y="2264643"/>
                <a:ext cx="6125527" cy="436979"/>
              </a:xfrm>
              <a:prstGeom prst="rect">
                <a:avLst/>
              </a:prstGeom>
              <a:blipFill>
                <a:blip r:embed="rId6"/>
                <a:stretch>
                  <a:fillRect b="-15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EE7C40D-8FFE-9D93-1B8D-60D35B294875}"/>
                  </a:ext>
                </a:extLst>
              </p:cNvPr>
              <p:cNvSpPr txBox="1"/>
              <p:nvPr/>
            </p:nvSpPr>
            <p:spPr>
              <a:xfrm>
                <a:off x="4156075" y="2264643"/>
                <a:ext cx="4011930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2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22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L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EE7C40D-8FFE-9D93-1B8D-60D35B294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75" y="2264643"/>
                <a:ext cx="4011930" cy="436979"/>
              </a:xfrm>
              <a:prstGeom prst="rect">
                <a:avLst/>
              </a:prstGeom>
              <a:blipFill>
                <a:blip r:embed="rId7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F2F8F1-8004-938C-3386-565108BADD34}"/>
                  </a:ext>
                </a:extLst>
              </p:cNvPr>
              <p:cNvSpPr txBox="1"/>
              <p:nvPr/>
            </p:nvSpPr>
            <p:spPr>
              <a:xfrm>
                <a:off x="4549697" y="2268004"/>
                <a:ext cx="2653991" cy="433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↦</m:t>
                      </m:r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F2F8F1-8004-938C-3386-565108BAD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697" y="2268004"/>
                <a:ext cx="2653991" cy="4336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52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0C33B-5B16-9489-16A5-2967EB0F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9D89B-AE62-9C04-9DC5-C8DD5DAC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The Mosaic framework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56CF020-F1FF-4753-37E5-D876CC7C0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768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F8163-6449-C005-E26A-41BDB806B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83236"/>
            <a:ext cx="889340" cy="889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591951-CE92-E3DB-381A-CD3665E49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7" b="6263"/>
          <a:stretch>
            <a:fillRect/>
          </a:stretch>
        </p:blipFill>
        <p:spPr>
          <a:xfrm>
            <a:off x="630878" y="1951567"/>
            <a:ext cx="1306677" cy="1138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DEC15C-E268-CE81-1679-066418AD4C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" r="-209"/>
          <a:stretch>
            <a:fillRect/>
          </a:stretch>
        </p:blipFill>
        <p:spPr>
          <a:xfrm>
            <a:off x="630878" y="3942928"/>
            <a:ext cx="1306677" cy="130667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9DD307-7A98-4C6E-EECA-90DDF9EAB2C8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180758" y="2741676"/>
            <a:ext cx="407288" cy="288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3234DA5-6365-A2F1-2F8D-39C453ACB1A3}"/>
              </a:ext>
            </a:extLst>
          </p:cNvPr>
          <p:cNvSpPr txBox="1"/>
          <p:nvPr/>
        </p:nvSpPr>
        <p:spPr>
          <a:xfrm>
            <a:off x="666179" y="3082995"/>
            <a:ext cx="12360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Program</a:t>
            </a:r>
            <a:endParaRPr 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C8B2C-E7A1-E00E-1400-E679C340FFC1}"/>
              </a:ext>
            </a:extLst>
          </p:cNvPr>
          <p:cNvSpPr txBox="1"/>
          <p:nvPr/>
        </p:nvSpPr>
        <p:spPr>
          <a:xfrm>
            <a:off x="422703" y="5249605"/>
            <a:ext cx="17230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latin typeface="Dosis" pitchFamily="2" charset="0"/>
              </a:rPr>
              <a:t>Specification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329D08-84A4-FB92-60CC-75EC4A96EDD5}"/>
              </a:ext>
            </a:extLst>
          </p:cNvPr>
          <p:cNvCxnSpPr>
            <a:cxnSpLocks/>
          </p:cNvCxnSpPr>
          <p:nvPr/>
        </p:nvCxnSpPr>
        <p:spPr>
          <a:xfrm flipV="1">
            <a:off x="1937555" y="2518833"/>
            <a:ext cx="251876" cy="1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74D52B-AF61-5DB0-940E-8A1A778D6D4A}"/>
              </a:ext>
            </a:extLst>
          </p:cNvPr>
          <p:cNvCxnSpPr>
            <a:cxnSpLocks/>
          </p:cNvCxnSpPr>
          <p:nvPr/>
        </p:nvCxnSpPr>
        <p:spPr>
          <a:xfrm>
            <a:off x="2180758" y="2506663"/>
            <a:ext cx="0" cy="465137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59CFAE-EDC0-5B9E-5478-ED65B06A304C}"/>
              </a:ext>
            </a:extLst>
          </p:cNvPr>
          <p:cNvCxnSpPr>
            <a:cxnSpLocks/>
          </p:cNvCxnSpPr>
          <p:nvPr/>
        </p:nvCxnSpPr>
        <p:spPr>
          <a:xfrm>
            <a:off x="2180758" y="2933164"/>
            <a:ext cx="0" cy="1812926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4416EB-A35D-90F1-038E-7D72C05283F1}"/>
              </a:ext>
            </a:extLst>
          </p:cNvPr>
          <p:cNvCxnSpPr>
            <a:cxnSpLocks/>
          </p:cNvCxnSpPr>
          <p:nvPr/>
        </p:nvCxnSpPr>
        <p:spPr>
          <a:xfrm>
            <a:off x="1937555" y="4732338"/>
            <a:ext cx="251876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B4B712-9E97-8579-B129-E1D5417CFCD5}"/>
              </a:ext>
            </a:extLst>
          </p:cNvPr>
          <p:cNvSpPr/>
          <p:nvPr/>
        </p:nvSpPr>
        <p:spPr>
          <a:xfrm>
            <a:off x="2588046" y="2326165"/>
            <a:ext cx="1616738" cy="83679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Dosis" pitchFamily="2" charset="0"/>
              </a:rPr>
              <a:t>Encoder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869D1415-8878-48C9-21E1-299388E021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03399" y="2105966"/>
                <a:ext cx="2113372" cy="1273564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b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Π</m:t>
                      </m:r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00000"/>
                  </a:lnSpc>
                </a:pPr>
                <a:r>
                  <a:rPr lang="en-US" sz="2400" b="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Set of CHCs modulo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𝒯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</m:oMath>
                </a14:m>
                <a:endParaRPr lang="en-US" sz="2400" b="0" dirty="0">
                  <a:solidFill>
                    <a:schemeClr val="tx1"/>
                  </a:solidFill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ADD82EA2-A350-3AA2-775D-3F575BEF0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399" y="2105966"/>
                <a:ext cx="2113372" cy="1273564"/>
              </a:xfrm>
              <a:prstGeom prst="roundRect">
                <a:avLst/>
              </a:prstGeom>
              <a:blipFill>
                <a:blip r:embed="rId5"/>
                <a:stretch>
                  <a:fillRect b="-8962"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883E43-55E9-006F-92D9-747CC2F93CA1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759339" y="3527425"/>
            <a:ext cx="0" cy="96018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88C04EB-DDB7-34AF-230D-C49ABB49673D}"/>
              </a:ext>
            </a:extLst>
          </p:cNvPr>
          <p:cNvSpPr/>
          <p:nvPr/>
        </p:nvSpPr>
        <p:spPr>
          <a:xfrm>
            <a:off x="2596718" y="4487605"/>
            <a:ext cx="2325241" cy="836794"/>
          </a:xfrm>
          <a:prstGeom prst="roundRect">
            <a:avLst/>
          </a:prstGeom>
          <a:solidFill>
            <a:srgbClr val="EFEADD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Dosis" pitchFamily="2" charset="0"/>
              </a:rPr>
              <a:t>Theory-Modular Encoder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8906313-93D4-CC66-EC49-63423748AB28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4204784" y="2742748"/>
            <a:ext cx="398615" cy="1814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261A95-99AC-D4DA-E978-9C8DAEB74350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4921959" y="4902914"/>
            <a:ext cx="428632" cy="3088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E7B693E0-D481-9176-02E8-7B2742FA5A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0591" y="4266132"/>
                <a:ext cx="2502131" cy="1273564"/>
              </a:xfrm>
              <a:prstGeom prst="roundRect">
                <a:avLst/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latin typeface="Cambria Math" panose="020405030504060302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800" b="0" i="1" smtClean="0">
                              <a:solidFill>
                                <a:srgbClr val="B307A7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smtClean="0">
                                  <a:solidFill>
                                    <a:srgbClr val="B307A7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smtClean="0">
                                  <a:solidFill>
                                    <a:srgbClr val="B307A7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B307A7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B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0" smtClean="0">
                                  <a:solidFill>
                                    <a:srgbClr val="EAB2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EAB2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EAB2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00000"/>
                  </a:lnSpc>
                </a:pPr>
                <a:r>
                  <a:rPr lang="en-US" sz="2400" b="0" dirty="0">
                    <a:solidFill>
                      <a:schemeClr val="tx1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Theory-modular encoding</a:t>
                </a:r>
                <a:endParaRPr lang="en-US" sz="2800" dirty="0"/>
              </a:p>
            </p:txBody>
          </p:sp>
        </mc:Choice>
        <mc:Fallback xmlns="">
          <p:sp>
            <p:nvSpPr>
              <p:cNvPr id="21" name="Title 1">
                <a:extLst>
                  <a:ext uri="{FF2B5EF4-FFF2-40B4-BE49-F238E27FC236}">
                    <a16:creationId xmlns:a16="http://schemas.microsoft.com/office/drawing/2014/main" id="{E7B693E0-D481-9176-02E8-7B2742FA5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591" y="4266132"/>
                <a:ext cx="2502131" cy="1273564"/>
              </a:xfrm>
              <a:prstGeom prst="roundRect">
                <a:avLst/>
              </a:prstGeom>
              <a:blipFill>
                <a:blip r:embed="rId6"/>
                <a:stretch>
                  <a:fillRect b="-9479"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1">
            <a:extLst>
              <a:ext uri="{FF2B5EF4-FFF2-40B4-BE49-F238E27FC236}">
                <a16:creationId xmlns:a16="http://schemas.microsoft.com/office/drawing/2014/main" id="{F44EBE41-B3C3-1798-2A75-F5BD0CD39568}"/>
              </a:ext>
            </a:extLst>
          </p:cNvPr>
          <p:cNvSpPr txBox="1">
            <a:spLocks/>
          </p:cNvSpPr>
          <p:nvPr/>
        </p:nvSpPr>
        <p:spPr>
          <a:xfrm>
            <a:off x="7389805" y="3590303"/>
            <a:ext cx="1396126" cy="646755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dirty="0">
                <a:solidFill>
                  <a:prstClr val="black"/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interface constraints</a:t>
            </a:r>
            <a:endParaRPr lang="en-IL" sz="2200" dirty="0">
              <a:solidFill>
                <a:prstClr val="black"/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DA9E3E-741D-D1EC-7545-631114AE2CE4}"/>
              </a:ext>
            </a:extLst>
          </p:cNvPr>
          <p:cNvCxnSpPr>
            <a:cxnSpLocks/>
          </p:cNvCxnSpPr>
          <p:nvPr/>
        </p:nvCxnSpPr>
        <p:spPr>
          <a:xfrm>
            <a:off x="5828097" y="4182177"/>
            <a:ext cx="216135" cy="20694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21741A2-9C43-053F-2821-0B5A95536098}"/>
              </a:ext>
            </a:extLst>
          </p:cNvPr>
          <p:cNvSpPr txBox="1"/>
          <p:nvPr/>
        </p:nvSpPr>
        <p:spPr>
          <a:xfrm>
            <a:off x="4743575" y="3599745"/>
            <a:ext cx="1233111" cy="634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200" dirty="0">
                <a:solidFill>
                  <a:srgbClr val="B307A7"/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bit-vector</a:t>
            </a:r>
          </a:p>
          <a:p>
            <a:pPr algn="ctr">
              <a:lnSpc>
                <a:spcPct val="80000"/>
              </a:lnSpc>
            </a:pPr>
            <a:r>
              <a:rPr lang="en-US" sz="2200" dirty="0">
                <a:solidFill>
                  <a:srgbClr val="B307A7"/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fragment</a:t>
            </a:r>
            <a:endParaRPr lang="en-IL" sz="2200" dirty="0">
              <a:solidFill>
                <a:srgbClr val="B307A7"/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C144647-13D3-3253-BF3B-6CA53C0E9B83}"/>
                  </a:ext>
                </a:extLst>
              </p:cNvPr>
              <p:cNvSpPr txBox="1"/>
              <p:nvPr/>
            </p:nvSpPr>
            <p:spPr>
              <a:xfrm>
                <a:off x="6082345" y="3596671"/>
                <a:ext cx="1198390" cy="634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2200" dirty="0">
                    <a:solidFill>
                      <a:srgbClr val="EAB2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integer</a:t>
                </a:r>
              </a:p>
              <a:p>
                <a:pPr algn="ctr"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</m:rPr>
                        <a:rPr lang="en-US" sz="2200" i="0" dirty="0">
                          <a:solidFill>
                            <a:srgbClr val="EAB200"/>
                          </a:solidFill>
                          <a:latin typeface="Dosis" pitchFamily="2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fragment</m:t>
                      </m:r>
                    </m:oMath>
                  </m:oMathPara>
                </a14:m>
                <a:endParaRPr lang="en-IL" sz="2200" dirty="0">
                  <a:solidFill>
                    <a:srgbClr val="EAB200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C144647-13D3-3253-BF3B-6CA53C0E9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345" y="3596671"/>
                <a:ext cx="1198390" cy="634020"/>
              </a:xfrm>
              <a:prstGeom prst="rect">
                <a:avLst/>
              </a:prstGeom>
              <a:blipFill>
                <a:blip r:embed="rId7"/>
                <a:stretch>
                  <a:fillRect l="-3571" t="-17308" r="-3571" b="-1442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D5E6A4-A676-4347-EE51-E36EFA5A8217}"/>
              </a:ext>
            </a:extLst>
          </p:cNvPr>
          <p:cNvCxnSpPr>
            <a:cxnSpLocks/>
          </p:cNvCxnSpPr>
          <p:nvPr/>
        </p:nvCxnSpPr>
        <p:spPr>
          <a:xfrm flipH="1">
            <a:off x="7180446" y="4182177"/>
            <a:ext cx="413748" cy="18288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CB1B84C-E1A5-F2DE-7C7A-2C12CC9C8428}"/>
              </a:ext>
            </a:extLst>
          </p:cNvPr>
          <p:cNvCxnSpPr>
            <a:cxnSpLocks/>
          </p:cNvCxnSpPr>
          <p:nvPr/>
        </p:nvCxnSpPr>
        <p:spPr>
          <a:xfrm>
            <a:off x="6615170" y="4172850"/>
            <a:ext cx="2198" cy="221083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89C3A31-0E46-526F-1149-14F10F16CEA2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5658125" y="3379530"/>
            <a:ext cx="1960" cy="17914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D3B82D1-2FE9-6B36-6F39-D781AB66228D}"/>
              </a:ext>
            </a:extLst>
          </p:cNvPr>
          <p:cNvCxnSpPr>
            <a:cxnSpLocks/>
          </p:cNvCxnSpPr>
          <p:nvPr/>
        </p:nvCxnSpPr>
        <p:spPr>
          <a:xfrm flipH="1" flipV="1">
            <a:off x="3751630" y="3541208"/>
            <a:ext cx="1906979" cy="2576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AF6F64B-8DB8-58D2-0ED5-9464C0002088}"/>
              </a:ext>
            </a:extLst>
          </p:cNvPr>
          <p:cNvCxnSpPr>
            <a:cxnSpLocks/>
            <a:stCxn id="21" idx="3"/>
            <a:endCxn id="31" idx="1"/>
          </p:cNvCxnSpPr>
          <p:nvPr/>
        </p:nvCxnSpPr>
        <p:spPr>
          <a:xfrm>
            <a:off x="7852722" y="4902914"/>
            <a:ext cx="385550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E9D623B-DE1A-02CA-3377-FDBFBB1E06B8}"/>
              </a:ext>
            </a:extLst>
          </p:cNvPr>
          <p:cNvSpPr/>
          <p:nvPr/>
        </p:nvSpPr>
        <p:spPr>
          <a:xfrm>
            <a:off x="8238272" y="4484517"/>
            <a:ext cx="2325241" cy="836794"/>
          </a:xfrm>
          <a:prstGeom prst="roundRect">
            <a:avLst/>
          </a:prstGeom>
          <a:solidFill>
            <a:srgbClr val="EFEADD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Dosis" pitchFamily="2" charset="0"/>
              </a:rPr>
              <a:t>Theory-Modular CHC solver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98AF250-604D-E1A1-B4D3-6276C9FA1B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74" t="-140" r="-4582" b="140"/>
          <a:stretch>
            <a:fillRect/>
          </a:stretch>
        </p:blipFill>
        <p:spPr>
          <a:xfrm>
            <a:off x="10532973" y="3169111"/>
            <a:ext cx="1409350" cy="13066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1DA8191-0BE4-0E1A-FE27-BAF4E01B1E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4" t="2908" r="2759" b="1842"/>
          <a:stretch>
            <a:fillRect/>
          </a:stretch>
        </p:blipFill>
        <p:spPr>
          <a:xfrm>
            <a:off x="10532973" y="1004343"/>
            <a:ext cx="1280583" cy="130667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0ED027D-9E65-53ED-B211-5EA9EF56DB4D}"/>
              </a:ext>
            </a:extLst>
          </p:cNvPr>
          <p:cNvSpPr txBox="1"/>
          <p:nvPr/>
        </p:nvSpPr>
        <p:spPr>
          <a:xfrm>
            <a:off x="10813168" y="2310194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Safe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62BBD8-18AF-D95F-BD59-76380D9CE7ED}"/>
              </a:ext>
            </a:extLst>
          </p:cNvPr>
          <p:cNvSpPr txBox="1"/>
          <p:nvPr/>
        </p:nvSpPr>
        <p:spPr>
          <a:xfrm>
            <a:off x="10779818" y="4472027"/>
            <a:ext cx="9156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Buggy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1DA746-042D-6E79-8090-D5641DD5C355}"/>
              </a:ext>
            </a:extLst>
          </p:cNvPr>
          <p:cNvCxnSpPr>
            <a:cxnSpLocks/>
          </p:cNvCxnSpPr>
          <p:nvPr/>
        </p:nvCxnSpPr>
        <p:spPr>
          <a:xfrm>
            <a:off x="9400892" y="2849875"/>
            <a:ext cx="325969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1E4EE61-C756-FE34-659E-97C93F96CFBB}"/>
              </a:ext>
            </a:extLst>
          </p:cNvPr>
          <p:cNvCxnSpPr>
            <a:cxnSpLocks/>
          </p:cNvCxnSpPr>
          <p:nvPr/>
        </p:nvCxnSpPr>
        <p:spPr>
          <a:xfrm flipH="1">
            <a:off x="9728192" y="1704975"/>
            <a:ext cx="5505" cy="1158425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A2AD5B6-B0F0-3693-5DCF-2556EB9AADE3}"/>
              </a:ext>
            </a:extLst>
          </p:cNvPr>
          <p:cNvCxnSpPr>
            <a:cxnSpLocks/>
          </p:cNvCxnSpPr>
          <p:nvPr/>
        </p:nvCxnSpPr>
        <p:spPr>
          <a:xfrm>
            <a:off x="9726861" y="1716132"/>
            <a:ext cx="667942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A6E22C5-6FDC-4772-3E47-BEF0453B085A}"/>
              </a:ext>
            </a:extLst>
          </p:cNvPr>
          <p:cNvCxnSpPr>
            <a:cxnSpLocks/>
          </p:cNvCxnSpPr>
          <p:nvPr/>
        </p:nvCxnSpPr>
        <p:spPr>
          <a:xfrm>
            <a:off x="9720997" y="3965575"/>
            <a:ext cx="673806" cy="278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14C2722-4E6C-A40F-01E0-DCF7516AE754}"/>
              </a:ext>
            </a:extLst>
          </p:cNvPr>
          <p:cNvSpPr txBox="1"/>
          <p:nvPr/>
        </p:nvSpPr>
        <p:spPr>
          <a:xfrm>
            <a:off x="9697803" y="1269691"/>
            <a:ext cx="720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SAT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2EC783-3F30-1B32-40BF-F54FE653986E}"/>
              </a:ext>
            </a:extLst>
          </p:cNvPr>
          <p:cNvSpPr txBox="1"/>
          <p:nvPr/>
        </p:nvSpPr>
        <p:spPr>
          <a:xfrm>
            <a:off x="9548738" y="4006099"/>
            <a:ext cx="9935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200">
                <a:latin typeface="Dosis" pitchFamily="2" charset="0"/>
              </a:defRPr>
            </a:lvl1pPr>
          </a:lstStyle>
          <a:p>
            <a:r>
              <a:rPr lang="en-US" dirty="0"/>
              <a:t>UNSAT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8E6B8A3-4BA1-6F0B-7336-5C0E6F9AEA44}"/>
              </a:ext>
            </a:extLst>
          </p:cNvPr>
          <p:cNvCxnSpPr>
            <a:cxnSpLocks/>
          </p:cNvCxnSpPr>
          <p:nvPr/>
        </p:nvCxnSpPr>
        <p:spPr>
          <a:xfrm>
            <a:off x="9728449" y="2839650"/>
            <a:ext cx="0" cy="1141948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58FD546-EC9D-D9AF-EEBD-F444DDBBEECF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9400893" y="2836333"/>
            <a:ext cx="9807" cy="1648184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15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9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5" dur="indefinite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0" dur="indefinite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3" dur="indefinite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6" dur="indefinite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9" dur="indefinite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2" dur="indefinite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5" dur="indefinite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8" dur="indefinite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1" dur="indefinite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indefinite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4" dur="indefinite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67" dur="indefinite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0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6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/>
      <p:bldP spid="24" grpId="0"/>
      <p:bldP spid="25" grpId="0"/>
      <p:bldP spid="31" grpId="0" animBg="1"/>
      <p:bldP spid="34" grpId="0"/>
      <p:bldP spid="35" grpId="0"/>
      <p:bldP spid="40" grpId="0"/>
      <p:bldP spid="4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D168A-823E-CE3E-0C6B-839CD4C7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1896-34CB-2D02-557A-3C4099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Encoding, step 1: partition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CAEB4007-A1D5-3314-C568-C1B9D4E29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65370A-F2F8-E3D3-8CDB-0CE4A1F64F6B}"/>
                  </a:ext>
                </a:extLst>
              </p:cNvPr>
              <p:cNvSpPr txBox="1"/>
              <p:nvPr/>
            </p:nvSpPr>
            <p:spPr>
              <a:xfrm>
                <a:off x="3168522" y="2335107"/>
                <a:ext cx="7137988" cy="2762284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bSup>
                            <m:sSubSup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b="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bSup>
                            <m:sSub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0001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Sup>
                                <m:sSubSupPr>
                                  <m:ctrlP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bSup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65370A-F2F8-E3D3-8CDB-0CE4A1F64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2335107"/>
                <a:ext cx="7137988" cy="276228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CBA599-F5D6-73D7-70CA-666DD0E0CB80}"/>
                  </a:ext>
                </a:extLst>
              </p:cNvPr>
              <p:cNvSpPr txBox="1"/>
              <p:nvPr/>
            </p:nvSpPr>
            <p:spPr>
              <a:xfrm>
                <a:off x="3276410" y="1904220"/>
                <a:ext cx="653926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200" dirty="0"/>
                  <a:t>: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CBA599-F5D6-73D7-70CA-666DD0E0C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410" y="1904220"/>
                <a:ext cx="653926" cy="430887"/>
              </a:xfrm>
              <a:prstGeom prst="rect">
                <a:avLst/>
              </a:prstGeom>
              <a:blipFill>
                <a:blip r:embed="rId3"/>
                <a:stretch>
                  <a:fillRect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484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F5EC-E3C2-4DA1-B2D8-B34A618B6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B3947D-5AC9-62BF-E9B1-77F7F02CD0C8}"/>
                  </a:ext>
                </a:extLst>
              </p:cNvPr>
              <p:cNvSpPr txBox="1"/>
              <p:nvPr/>
            </p:nvSpPr>
            <p:spPr>
              <a:xfrm>
                <a:off x="3173302" y="2335107"/>
                <a:ext cx="7137988" cy="194007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bSup>
                            <m:sSubSup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b="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bSup>
                            <m:sSub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0001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Sup>
                                <m:sSubSupPr>
                                  <m:ctrlP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bSup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B3947D-5AC9-62BF-E9B1-77F7F02CD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302" y="2335107"/>
                <a:ext cx="7137988" cy="194007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FB713E7-57CF-912E-943F-2E6DEADA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Encoding, step 1: partition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34D74BA4-177B-6B46-B53A-2C938D9B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2B7348-CF68-0F43-CD94-6892AEFCBF63}"/>
                  </a:ext>
                </a:extLst>
              </p:cNvPr>
              <p:cNvSpPr txBox="1"/>
              <p:nvPr/>
            </p:nvSpPr>
            <p:spPr>
              <a:xfrm>
                <a:off x="3173302" y="5089043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2B7348-CF68-0F43-CD94-6892AEFCB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302" y="5089043"/>
                <a:ext cx="7137988" cy="6153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B465B023-737C-4EEB-2B54-762DC1044C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73302" y="1833587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200" b="1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integer fragment</a:t>
                </a:r>
                <a:endParaRPr lang="en-IL" sz="2200" b="1" dirty="0">
                  <a:solidFill>
                    <a:srgbClr val="FFC000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B465B023-737C-4EEB-2B54-762DC1044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302" y="1833587"/>
                <a:ext cx="2419648" cy="439954"/>
              </a:xfrm>
              <a:prstGeom prst="rect">
                <a:avLst/>
              </a:prstGeom>
              <a:blipFill>
                <a:blip r:embed="rId4"/>
                <a:stretch>
                  <a:fillRect t="-12500" r="-3283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E2B8D9C7-E4B0-B875-D072-97DB0625DF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73302" y="4604714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B307A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2200" b="1" dirty="0">
                    <a:solidFill>
                      <a:srgbClr val="B307A7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bit-vector fragment</a:t>
                </a:r>
                <a:endParaRPr lang="en-IL" sz="2200" b="1" dirty="0">
                  <a:solidFill>
                    <a:srgbClr val="B307A7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E2B8D9C7-E4B0-B875-D072-97DB0625D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302" y="4604714"/>
                <a:ext cx="2576399" cy="439954"/>
              </a:xfrm>
              <a:prstGeom prst="rect">
                <a:avLst/>
              </a:prstGeom>
              <a:blipFill>
                <a:blip r:embed="rId5"/>
                <a:stretch>
                  <a:fillRect t="-5479" r="-237" b="-15068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8BE22798-A994-15C3-5F74-3E62937665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991893"/>
                <a:ext cx="10168112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200" b="1" dirty="0">
                    <a:solidFill>
                      <a:schemeClr val="accent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Heuristic</a:t>
                </a:r>
                <a:r>
                  <a:rPr lang="en-US" sz="2200" dirty="0">
                    <a:solidFill>
                      <a:prstClr val="black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: clauses whose function applications are purely arithmetic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2200" dirty="0">
                    <a:solidFill>
                      <a:prstClr val="black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 integer fragment</a:t>
                </a:r>
                <a:endParaRPr lang="en-IL" sz="2200" dirty="0">
                  <a:solidFill>
                    <a:prstClr val="black"/>
                  </a:solidFill>
                  <a:latin typeface="+mn-lt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8BE22798-A994-15C3-5F74-3E6293766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991893"/>
                <a:ext cx="10168112" cy="439954"/>
              </a:xfrm>
              <a:prstGeom prst="rect">
                <a:avLst/>
              </a:prstGeom>
              <a:blipFill>
                <a:blip r:embed="rId6"/>
                <a:stretch>
                  <a:fillRect l="-780" t="-11111" r="-300" b="-23611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908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allAtOnce" animBg="1"/>
      <p:bldP spid="3" grpId="0" animBg="1"/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9F673-B824-D2BE-45C6-9DCF24E5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FBB1C-F392-BB4C-37FC-770D3581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Encoding, step 2: the bit-vector fragment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F5E35A5B-2855-6DA3-10DD-0B070DEDB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C90CE0-7666-A920-F54A-71DC9EEF7BFA}"/>
              </a:ext>
            </a:extLst>
          </p:cNvPr>
          <p:cNvSpPr txBox="1"/>
          <p:nvPr/>
        </p:nvSpPr>
        <p:spPr>
          <a:xfrm>
            <a:off x="409538" y="5181265"/>
            <a:ext cx="26221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18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Predicate renaming</a:t>
            </a:r>
            <a:endParaRPr lang="en-IL" sz="2200" dirty="0">
              <a:latin typeface="Dosi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FC580B-C6E5-1C24-24D1-1768C02B5727}"/>
                  </a:ext>
                </a:extLst>
              </p:cNvPr>
              <p:cNvSpPr txBox="1"/>
              <p:nvPr/>
            </p:nvSpPr>
            <p:spPr>
              <a:xfrm>
                <a:off x="3168522" y="2335107"/>
                <a:ext cx="7137988" cy="194007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bSup>
                            <m:sSubSup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=0000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b="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bSup>
                            <m:sSub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0001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Sup>
                                <m:sSubSupPr>
                                  <m:ctrlP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200" b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bSup>
                              <m:r>
                                <a:rPr lang="en-US" sz="2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FC580B-C6E5-1C24-24D1-1768C02B5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2335107"/>
                <a:ext cx="7137988" cy="194007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CEA077-43EF-55D9-DDFA-AD47BCC30E4E}"/>
                  </a:ext>
                </a:extLst>
              </p:cNvPr>
              <p:cNvSpPr txBox="1"/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CEA077-43EF-55D9-DDFA-AD47BCC30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le 1">
                <a:extLst>
                  <a:ext uri="{FF2B5EF4-FFF2-40B4-BE49-F238E27FC236}">
                    <a16:creationId xmlns:a16="http://schemas.microsoft.com/office/drawing/2014/main" id="{B44EB042-A066-5C8F-1325-842553ECE1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</m:oMath>
                </a14:m>
                <a:r>
                  <a:rPr lang="en-US" sz="2200" b="1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integer fragment</a:t>
                </a:r>
                <a:endParaRPr lang="en-IL" sz="2200" b="1" dirty="0">
                  <a:solidFill>
                    <a:srgbClr val="FFC000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" name="Title 1">
                <a:extLst>
                  <a:ext uri="{FF2B5EF4-FFF2-40B4-BE49-F238E27FC236}">
                    <a16:creationId xmlns:a16="http://schemas.microsoft.com/office/drawing/2014/main" id="{B44EB042-A066-5C8F-1325-842553ECE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blipFill>
                <a:blip r:embed="rId4"/>
                <a:stretch>
                  <a:fillRect t="-12500" r="-3023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9F9A46E9-35C3-F7B1-8340-D4A21521D4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B307A7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9F9A46E9-35C3-F7B1-8340-D4A21521D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blipFill>
                <a:blip r:embed="rId5"/>
                <a:stretch>
                  <a:fillRect l="-237" t="-12329" b="-21918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15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2ED4-421F-3B89-5770-F76C0E87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F2DF-4729-2364-4B91-7B26FDEB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Encoding, step 3: the integer fragment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12811EC0-6D68-4C2D-B51F-D00B13C3B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5F3B47-3590-F9CD-6DB3-F832AD73BB8A}"/>
                  </a:ext>
                </a:extLst>
              </p:cNvPr>
              <p:cNvSpPr txBox="1"/>
              <p:nvPr/>
            </p:nvSpPr>
            <p:spPr>
              <a:xfrm>
                <a:off x="3168522" y="2335107"/>
                <a:ext cx="7852152" cy="222523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&gt;0∧−8≤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&lt;8∧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b="0" i="1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200" dirty="0"/>
              </a:p>
              <a:p>
                <a:pPr algn="l">
                  <a:lnSpc>
                    <a:spcPct val="100000"/>
                  </a:lnSpc>
                </a:pPr>
                <a:r>
                  <a:rPr lang="en-US" sz="2200" dirty="0"/>
                  <a:t>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i="0" dirty="0"/>
                      <m:t>	</m:t>
                    </m:r>
                    <m:sSup>
                      <m:sSupPr>
                        <m:ctrlPr>
                          <a:rPr lang="en-US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200" b="0"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p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</m:e>
                    </m:d>
                  </m:oMath>
                </a14:m>
                <a:endParaRPr lang="en-US" sz="2200" dirty="0"/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95F3B47-3590-F9CD-6DB3-F832AD73B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2335107"/>
                <a:ext cx="7852152" cy="222523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7BB8C6-2E29-CBCF-EF4A-11210077F639}"/>
                  </a:ext>
                </a:extLst>
              </p:cNvPr>
              <p:cNvSpPr txBox="1"/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7BB8C6-2E29-CBCF-EF4A-11210077F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27D418C3-9554-E6EB-E8D3-26FD1B991B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27D418C3-9554-E6EB-E8D3-26FD1B991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blipFill>
                <a:blip r:embed="rId4"/>
                <a:stretch>
                  <a:fillRect l="-252" t="-12500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069B54D7-5D65-5DD8-98FC-918AABF58F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069B54D7-5D65-5DD8-98FC-918AABF58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blipFill>
                <a:blip r:embed="rId5"/>
                <a:stretch>
                  <a:fillRect l="-237" t="-12329" b="-2191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24447E4-8B6E-81F7-B0ED-0D72D502C17A}"/>
              </a:ext>
            </a:extLst>
          </p:cNvPr>
          <p:cNvSpPr txBox="1"/>
          <p:nvPr/>
        </p:nvSpPr>
        <p:spPr>
          <a:xfrm>
            <a:off x="285649" y="2705725"/>
            <a:ext cx="288287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Predicate renaming</a:t>
            </a:r>
          </a:p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Variable renaming</a:t>
            </a:r>
          </a:p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Constraint translations</a:t>
            </a:r>
          </a:p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Domain restrictions</a:t>
            </a:r>
            <a:endParaRPr lang="en-IL" sz="2200" dirty="0">
              <a:latin typeface="Dosi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3B0CA7-7902-EF11-367E-03A622D8D147}"/>
                  </a:ext>
                </a:extLst>
              </p:cNvPr>
              <p:cNvSpPr txBox="1"/>
              <p:nvPr/>
            </p:nvSpPr>
            <p:spPr>
              <a:xfrm>
                <a:off x="5461389" y="1842654"/>
                <a:ext cx="75769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22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3B0CA7-7902-EF11-367E-03A622D8D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389" y="1842654"/>
                <a:ext cx="757691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Left Brace 24">
            <a:extLst>
              <a:ext uri="{FF2B5EF4-FFF2-40B4-BE49-F238E27FC236}">
                <a16:creationId xmlns:a16="http://schemas.microsoft.com/office/drawing/2014/main" id="{C758A600-37A4-B12D-0204-EB770038542D}"/>
              </a:ext>
            </a:extLst>
          </p:cNvPr>
          <p:cNvSpPr/>
          <p:nvPr/>
        </p:nvSpPr>
        <p:spPr>
          <a:xfrm rot="5400000">
            <a:off x="5706559" y="1604162"/>
            <a:ext cx="267353" cy="1555916"/>
          </a:xfrm>
          <a:prstGeom prst="leftBrac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00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5" grpId="0"/>
      <p:bldP spid="23" grpId="0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8D2B4-27DE-5276-0B9B-B8720DC8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E6E6C-DBF9-B6E0-5161-AB5708DAA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Encoding, step 3: the integer fragment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DE82A55-7B60-BBFC-3B8A-39AB6A58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12568A-E0AD-8AEB-4E27-04CD4732C578}"/>
                  </a:ext>
                </a:extLst>
              </p:cNvPr>
              <p:cNvSpPr txBox="1"/>
              <p:nvPr/>
            </p:nvSpPr>
            <p:spPr>
              <a:xfrm>
                <a:off x="3168522" y="2335107"/>
                <a:ext cx="7852152" cy="2225232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&gt;0∧−8≤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&lt;8∧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b="0" i="1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2200" dirty="0"/>
              </a:p>
              <a:p>
                <a:pPr algn="l">
                  <a:lnSpc>
                    <a:spcPct val="100000"/>
                  </a:lnSpc>
                </a:pPr>
                <a:r>
                  <a:rPr lang="en-US" sz="2200" dirty="0"/>
                  <a:t>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200" i="0" dirty="0"/>
                      <m:t>	</m:t>
                    </m:r>
                    <m:sSup>
                      <m:sSupPr>
                        <m:ctrlPr>
                          <a:rPr lang="en-US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200" b="0">
                            <a:latin typeface="Cambria Math" panose="02040503050406030204" pitchFamily="18" charset="0"/>
                          </a:rPr>
                          <m:t>I</m:t>
                        </m:r>
                      </m:sup>
                    </m:sSup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2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  <m:r>
                          <a:rPr lang="en-US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uts</m:t>
                            </m:r>
                          </m:e>
                          <m:sub>
                            <m: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sz="2200" b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16</m:t>
                            </m:r>
                          </m:e>
                        </m:d>
                      </m:e>
                    </m:d>
                  </m:oMath>
                </a14:m>
                <a:endParaRPr lang="en-US" sz="2200" dirty="0"/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12568A-E0AD-8AEB-4E27-04CD4732C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2335107"/>
                <a:ext cx="7852152" cy="222523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349702-35E4-CA16-00F2-C889CD7B6148}"/>
                  </a:ext>
                </a:extLst>
              </p:cNvPr>
              <p:cNvSpPr txBox="1"/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349702-35E4-CA16-00F2-C889CD7B6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40E46275-4F65-2F51-1BF8-967F70695D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40E46275-4F65-2F51-1BF8-967F70695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blipFill>
                <a:blip r:embed="rId4"/>
                <a:stretch>
                  <a:fillRect l="-252" t="-12500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470D5B68-AA76-9B7E-A737-4E40B7060D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470D5B68-AA76-9B7E-A737-4E40B7060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blipFill>
                <a:blip r:embed="rId5"/>
                <a:stretch>
                  <a:fillRect l="-237" t="-12329" b="-2191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E9304DB-4C13-D31A-E342-0896522267B6}"/>
              </a:ext>
            </a:extLst>
          </p:cNvPr>
          <p:cNvSpPr txBox="1"/>
          <p:nvPr/>
        </p:nvSpPr>
        <p:spPr>
          <a:xfrm>
            <a:off x="285649" y="2705725"/>
            <a:ext cx="288287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Predicate renaming</a:t>
            </a:r>
          </a:p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Variable renaming</a:t>
            </a:r>
          </a:p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Constraint translations</a:t>
            </a:r>
          </a:p>
          <a:p>
            <a:pPr marL="180000" indent="-270000">
              <a:buFont typeface="+mj-lt"/>
              <a:buAutoNum type="romanLcPeriod"/>
            </a:pPr>
            <a:r>
              <a:rPr lang="en-US" sz="2200" dirty="0">
                <a:latin typeface="Dosis" pitchFamily="2" charset="0"/>
              </a:rPr>
              <a:t>Domain restrictions</a:t>
            </a:r>
            <a:endParaRPr lang="en-IL" sz="2200" dirty="0">
              <a:latin typeface="Dosis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5B7E3B-0B34-B8BE-C5B4-7BE9D54A49A7}"/>
                  </a:ext>
                </a:extLst>
              </p:cNvPr>
              <p:cNvSpPr txBox="1"/>
              <p:nvPr/>
            </p:nvSpPr>
            <p:spPr>
              <a:xfrm>
                <a:off x="5461389" y="1842654"/>
                <a:ext cx="75769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b>
                        <m:sSubPr>
                          <m:ctrlP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en-US" sz="22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D5B7E3B-0B34-B8BE-C5B4-7BE9D54A4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389" y="1842654"/>
                <a:ext cx="757691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Left Brace 24">
            <a:extLst>
              <a:ext uri="{FF2B5EF4-FFF2-40B4-BE49-F238E27FC236}">
                <a16:creationId xmlns:a16="http://schemas.microsoft.com/office/drawing/2014/main" id="{FD7C7553-3AA4-C448-23B3-DCF124CA2156}"/>
              </a:ext>
            </a:extLst>
          </p:cNvPr>
          <p:cNvSpPr/>
          <p:nvPr/>
        </p:nvSpPr>
        <p:spPr>
          <a:xfrm rot="5400000">
            <a:off x="5706559" y="1604162"/>
            <a:ext cx="267353" cy="1555916"/>
          </a:xfrm>
          <a:prstGeom prst="leftBrac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875EBB1-A0FF-90EC-9AF4-44CD4554D7E1}"/>
              </a:ext>
            </a:extLst>
          </p:cNvPr>
          <p:cNvSpPr txBox="1">
            <a:spLocks/>
          </p:cNvSpPr>
          <p:nvPr/>
        </p:nvSpPr>
        <p:spPr>
          <a:xfrm>
            <a:off x="838200" y="5991893"/>
            <a:ext cx="10168112" cy="439954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b="1" dirty="0">
                <a:solidFill>
                  <a:schemeClr val="accent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Optimization</a:t>
            </a:r>
            <a:r>
              <a:rPr lang="en-US" sz="2200" dirty="0">
                <a:solidFill>
                  <a:prstClr val="black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200" b="1" dirty="0">
                <a:solidFill>
                  <a:schemeClr val="accent6"/>
                </a:solidFill>
              </a:rPr>
              <a:t>eliminate modulo and </a:t>
            </a:r>
            <a:r>
              <a:rPr lang="en-US" sz="2200" b="1" dirty="0" err="1">
                <a:solidFill>
                  <a:schemeClr val="accent6"/>
                </a:solidFill>
              </a:rPr>
              <a:t>uts</a:t>
            </a:r>
            <a:r>
              <a:rPr lang="en-US" sz="2200" b="1" dirty="0">
                <a:solidFill>
                  <a:schemeClr val="accent6"/>
                </a:solidFill>
              </a:rPr>
              <a:t> operations where overflow is impossible</a:t>
            </a:r>
            <a:endParaRPr lang="en-IL" sz="2200" b="1" dirty="0">
              <a:solidFill>
                <a:schemeClr val="accent6"/>
              </a:solidFill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960CEF-359E-279B-AF83-76C9F5FF438C}"/>
              </a:ext>
            </a:extLst>
          </p:cNvPr>
          <p:cNvCxnSpPr>
            <a:cxnSpLocks/>
          </p:cNvCxnSpPr>
          <p:nvPr/>
        </p:nvCxnSpPr>
        <p:spPr>
          <a:xfrm>
            <a:off x="5160854" y="3700687"/>
            <a:ext cx="67938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3DD808-390F-CF60-5049-C19334678783}"/>
              </a:ext>
            </a:extLst>
          </p:cNvPr>
          <p:cNvCxnSpPr>
            <a:cxnSpLocks/>
          </p:cNvCxnSpPr>
          <p:nvPr/>
        </p:nvCxnSpPr>
        <p:spPr>
          <a:xfrm>
            <a:off x="6653735" y="3700687"/>
            <a:ext cx="121202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99BA29-7E66-22C8-3B95-4C52C61E7B8D}"/>
              </a:ext>
            </a:extLst>
          </p:cNvPr>
          <p:cNvCxnSpPr/>
          <p:nvPr/>
        </p:nvCxnSpPr>
        <p:spPr>
          <a:xfrm>
            <a:off x="7912831" y="3700687"/>
            <a:ext cx="751628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9E271D-827F-3950-8A94-9A9FAE5B8516}"/>
              </a:ext>
            </a:extLst>
          </p:cNvPr>
          <p:cNvCxnSpPr>
            <a:cxnSpLocks/>
          </p:cNvCxnSpPr>
          <p:nvPr/>
        </p:nvCxnSpPr>
        <p:spPr>
          <a:xfrm>
            <a:off x="9458374" y="3700687"/>
            <a:ext cx="1212020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467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845B5-DC76-CDA1-F487-852A4723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EFC5-6909-BE5E-EB6C-2571E7CE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Encoding, step 4: interface constraints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E31DA74-B46B-7195-DFBA-0B4E4F683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C9B2A4-E52D-9138-EC82-61CA6135BFE3}"/>
                  </a:ext>
                </a:extLst>
              </p:cNvPr>
              <p:cNvSpPr txBox="1"/>
              <p:nvPr/>
            </p:nvSpPr>
            <p:spPr>
              <a:xfrm>
                <a:off x="3168522" y="2335107"/>
                <a:ext cx="7646293" cy="184911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&gt;0∧−8≤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&lt;8∧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b="0" i="1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2200" i="0" dirty="0"/>
                        <m:t>	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C9B2A4-E52D-9138-EC82-61CA6135B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2335107"/>
                <a:ext cx="7646293" cy="184911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A260F1-6D50-697C-A034-D008F3FA0A77}"/>
                  </a:ext>
                </a:extLst>
              </p:cNvPr>
              <p:cNvSpPr txBox="1"/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EA260F1-6D50-697C-A034-D008F3FA0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5089043"/>
                <a:ext cx="7137988" cy="6153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497FB78A-6719-C112-B2BB-39CDCC3ABF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FFC000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497FB78A-6719-C112-B2BB-39CDCC3AB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1833587"/>
                <a:ext cx="2419648" cy="439954"/>
              </a:xfrm>
              <a:prstGeom prst="rect">
                <a:avLst/>
              </a:prstGeom>
              <a:blipFill>
                <a:blip r:embed="rId4"/>
                <a:stretch>
                  <a:fillRect l="-252" t="-12500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09664BED-8B53-FB56-F3E0-EC49BC67BD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09664BED-8B53-FB56-F3E0-EC49BC67B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4604714"/>
                <a:ext cx="2576399" cy="439954"/>
              </a:xfrm>
              <a:prstGeom prst="rect">
                <a:avLst/>
              </a:prstGeom>
              <a:blipFill>
                <a:blip r:embed="rId5"/>
                <a:stretch>
                  <a:fillRect l="-237" t="-12329" b="-2191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35A2D7-12CC-AFEA-368A-C895087D0B5D}"/>
                  </a:ext>
                </a:extLst>
              </p:cNvPr>
              <p:cNvSpPr txBox="1"/>
              <p:nvPr/>
            </p:nvSpPr>
            <p:spPr>
              <a:xfrm>
                <a:off x="3168522" y="5923056"/>
                <a:ext cx="2131165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⇝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35A2D7-12CC-AFEA-368A-C895087D0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8522" y="5923056"/>
                <a:ext cx="2131165" cy="436979"/>
              </a:xfrm>
              <a:prstGeom prst="rect">
                <a:avLst/>
              </a:prstGeom>
              <a:blipFill>
                <a:blip r:embed="rId6"/>
                <a:stretch>
                  <a:fillRect l="-287" b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3FD041E-8E60-6DEA-DFA6-20DD6CFA4D24}"/>
              </a:ext>
            </a:extLst>
          </p:cNvPr>
          <p:cNvCxnSpPr>
            <a:cxnSpLocks/>
            <a:stCxn id="18" idx="4"/>
            <a:endCxn id="17" idx="0"/>
          </p:cNvCxnSpPr>
          <p:nvPr/>
        </p:nvCxnSpPr>
        <p:spPr>
          <a:xfrm rot="5400000">
            <a:off x="5273583" y="2817930"/>
            <a:ext cx="1166799" cy="3627572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5400000" scaled="1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F8A78AA0-1F9C-764F-042A-799B0E6640BC}"/>
              </a:ext>
            </a:extLst>
          </p:cNvPr>
          <p:cNvSpPr/>
          <p:nvPr/>
        </p:nvSpPr>
        <p:spPr>
          <a:xfrm>
            <a:off x="3853848" y="5215116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30D53A8-00B4-0BB2-0061-8AA0B4EB887B}"/>
              </a:ext>
            </a:extLst>
          </p:cNvPr>
          <p:cNvSpPr/>
          <p:nvPr/>
        </p:nvSpPr>
        <p:spPr>
          <a:xfrm>
            <a:off x="7481420" y="3653196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14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9A320-5E5D-DF36-A5C7-59B720184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B579D-0BDC-65B9-4EBB-6A49CE36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Dosis" pitchFamily="2" charset="0"/>
              </a:rPr>
              <a:t>Semantics: derivations across fragments</a:t>
            </a:r>
            <a:endParaRPr lang="en-IL" dirty="0">
              <a:solidFill>
                <a:schemeClr val="accent1"/>
              </a:solidFill>
              <a:latin typeface="Dosis" pitchFamily="2" charset="0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D2BA197-AD30-3D39-6DC4-0298A861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2354" y="6360035"/>
            <a:ext cx="2743200" cy="365125"/>
          </a:xfr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9598512-AA03-4E60-A115-A4A9F8177A4D}" type="slidenum"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005888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5888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BEA519-9DEA-7191-C237-440606185155}"/>
                  </a:ext>
                </a:extLst>
              </p:cNvPr>
              <p:cNvSpPr txBox="1"/>
              <p:nvPr/>
            </p:nvSpPr>
            <p:spPr>
              <a:xfrm>
                <a:off x="415792" y="1722313"/>
                <a:ext cx="7646293" cy="1849111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lnSpc>
                    <a:spcPct val="120000"/>
                  </a:lnSpc>
                  <a:defRPr sz="1400" b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&gt;0∧−8≤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&lt;8∧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=0∧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b="0" i="1" dirty="0"/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&lt;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2200" i="0" dirty="0"/>
                        <m:t>	</m:t>
                      </m:r>
                      <m:sSup>
                        <m:sSup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∧¬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20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20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20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BEA519-9DEA-7191-C237-440606185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1722313"/>
                <a:ext cx="7646293" cy="184911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270417-88F7-492A-D000-358C1A8B47C6}"/>
                  </a:ext>
                </a:extLst>
              </p:cNvPr>
              <p:cNvSpPr txBox="1"/>
              <p:nvPr/>
            </p:nvSpPr>
            <p:spPr>
              <a:xfrm>
                <a:off x="415792" y="4476249"/>
                <a:ext cx="7137988" cy="615333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>
                  <a:lnSpc>
                    <a:spcPct val="150000"/>
                  </a:lnSpc>
                  <a:defRPr sz="2200" b="0" i="1">
                    <a:solidFill>
                      <a:schemeClr val="tx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begChr m:val="⟨"/>
                          <m:endChr m:val="⟩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0000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D270417-88F7-492A-D000-358C1A8B4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4476249"/>
                <a:ext cx="7137988" cy="61533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9E158008-0823-B6E2-DBCB-DB3105684A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792" y="1220793"/>
                <a:ext cx="2419648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𝜫</m:t>
                        </m:r>
                      </m:e>
                      <m:sub>
                        <m:r>
                          <a:rPr lang="en-US" sz="2200" b="1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𝑰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accent2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dirty="0">
                  <a:solidFill>
                    <a:schemeClr val="accent2"/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itle 1">
                <a:extLst>
                  <a:ext uri="{FF2B5EF4-FFF2-40B4-BE49-F238E27FC236}">
                    <a16:creationId xmlns:a16="http://schemas.microsoft.com/office/drawing/2014/main" id="{9E158008-0823-B6E2-DBCB-DB3105684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1220793"/>
                <a:ext cx="2419648" cy="439954"/>
              </a:xfrm>
              <a:prstGeom prst="rect">
                <a:avLst/>
              </a:prstGeom>
              <a:blipFill>
                <a:blip r:embed="rId4"/>
                <a:stretch>
                  <a:fillRect l="-252" t="-12500" b="-23611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148FD5D9-BD37-E396-7AFD-016B537329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5792" y="3991920"/>
                <a:ext cx="2576399" cy="439954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200" b="1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𝚷</m:t>
                        </m:r>
                      </m:e>
                      <m:sub>
                        <m:r>
                          <a:rPr lang="en-US" sz="2200" b="1" i="0" smtClean="0">
                            <a:solidFill>
                              <a:srgbClr val="B307A7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𝐁</m:t>
                        </m:r>
                      </m:sub>
                    </m:sSub>
                  </m:oMath>
                </a14:m>
                <a:r>
                  <a:rPr lang="en-US" sz="2200" b="1" dirty="0">
                    <a:solidFill>
                      <a:srgbClr val="B307A7"/>
                    </a:solidFill>
                    <a:latin typeface="Dosis" pitchFamily="2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IL" sz="2200" b="1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Dosis" pitchFamily="2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7" name="Title 1">
                <a:extLst>
                  <a:ext uri="{FF2B5EF4-FFF2-40B4-BE49-F238E27FC236}">
                    <a16:creationId xmlns:a16="http://schemas.microsoft.com/office/drawing/2014/main" id="{148FD5D9-BD37-E396-7AFD-016B53732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3991920"/>
                <a:ext cx="2576399" cy="439954"/>
              </a:xfrm>
              <a:prstGeom prst="rect">
                <a:avLst/>
              </a:prstGeom>
              <a:blipFill>
                <a:blip r:embed="rId5"/>
                <a:stretch>
                  <a:fillRect l="-236" t="-12500" b="-22222"/>
                </a:stretch>
              </a:blipFill>
              <a:effectLst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435AFE-C85D-CEA8-F153-B78C82E0BAC0}"/>
                  </a:ext>
                </a:extLst>
              </p:cNvPr>
              <p:cNvSpPr txBox="1"/>
              <p:nvPr/>
            </p:nvSpPr>
            <p:spPr>
              <a:xfrm>
                <a:off x="415792" y="5310262"/>
                <a:ext cx="2131165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p>
                          </m:sSup>
                          <m: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⇝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B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435AFE-C85D-CEA8-F153-B78C82E0B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92" y="5310262"/>
                <a:ext cx="2131165" cy="436979"/>
              </a:xfrm>
              <a:prstGeom prst="rect">
                <a:avLst/>
              </a:prstGeom>
              <a:blipFill>
                <a:blip r:embed="rId6"/>
                <a:stretch>
                  <a:fillRect l="-286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8461D77-6942-47FC-0783-54EB3B8D8DFF}"/>
              </a:ext>
            </a:extLst>
          </p:cNvPr>
          <p:cNvCxnSpPr>
            <a:cxnSpLocks/>
            <a:stCxn id="21" idx="4"/>
            <a:endCxn id="20" idx="0"/>
          </p:cNvCxnSpPr>
          <p:nvPr/>
        </p:nvCxnSpPr>
        <p:spPr>
          <a:xfrm rot="5400000">
            <a:off x="2520853" y="2205136"/>
            <a:ext cx="1166799" cy="3627572"/>
          </a:xfrm>
          <a:prstGeom prst="curvedConnector3">
            <a:avLst>
              <a:gd name="adj1" fmla="val 50000"/>
            </a:avLst>
          </a:prstGeom>
          <a:noFill/>
          <a:ln w="38100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5400000" scaled="1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F98CFC54-6B11-F3DC-E328-C7247B9E586A}"/>
              </a:ext>
            </a:extLst>
          </p:cNvPr>
          <p:cNvSpPr/>
          <p:nvPr/>
        </p:nvSpPr>
        <p:spPr>
          <a:xfrm>
            <a:off x="1101118" y="4602322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0B68274-15BE-E653-0479-0B7B18FD3628}"/>
              </a:ext>
            </a:extLst>
          </p:cNvPr>
          <p:cNvSpPr/>
          <p:nvPr/>
        </p:nvSpPr>
        <p:spPr>
          <a:xfrm>
            <a:off x="4728690" y="3040402"/>
            <a:ext cx="378696" cy="39512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>
              <a:solidFill>
                <a:schemeClr val="dk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E2705E-C0DD-381A-06C5-F150A7B9DC96}"/>
              </a:ext>
            </a:extLst>
          </p:cNvPr>
          <p:cNvSpPr txBox="1"/>
          <p:nvPr/>
        </p:nvSpPr>
        <p:spPr>
          <a:xfrm>
            <a:off x="9082474" y="4242093"/>
            <a:ext cx="18203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Dosis" pitchFamily="2" charset="0"/>
              </a:rPr>
              <a:t>Derivation</a:t>
            </a:r>
            <a:endParaRPr lang="en-US" sz="2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6A5286D-87D4-A784-7072-978803E97DB8}"/>
                  </a:ext>
                </a:extLst>
              </p:cNvPr>
              <p:cNvSpPr txBox="1"/>
              <p:nvPr/>
            </p:nvSpPr>
            <p:spPr>
              <a:xfrm>
                <a:off x="9103628" y="1385171"/>
                <a:ext cx="1778000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1,0,0</m:t>
                          </m:r>
                        </m:e>
                      </m:d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6A5286D-87D4-A784-7072-978803E97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628" y="1385171"/>
                <a:ext cx="1778000" cy="436979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598714-16A5-3A1C-98E2-80E7D5BFAFA5}"/>
                  </a:ext>
                </a:extLst>
              </p:cNvPr>
              <p:cNvSpPr txBox="1"/>
              <p:nvPr/>
            </p:nvSpPr>
            <p:spPr>
              <a:xfrm>
                <a:off x="9104000" y="2143479"/>
                <a:ext cx="1778000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1,1,−1</m:t>
                          </m:r>
                        </m:e>
                      </m:d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598714-16A5-3A1C-98E2-80E7D5BFA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4000" y="2143479"/>
                <a:ext cx="1778000" cy="436979"/>
              </a:xfrm>
              <a:prstGeom prst="rect">
                <a:avLst/>
              </a:prstGeom>
              <a:blipFill>
                <a:blip r:embed="rId8"/>
                <a:stretch>
                  <a:fillRect b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6CECED-097D-BEE5-649C-6869FC780681}"/>
                  </a:ext>
                </a:extLst>
              </p:cNvPr>
              <p:cNvSpPr txBox="1"/>
              <p:nvPr/>
            </p:nvSpPr>
            <p:spPr>
              <a:xfrm>
                <a:off x="9103628" y="2901788"/>
                <a:ext cx="1778000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p>
                      </m:sSup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1,−1</m:t>
                          </m:r>
                        </m:e>
                      </m:d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6CECED-097D-BEE5-649C-6869FC780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628" y="2901788"/>
                <a:ext cx="1778000" cy="436979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77A592E-E609-4AC9-338E-01B825EA2777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9992628" y="1822150"/>
            <a:ext cx="372" cy="32132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6000F2E-D3D8-0F6E-0BA2-C511097BEBE6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9992628" y="2580458"/>
            <a:ext cx="372" cy="32133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6D2359C8-B53B-30A8-6761-429BE4D709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1628" y="5696060"/>
            <a:ext cx="602066" cy="60206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2F2854-74D1-26AF-9666-1AEF997D3AE1}"/>
                  </a:ext>
                </a:extLst>
              </p:cNvPr>
              <p:cNvSpPr txBox="1"/>
              <p:nvPr/>
            </p:nvSpPr>
            <p:spPr>
              <a:xfrm>
                <a:off x="7787406" y="5215846"/>
                <a:ext cx="4410435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0001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⊕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r>
                        <a:rPr lang="en-US" sz="2200" i="1">
                          <a:latin typeface="Cambria Math" panose="02040503050406030204" pitchFamily="18" charset="0"/>
                        </a:rPr>
                        <m:t>1111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=1110</m:t>
                      </m:r>
                      <m:sSubSup>
                        <m:sSubSupPr>
                          <m:ctrlPr>
                            <a:rPr lang="en-US" sz="22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&lt;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0000</m:t>
                      </m:r>
                    </m:oMath>
                  </m:oMathPara>
                </a14:m>
                <a:endParaRPr lang="en-IL" sz="2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2F2854-74D1-26AF-9666-1AEF997D3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406" y="5215846"/>
                <a:ext cx="4410435" cy="436979"/>
              </a:xfrm>
              <a:prstGeom prst="rect">
                <a:avLst/>
              </a:prstGeom>
              <a:blipFill>
                <a:blip r:embed="rId11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C0109D48-F15C-2845-984A-D5C048EA2EAE}"/>
              </a:ext>
            </a:extLst>
          </p:cNvPr>
          <p:cNvSpPr txBox="1"/>
          <p:nvPr/>
        </p:nvSpPr>
        <p:spPr>
          <a:xfrm>
            <a:off x="9082473" y="5797843"/>
            <a:ext cx="18203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Dosis" pitchFamily="2" charset="0"/>
              </a:rPr>
              <a:t>Query Check</a:t>
            </a:r>
            <a:endParaRPr lang="en-US" sz="2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BDACCA0-D5BD-00CD-1E8A-0E1FE73D17D8}"/>
                  </a:ext>
                </a:extLst>
              </p:cNvPr>
              <p:cNvSpPr txBox="1"/>
              <p:nvPr/>
            </p:nvSpPr>
            <p:spPr>
              <a:xfrm>
                <a:off x="8621773" y="3699229"/>
                <a:ext cx="2741707" cy="436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  <m:d>
                        <m:dPr>
                          <m:ctrlP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0001,1111</m:t>
                          </m:r>
                        </m:e>
                      </m:d>
                    </m:oMath>
                  </m:oMathPara>
                </a14:m>
                <a:endParaRPr lang="en-IL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BDACCA0-D5BD-00CD-1E8A-0E1FE73D1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1773" y="3699229"/>
                <a:ext cx="2741707" cy="436979"/>
              </a:xfrm>
              <a:prstGeom prst="rect">
                <a:avLst/>
              </a:prstGeom>
              <a:blipFill>
                <a:blip r:embed="rId1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DF138D-2CDA-DF8B-E3D3-8507C965A4CF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 flipH="1">
            <a:off x="9992627" y="3338767"/>
            <a:ext cx="1" cy="360462"/>
          </a:xfrm>
          <a:prstGeom prst="straightConnector1">
            <a:avLst/>
          </a:prstGeom>
          <a:noFill/>
          <a:ln w="28575" cap="flat" cmpd="sng" algn="ctr">
            <a:gradFill flip="none" rotWithShape="1">
              <a:gsLst>
                <a:gs pos="69000">
                  <a:schemeClr val="tx2">
                    <a:lumMod val="50000"/>
                    <a:lumOff val="50000"/>
                  </a:schemeClr>
                </a:gs>
                <a:gs pos="27000">
                  <a:schemeClr val="accent2">
                    <a:lumMod val="60000"/>
                    <a:lumOff val="40000"/>
                  </a:schemeClr>
                </a:gs>
                <a:gs pos="0">
                  <a:schemeClr val="accent2">
                    <a:lumMod val="60000"/>
                    <a:lumOff val="40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5400000" scaled="1"/>
              <a:tileRect/>
            </a:gradFill>
            <a:prstDash val="sysDot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224EDBC1-F03A-9FCA-9110-A42F6FBCDA02}"/>
              </a:ext>
            </a:extLst>
          </p:cNvPr>
          <p:cNvSpPr txBox="1">
            <a:spLocks/>
          </p:cNvSpPr>
          <p:nvPr/>
        </p:nvSpPr>
        <p:spPr>
          <a:xfrm>
            <a:off x="9856604" y="1764324"/>
            <a:ext cx="1010655" cy="436979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</a:t>
            </a:r>
            <a:endParaRPr lang="en-IL" sz="2000" dirty="0">
              <a:solidFill>
                <a:schemeClr val="tx1">
                  <a:lumMod val="50000"/>
                  <a:lumOff val="50000"/>
                </a:schemeClr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708CB61F-2F48-FEBC-DA67-C80A5945A819}"/>
              </a:ext>
            </a:extLst>
          </p:cNvPr>
          <p:cNvSpPr txBox="1">
            <a:spLocks/>
          </p:cNvSpPr>
          <p:nvPr/>
        </p:nvSpPr>
        <p:spPr>
          <a:xfrm>
            <a:off x="9978254" y="3223117"/>
            <a:ext cx="1094194" cy="53921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external</a:t>
            </a:r>
            <a:endParaRPr lang="en-IL" sz="2000" dirty="0">
              <a:solidFill>
                <a:schemeClr val="tx1">
                  <a:lumMod val="50000"/>
                  <a:lumOff val="50000"/>
                </a:schemeClr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0D1117D4-C7B5-358C-C4DB-1EAEFBB56B96}"/>
              </a:ext>
            </a:extLst>
          </p:cNvPr>
          <p:cNvSpPr txBox="1">
            <a:spLocks/>
          </p:cNvSpPr>
          <p:nvPr/>
        </p:nvSpPr>
        <p:spPr>
          <a:xfrm>
            <a:off x="9856603" y="2522634"/>
            <a:ext cx="1010655" cy="436979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</a:t>
            </a:r>
            <a:endParaRPr lang="en-IL" sz="2000" dirty="0">
              <a:solidFill>
                <a:schemeClr val="tx1">
                  <a:lumMod val="50000"/>
                  <a:lumOff val="50000"/>
                </a:schemeClr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A177564-30B4-F907-7BCB-24BE945CD695}"/>
              </a:ext>
            </a:extLst>
          </p:cNvPr>
          <p:cNvCxnSpPr>
            <a:cxnSpLocks/>
          </p:cNvCxnSpPr>
          <p:nvPr/>
        </p:nvCxnSpPr>
        <p:spPr>
          <a:xfrm>
            <a:off x="9992627" y="1063842"/>
            <a:ext cx="372" cy="32132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itle 1">
            <a:extLst>
              <a:ext uri="{FF2B5EF4-FFF2-40B4-BE49-F238E27FC236}">
                <a16:creationId xmlns:a16="http://schemas.microsoft.com/office/drawing/2014/main" id="{468B13C4-7D03-BE7E-B21F-8AF4D96E6DE6}"/>
              </a:ext>
            </a:extLst>
          </p:cNvPr>
          <p:cNvSpPr txBox="1">
            <a:spLocks/>
          </p:cNvSpPr>
          <p:nvPr/>
        </p:nvSpPr>
        <p:spPr>
          <a:xfrm>
            <a:off x="9856603" y="1006016"/>
            <a:ext cx="1010655" cy="436979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Dosis" pitchFamily="2" charset="0"/>
                <a:ea typeface="Calibri" panose="020F0502020204030204" pitchFamily="34" charset="0"/>
                <a:cs typeface="Calibri" panose="020F0502020204030204" pitchFamily="34" charset="0"/>
              </a:rPr>
              <a:t>local</a:t>
            </a:r>
            <a:endParaRPr lang="en-IL" sz="2000" dirty="0">
              <a:solidFill>
                <a:schemeClr val="tx1">
                  <a:lumMod val="50000"/>
                  <a:lumOff val="50000"/>
                </a:schemeClr>
              </a:solidFill>
              <a:latin typeface="Dosis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033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30" grpId="0"/>
      <p:bldP spid="31" grpId="0"/>
      <p:bldP spid="32" grpId="0"/>
      <p:bldP spid="35" grpId="0"/>
      <p:bldP spid="36" grpId="0"/>
      <p:bldP spid="37" grpId="0"/>
      <p:bldP spid="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F0B9-45E7-86D6-FD64-D915EB91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lecture 2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B5236-DCB9-AA46-6917-2A20048AA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4F73C-631E-8BFA-C19B-F5DA8163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55C46-B3B3-224E-8B19-B7676C4F0E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85042"/>
      </p:ext>
    </p:extLst>
  </p:cSld>
  <p:clrMapOvr>
    <a:masterClrMapping/>
  </p:clrMapOvr>
</p:sld>
</file>

<file path=ppt/theme/theme1.xml><?xml version="1.0" encoding="utf-8"?>
<a:theme xmlns:a="http://schemas.openxmlformats.org/drawingml/2006/main" name="BookThemeNew">
  <a:themeElements>
    <a:clrScheme name="Custom 2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FFFF00"/>
      </a:accent2>
      <a:accent3>
        <a:srgbClr val="FF0000"/>
      </a:accent3>
      <a:accent4>
        <a:srgbClr val="008E00"/>
      </a:accent4>
      <a:accent5>
        <a:srgbClr val="45A5ED"/>
      </a:accent5>
      <a:accent6>
        <a:srgbClr val="0000FF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okThemeNew" id="{C82F7818-D64C-6D4A-9055-59B64CE3D983}" vid="{5E01472F-F872-6849-BC4F-4BD1C77CB7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BookThemeNew</Template>
  <TotalTime>18337</TotalTime>
  <Words>1481</Words>
  <Application>Microsoft Office PowerPoint</Application>
  <PresentationFormat>Widescreen</PresentationFormat>
  <Paragraphs>344</Paragraphs>
  <Slides>26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Dosis</vt:lpstr>
      <vt:lpstr>BookThemeNew</vt:lpstr>
      <vt:lpstr>PowerPoint Presentation</vt:lpstr>
      <vt:lpstr>PowerPoint Presentation</vt:lpstr>
      <vt:lpstr>Program verification via CHCs</vt:lpstr>
      <vt:lpstr>Constrained Horn Clauses (CHCs)</vt:lpstr>
      <vt:lpstr>Background theories</vt:lpstr>
      <vt:lpstr>Bit-precise verification</vt:lpstr>
      <vt:lpstr>Bit-precise verification</vt:lpstr>
      <vt:lpstr>Option 1: encode modulo T_B</vt:lpstr>
      <vt:lpstr>Option 2: encode modulo T_I</vt:lpstr>
      <vt:lpstr>Option 2: encode modulo T_I</vt:lpstr>
      <vt:lpstr>Key idea: don't commit to one theory</vt:lpstr>
      <vt:lpstr>The Mosaic framework</vt:lpstr>
      <vt:lpstr>Relating values across theories</vt:lpstr>
      <vt:lpstr>What makes a translation correct</vt:lpstr>
      <vt:lpstr>τ_(B⇝I): bit-vectors to integers</vt:lpstr>
      <vt:lpstr>τ_(I⇝B): integers to bit-vectors</vt:lpstr>
      <vt:lpstr>τ_(I⇝B): integers to bit-vectors</vt:lpstr>
      <vt:lpstr>The Mosaic framework</vt:lpstr>
      <vt:lpstr>Encoding, step 1: partition</vt:lpstr>
      <vt:lpstr>Encoding, step 1: partition</vt:lpstr>
      <vt:lpstr>Encoding, step 2: the bit-vector fragment</vt:lpstr>
      <vt:lpstr>Encoding, step 3: the integer fragment</vt:lpstr>
      <vt:lpstr>Encoding, step 3: the integer fragment</vt:lpstr>
      <vt:lpstr>Encoding, step 4: interface constraints</vt:lpstr>
      <vt:lpstr>Semantics: derivations across fragments</vt:lpstr>
      <vt:lpstr>End of lecture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Logic</dc:title>
  <dc:creator>Orna Grumberg</dc:creator>
  <cp:lastModifiedBy>Orna Grumberg</cp:lastModifiedBy>
  <cp:revision>1419</cp:revision>
  <dcterms:created xsi:type="dcterms:W3CDTF">2020-06-21T13:53:03Z</dcterms:created>
  <dcterms:modified xsi:type="dcterms:W3CDTF">2026-08-13T19:53:57Z</dcterms:modified>
</cp:coreProperties>
</file>