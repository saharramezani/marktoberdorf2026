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1"/>
  </p:sldMasterIdLst>
  <p:notesMasterIdLst>
    <p:notesMasterId r:id="rId36"/>
  </p:notesMasterIdLst>
  <p:sldIdLst>
    <p:sldId id="343" r:id="rId2"/>
    <p:sldId id="929" r:id="rId3"/>
    <p:sldId id="950" r:id="rId4"/>
    <p:sldId id="951" r:id="rId5"/>
    <p:sldId id="952" r:id="rId6"/>
    <p:sldId id="953" r:id="rId7"/>
    <p:sldId id="954" r:id="rId8"/>
    <p:sldId id="955" r:id="rId9"/>
    <p:sldId id="956" r:id="rId10"/>
    <p:sldId id="957" r:id="rId11"/>
    <p:sldId id="958" r:id="rId12"/>
    <p:sldId id="959" r:id="rId13"/>
    <p:sldId id="960" r:id="rId14"/>
    <p:sldId id="961" r:id="rId15"/>
    <p:sldId id="962" r:id="rId16"/>
    <p:sldId id="963" r:id="rId17"/>
    <p:sldId id="395" r:id="rId18"/>
    <p:sldId id="964" r:id="rId19"/>
    <p:sldId id="965" r:id="rId20"/>
    <p:sldId id="966" r:id="rId21"/>
    <p:sldId id="967" r:id="rId22"/>
    <p:sldId id="968" r:id="rId23"/>
    <p:sldId id="995" r:id="rId24"/>
    <p:sldId id="800" r:id="rId25"/>
    <p:sldId id="866" r:id="rId26"/>
    <p:sldId id="794" r:id="rId27"/>
    <p:sldId id="795" r:id="rId28"/>
    <p:sldId id="771" r:id="rId29"/>
    <p:sldId id="770" r:id="rId30"/>
    <p:sldId id="778" r:id="rId31"/>
    <p:sldId id="780" r:id="rId32"/>
    <p:sldId id="781" r:id="rId33"/>
    <p:sldId id="779" r:id="rId34"/>
    <p:sldId id="99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886573-EFDC-481F-B176-F478E7A76EFD}">
          <p14:sldIdLst>
            <p14:sldId id="343"/>
          </p14:sldIdLst>
        </p14:section>
        <p14:section name="Background" id="{7BF767B5-C47A-4478-8DC5-30118CC5B817}">
          <p14:sldIdLst>
            <p14:sldId id="92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  <p14:sldId id="962"/>
            <p14:sldId id="963"/>
            <p14:sldId id="395"/>
            <p14:sldId id="964"/>
            <p14:sldId id="965"/>
            <p14:sldId id="966"/>
            <p14:sldId id="967"/>
            <p14:sldId id="968"/>
            <p14:sldId id="995"/>
          </p14:sldIdLst>
        </p14:section>
        <p14:section name="Backups" id="{C5B6A420-4D0F-4AE5-93A5-F082A5DE342C}">
          <p14:sldIdLst>
            <p14:sldId id="800"/>
            <p14:sldId id="866"/>
            <p14:sldId id="794"/>
            <p14:sldId id="795"/>
            <p14:sldId id="771"/>
            <p14:sldId id="770"/>
            <p14:sldId id="778"/>
            <p14:sldId id="780"/>
            <p14:sldId id="781"/>
            <p14:sldId id="779"/>
            <p14:sldId id="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07A7"/>
    <a:srgbClr val="0000FF"/>
    <a:srgbClr val="EAB200"/>
    <a:srgbClr val="D3501B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10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393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25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02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1T18:46:45.254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32,'382'0,"-370"0,1-1,18-5,-19 3,1 1,18-1,-11 2,41-7,-54 7,26-3,1 2,56 3,-24 1,-50-2,32 7,-32-4,31 2,856-6,-890 0,-1 0,19-4,-18 2,0 1,17-1,-18 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22BF3-8149-44B9-9744-C614AF96F935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672A8-944D-454C-B36A-F4D10AF28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  <a:latin typeface="Dosi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1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9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3862-2186-327B-79D5-FFB8D301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26967-8977-69DF-8542-854BE2BC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73B82-825B-52BC-0EE8-B14FADF27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60AF6-CD12-6D58-67F5-EB262DBC4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9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F70A-A564-E050-7795-54CA0795D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0BD24-A08A-5BFF-06F6-1AAE18FD7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ACCED-9EC4-DAB9-2E2D-E055751DE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F3976-C4B7-1215-1184-BF19C702F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98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F064-EE53-26D7-DACD-C0266AB3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CAE6F-11C3-7C17-E3E7-E83467F78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BE705-6DA2-257C-DB88-7D91773F1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C33C3-1104-E513-BBC6-9CF999C82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1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Perhaps mention the motivation after the example on the next slide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F03CC-86BC-4ABC-A83D-2B246C22E0EB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5571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E4655-7E5F-4ECE-A46A-262F7BE4E961}" type="slidenum">
              <a:rPr lang="he-IL" smtClean="0">
                <a:solidFill>
                  <a:prstClr val="black"/>
                </a:solidFill>
              </a:rPr>
              <a:pPr/>
              <a:t>27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75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F03CC-86BC-4ABC-A83D-2B246C22E0EB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737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F03CC-86BC-4ABC-A83D-2B246C22E0EB}" type="slidenum">
              <a:rPr lang="en-IL" smtClean="0"/>
              <a:t>29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3903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If there were several holes it would have to fail on *all* paths to the assertion.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E4655-7E5F-4ECE-A46A-262F7BE4E961}" type="slidenum">
              <a:rPr lang="he-IL" smtClean="0">
                <a:solidFill>
                  <a:prstClr val="black"/>
                </a:solidFill>
              </a:rPr>
              <a:pPr/>
              <a:t>30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964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E4655-7E5F-4ECE-A46A-262F7BE4E961}" type="slidenum">
              <a:rPr lang="he-IL" smtClean="0">
                <a:solidFill>
                  <a:prstClr val="black"/>
                </a:solidFill>
              </a:rPr>
              <a:pPr/>
              <a:t>32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02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F03CC-86BC-4ABC-A83D-2B246C22E0EB}" type="slidenum">
              <a:rPr lang="en-IL" smtClean="0"/>
              <a:t>33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022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4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GB" dirty="0"/>
              <a:t>Click to edit Subsection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EE5C-2C7B-C443-918D-BD4E0D70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/>
              <a:t>Chapter 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5136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4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2AD8-B8CA-9649-8CF1-1B184F5F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C325-CE1F-0948-BD6F-C86336678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8F37F-6DDF-7347-BFE7-8C96CBAB5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1F288-355C-124B-9A9D-731CB853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A1E6-003D-F042-9995-612D70A1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34635-6191-634F-BC79-803827D18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B411-B241-8B4D-8296-9EABF10D2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90EC6-F0D6-C149-B2E9-4D4092FA2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31D69-486C-B94B-9E64-773D9A1EB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B8901-F3BC-D443-90F9-213AA1E1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9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A247-9709-9449-899C-52091553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B38A8-2811-7D4A-9C67-C5063C13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8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96654-735D-E340-A169-6C2C723A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5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2576-0DAE-AD46-85F1-FCF8D73E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2E9D-848A-004B-8B9C-460388BB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29AF2-1356-B848-A4A2-FD955B20A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8058F-FF27-0147-AADD-0CC162E3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FC22-EBEF-4040-BAE8-F896AC29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8CAF8-5D2E-7845-83F6-BCF24274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1D4A-0A2F-B849-8921-07BD41191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B3800-E015-2640-AF3D-93D08D0D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te for the Lecturer">
    <p:bg>
      <p:bgPr>
        <a:solidFill>
          <a:srgbClr val="FFFF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Note for the Lecturer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41868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95F8C-516E-D84E-9AA4-655AE85D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7DA8A-7C69-7346-A2C6-C58069E40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D813-4D44-1C4A-AE6A-0D2173F5F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6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6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15.png"/><Relationship Id="rId4" Type="http://schemas.openxmlformats.org/officeDocument/2006/relationships/image" Target="../media/image59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15.png"/><Relationship Id="rId4" Type="http://schemas.openxmlformats.org/officeDocument/2006/relationships/image" Target="../media/image59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5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15.pn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2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4.png"/><Relationship Id="rId4" Type="http://schemas.openxmlformats.org/officeDocument/2006/relationships/image" Target="../media/image71.pn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2.png"/><Relationship Id="rId5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11" Type="http://schemas.openxmlformats.org/officeDocument/2006/relationships/image" Target="../media/image93.png"/><Relationship Id="rId5" Type="http://schemas.openxmlformats.org/officeDocument/2006/relationships/image" Target="../media/image82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8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97.png"/><Relationship Id="rId10" Type="http://schemas.openxmlformats.org/officeDocument/2006/relationships/image" Target="../media/image89.png"/><Relationship Id="rId4" Type="http://schemas.openxmlformats.org/officeDocument/2006/relationships/image" Target="../media/image96.png"/><Relationship Id="rId9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95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97.png"/><Relationship Id="rId10" Type="http://schemas.openxmlformats.org/officeDocument/2006/relationships/image" Target="../media/image89.png"/><Relationship Id="rId4" Type="http://schemas.openxmlformats.org/officeDocument/2006/relationships/image" Target="../media/image96.png"/><Relationship Id="rId9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11" Type="http://schemas.openxmlformats.org/officeDocument/2006/relationships/image" Target="../media/image107.png"/><Relationship Id="rId5" Type="http://schemas.openxmlformats.org/officeDocument/2006/relationships/image" Target="../media/image94.png"/><Relationship Id="rId15" Type="http://schemas.openxmlformats.org/officeDocument/2006/relationships/image" Target="../media/image5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579B-689D-531B-23A2-8ADEBA05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858;p16">
            <a:extLst>
              <a:ext uri="{FF2B5EF4-FFF2-40B4-BE49-F238E27FC236}">
                <a16:creationId xmlns:a16="http://schemas.microsoft.com/office/drawing/2014/main" id="{8F74E3E5-7B9E-731C-915C-0BF37C1EEBCE}"/>
              </a:ext>
            </a:extLst>
          </p:cNvPr>
          <p:cNvSpPr txBox="1">
            <a:spLocks/>
          </p:cNvSpPr>
          <p:nvPr/>
        </p:nvSpPr>
        <p:spPr>
          <a:xfrm>
            <a:off x="914399" y="1518407"/>
            <a:ext cx="7970293" cy="240244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solidFill>
                  <a:srgbClr val="156082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Constrained Horn Clauses and their Applications</a:t>
            </a:r>
            <a:endParaRPr kumimoji="0" lang="en-GB" sz="4400" b="0" i="0" u="none" strike="noStrike" kern="1200" cap="none" spc="0" normalizeH="0" baseline="0" noProof="0" dirty="0">
              <a:solidFill>
                <a:srgbClr val="AA8F6A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</p:txBody>
      </p:sp>
      <p:sp>
        <p:nvSpPr>
          <p:cNvPr id="5" name="Google Shape;3859;p16">
            <a:extLst>
              <a:ext uri="{FF2B5EF4-FFF2-40B4-BE49-F238E27FC236}">
                <a16:creationId xmlns:a16="http://schemas.microsoft.com/office/drawing/2014/main" id="{F4D872B1-E14F-7B92-AF36-0C2330A4351F}"/>
              </a:ext>
            </a:extLst>
          </p:cNvPr>
          <p:cNvSpPr txBox="1">
            <a:spLocks/>
          </p:cNvSpPr>
          <p:nvPr/>
        </p:nvSpPr>
        <p:spPr>
          <a:xfrm>
            <a:off x="914400" y="4228559"/>
            <a:ext cx="7218727" cy="104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Lecture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972A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Orna Grumberg, </a:t>
            </a:r>
            <a:r>
              <a:rPr lang="en-US" sz="3200" dirty="0">
                <a:solidFill>
                  <a:srgbClr val="0972A0"/>
                </a:solidFill>
                <a:latin typeface="Dosis" pitchFamily="2" charset="0"/>
              </a:rPr>
              <a:t>Technion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972A0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30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579B-689D-531B-23A2-8ADEBA05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858;p16">
            <a:extLst>
              <a:ext uri="{FF2B5EF4-FFF2-40B4-BE49-F238E27FC236}">
                <a16:creationId xmlns:a16="http://schemas.microsoft.com/office/drawing/2014/main" id="{8F74E3E5-7B9E-731C-915C-0BF37C1EEBCE}"/>
              </a:ext>
            </a:extLst>
          </p:cNvPr>
          <p:cNvSpPr txBox="1">
            <a:spLocks/>
          </p:cNvSpPr>
          <p:nvPr/>
        </p:nvSpPr>
        <p:spPr>
          <a:xfrm>
            <a:off x="566444" y="1293403"/>
            <a:ext cx="7970293" cy="176172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solidFill>
                  <a:srgbClr val="156082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Bit-Precise CHC Satisfiability Using Theory-Modular Reasoning</a:t>
            </a:r>
            <a:endParaRPr kumimoji="0" lang="en-GB" b="0" i="0" u="none" strike="noStrike" kern="1200" cap="none" spc="0" normalizeH="0" baseline="0" noProof="0" dirty="0">
              <a:solidFill>
                <a:srgbClr val="AA8F6A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</p:txBody>
      </p:sp>
      <p:sp>
        <p:nvSpPr>
          <p:cNvPr id="5" name="Google Shape;3859;p16">
            <a:extLst>
              <a:ext uri="{FF2B5EF4-FFF2-40B4-BE49-F238E27FC236}">
                <a16:creationId xmlns:a16="http://schemas.microsoft.com/office/drawing/2014/main" id="{F4D872B1-E14F-7B92-AF36-0C2330A4351F}"/>
              </a:ext>
            </a:extLst>
          </p:cNvPr>
          <p:cNvSpPr txBox="1">
            <a:spLocks/>
          </p:cNvSpPr>
          <p:nvPr/>
        </p:nvSpPr>
        <p:spPr>
          <a:xfrm>
            <a:off x="566444" y="2862892"/>
            <a:ext cx="8170623" cy="337586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solidFill>
                  <a:srgbClr val="AA8F6A"/>
                </a:solidFill>
                <a:latin typeface="Dosis" pitchFamily="2" charset="0"/>
                <a:ea typeface="+mj-ea"/>
                <a:cs typeface="+mj-cs"/>
              </a:rPr>
              <a:t>Omer Rappoport, Orna Grumberg, Yakir Vizel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200" dirty="0">
              <a:solidFill>
                <a:srgbClr val="0972A0"/>
              </a:solidFill>
              <a:latin typeface="Dosi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200" dirty="0">
              <a:solidFill>
                <a:srgbClr val="0972A0"/>
              </a:solidFill>
              <a:latin typeface="Dosi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solidFill>
                  <a:srgbClr val="0972A0"/>
                </a:solidFill>
                <a:latin typeface="Dosis" pitchFamily="2" charset="0"/>
              </a:rPr>
              <a:t>ATVA 2026</a:t>
            </a:r>
          </a:p>
        </p:txBody>
      </p:sp>
    </p:spTree>
    <p:extLst>
      <p:ext uri="{BB962C8B-B14F-4D97-AF65-F5344CB8AC3E}">
        <p14:creationId xmlns:p14="http://schemas.microsoft.com/office/powerpoint/2010/main" val="254438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C33B-5B16-9489-16A5-2967EB0F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D89B-AE62-9C04-9DC5-C8DD5DAC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The Mosaic framework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56CF020-F1FF-4753-37E5-D876CC7C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7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8163-6449-C005-E26A-41BDB806B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3236"/>
            <a:ext cx="889340" cy="889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591951-CE92-E3DB-381A-CD3665E49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1951567"/>
            <a:ext cx="1306677" cy="1138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EC15C-E268-CE81-1679-066418AD4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3942928"/>
            <a:ext cx="1306677" cy="13066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9DD307-7A98-4C6E-EECA-90DDF9EAB2C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80758" y="2741676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234DA5-6365-A2F1-2F8D-39C453ACB1A3}"/>
              </a:ext>
            </a:extLst>
          </p:cNvPr>
          <p:cNvSpPr txBox="1"/>
          <p:nvPr/>
        </p:nvSpPr>
        <p:spPr>
          <a:xfrm>
            <a:off x="666179" y="30829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Program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C8B2C-E7A1-E00E-1400-E679C340FFC1}"/>
              </a:ext>
            </a:extLst>
          </p:cNvPr>
          <p:cNvSpPr txBox="1"/>
          <p:nvPr/>
        </p:nvSpPr>
        <p:spPr>
          <a:xfrm>
            <a:off x="422703" y="52496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Specification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329D08-84A4-FB92-60CC-75EC4A96EDD5}"/>
              </a:ext>
            </a:extLst>
          </p:cNvPr>
          <p:cNvCxnSpPr>
            <a:cxnSpLocks/>
          </p:cNvCxnSpPr>
          <p:nvPr/>
        </p:nvCxnSpPr>
        <p:spPr>
          <a:xfrm flipV="1">
            <a:off x="1937555" y="25188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74D52B-AF61-5DB0-940E-8A1A778D6D4A}"/>
              </a:ext>
            </a:extLst>
          </p:cNvPr>
          <p:cNvCxnSpPr>
            <a:cxnSpLocks/>
          </p:cNvCxnSpPr>
          <p:nvPr/>
        </p:nvCxnSpPr>
        <p:spPr>
          <a:xfrm>
            <a:off x="2180758" y="2506663"/>
            <a:ext cx="0" cy="46513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59CFAE-EDC0-5B9E-5478-ED65B06A304C}"/>
              </a:ext>
            </a:extLst>
          </p:cNvPr>
          <p:cNvCxnSpPr>
            <a:cxnSpLocks/>
          </p:cNvCxnSpPr>
          <p:nvPr/>
        </p:nvCxnSpPr>
        <p:spPr>
          <a:xfrm>
            <a:off x="2180758" y="2933164"/>
            <a:ext cx="0" cy="1812926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4416EB-A35D-90F1-038E-7D72C05283F1}"/>
              </a:ext>
            </a:extLst>
          </p:cNvPr>
          <p:cNvCxnSpPr>
            <a:cxnSpLocks/>
          </p:cNvCxnSpPr>
          <p:nvPr/>
        </p:nvCxnSpPr>
        <p:spPr>
          <a:xfrm>
            <a:off x="1937555" y="47323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B4B712-9E97-8579-B129-E1D5417CFCD5}"/>
              </a:ext>
            </a:extLst>
          </p:cNvPr>
          <p:cNvSpPr/>
          <p:nvPr/>
        </p:nvSpPr>
        <p:spPr>
          <a:xfrm>
            <a:off x="2588046" y="2326165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Dosis" pitchFamily="2" charset="0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69D1415-8878-48C9-21E1-299388E021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Π</m:t>
                      </m:r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 of CHCs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ADD82EA2-A350-3AA2-775D-3F575BEF0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blipFill>
                <a:blip r:embed="rId5"/>
                <a:stretch>
                  <a:fillRect b="-8962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883E43-55E9-006F-92D9-747CC2F93CA1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759339" y="3527425"/>
            <a:ext cx="0" cy="9601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8C04EB-DDB7-34AF-230D-C49ABB49673D}"/>
              </a:ext>
            </a:extLst>
          </p:cNvPr>
          <p:cNvSpPr/>
          <p:nvPr/>
        </p:nvSpPr>
        <p:spPr>
          <a:xfrm>
            <a:off x="2596718" y="4487605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Encoder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906313-93D4-CC66-EC49-63423748AB28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204784" y="2742748"/>
            <a:ext cx="398615" cy="181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261A95-99AC-D4DA-E978-9C8DAEB74350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4921959" y="4902914"/>
            <a:ext cx="428632" cy="308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E7B693E0-D481-9176-02E8-7B2742FA5A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0" smtClean="0">
                                  <a:solidFill>
                                    <a:srgbClr val="EAB2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EAB2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EAB2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Theory-modular encoding</a:t>
                </a:r>
                <a:endParaRPr lang="en-US" sz="2800" dirty="0"/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E7B693E0-D481-9176-02E8-7B2742FA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blipFill>
                <a:blip r:embed="rId6"/>
                <a:stretch>
                  <a:fillRect b="-9479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F44EBE41-B3C3-1798-2A75-F5BD0CD39568}"/>
              </a:ext>
            </a:extLst>
          </p:cNvPr>
          <p:cNvSpPr txBox="1">
            <a:spLocks/>
          </p:cNvSpPr>
          <p:nvPr/>
        </p:nvSpPr>
        <p:spPr>
          <a:xfrm>
            <a:off x="7389805" y="3590303"/>
            <a:ext cx="1396126" cy="6467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dirty="0">
                <a:solidFill>
                  <a:prstClr val="black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interface constraints</a:t>
            </a:r>
            <a:endParaRPr lang="en-IL" sz="2200" dirty="0">
              <a:solidFill>
                <a:prstClr val="black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DA9E3E-741D-D1EC-7545-631114AE2CE4}"/>
              </a:ext>
            </a:extLst>
          </p:cNvPr>
          <p:cNvCxnSpPr>
            <a:cxnSpLocks/>
          </p:cNvCxnSpPr>
          <p:nvPr/>
        </p:nvCxnSpPr>
        <p:spPr>
          <a:xfrm>
            <a:off x="5828097" y="4182177"/>
            <a:ext cx="216135" cy="20694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21741A2-9C43-053F-2821-0B5A95536098}"/>
              </a:ext>
            </a:extLst>
          </p:cNvPr>
          <p:cNvSpPr txBox="1"/>
          <p:nvPr/>
        </p:nvSpPr>
        <p:spPr>
          <a:xfrm>
            <a:off x="4743575" y="3599745"/>
            <a:ext cx="1233111" cy="63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rgbClr val="B307A7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bit-vector</a:t>
            </a:r>
          </a:p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rgbClr val="B307A7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fragment</a:t>
            </a:r>
            <a:endParaRPr lang="en-IL" sz="2200" dirty="0">
              <a:solidFill>
                <a:srgbClr val="B307A7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144647-13D3-3253-BF3B-6CA53C0E9B83}"/>
                  </a:ext>
                </a:extLst>
              </p:cNvPr>
              <p:cNvSpPr txBox="1"/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200" dirty="0">
                    <a:solidFill>
                      <a:srgbClr val="EAB2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EAB200"/>
                          </a:solidFill>
                          <a:latin typeface="Dosis" pitchFamily="2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fragment</m:t>
                      </m:r>
                    </m:oMath>
                  </m:oMathPara>
                </a14:m>
                <a:endParaRPr lang="en-IL" sz="2200" dirty="0">
                  <a:solidFill>
                    <a:srgbClr val="EAB2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144647-13D3-3253-BF3B-6CA53C0E9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blipFill>
                <a:blip r:embed="rId7"/>
                <a:stretch>
                  <a:fillRect l="-3571" t="-17308" r="-3571" b="-144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D5E6A4-A676-4347-EE51-E36EFA5A8217}"/>
              </a:ext>
            </a:extLst>
          </p:cNvPr>
          <p:cNvCxnSpPr>
            <a:cxnSpLocks/>
          </p:cNvCxnSpPr>
          <p:nvPr/>
        </p:nvCxnSpPr>
        <p:spPr>
          <a:xfrm flipH="1">
            <a:off x="7180446" y="4182177"/>
            <a:ext cx="413748" cy="1828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B1B84C-E1A5-F2DE-7C7A-2C12CC9C8428}"/>
              </a:ext>
            </a:extLst>
          </p:cNvPr>
          <p:cNvCxnSpPr>
            <a:cxnSpLocks/>
          </p:cNvCxnSpPr>
          <p:nvPr/>
        </p:nvCxnSpPr>
        <p:spPr>
          <a:xfrm>
            <a:off x="6615170" y="4172850"/>
            <a:ext cx="2198" cy="22108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9C3A31-0E46-526F-1149-14F10F16CEA2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658125" y="3379530"/>
            <a:ext cx="1960" cy="17914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3B82D1-2FE9-6B36-6F39-D781AB66228D}"/>
              </a:ext>
            </a:extLst>
          </p:cNvPr>
          <p:cNvCxnSpPr>
            <a:cxnSpLocks/>
          </p:cNvCxnSpPr>
          <p:nvPr/>
        </p:nvCxnSpPr>
        <p:spPr>
          <a:xfrm flipH="1" flipV="1">
            <a:off x="3751630" y="3541208"/>
            <a:ext cx="1906979" cy="257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F6F64B-8DB8-58D2-0ED5-9464C0002088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7852722" y="4902914"/>
            <a:ext cx="3855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9D623B-DE1A-02CA-3377-FDBFBB1E06B8}"/>
              </a:ext>
            </a:extLst>
          </p:cNvPr>
          <p:cNvSpPr/>
          <p:nvPr/>
        </p:nvSpPr>
        <p:spPr>
          <a:xfrm>
            <a:off x="8238272" y="4484517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CHC solver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98AF250-604D-E1A1-B4D3-6276C9FA1B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532973" y="3169111"/>
            <a:ext cx="1409350" cy="13066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1DA8191-0BE4-0E1A-FE27-BAF4E01B1E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532973" y="1004343"/>
            <a:ext cx="1280583" cy="130667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0ED027D-9E65-53ED-B211-5EA9EF56DB4D}"/>
              </a:ext>
            </a:extLst>
          </p:cNvPr>
          <p:cNvSpPr txBox="1"/>
          <p:nvPr/>
        </p:nvSpPr>
        <p:spPr>
          <a:xfrm>
            <a:off x="10813168" y="2310194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Safe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62BBD8-18AF-D95F-BD59-76380D9CE7ED}"/>
              </a:ext>
            </a:extLst>
          </p:cNvPr>
          <p:cNvSpPr txBox="1"/>
          <p:nvPr/>
        </p:nvSpPr>
        <p:spPr>
          <a:xfrm>
            <a:off x="10779818" y="4472027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Buggy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1DA746-042D-6E79-8090-D5641DD5C355}"/>
              </a:ext>
            </a:extLst>
          </p:cNvPr>
          <p:cNvCxnSpPr>
            <a:cxnSpLocks/>
          </p:cNvCxnSpPr>
          <p:nvPr/>
        </p:nvCxnSpPr>
        <p:spPr>
          <a:xfrm>
            <a:off x="9400892" y="2849875"/>
            <a:ext cx="3259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E4EE61-C756-FE34-659E-97C93F96CFBB}"/>
              </a:ext>
            </a:extLst>
          </p:cNvPr>
          <p:cNvCxnSpPr>
            <a:cxnSpLocks/>
          </p:cNvCxnSpPr>
          <p:nvPr/>
        </p:nvCxnSpPr>
        <p:spPr>
          <a:xfrm flipH="1">
            <a:off x="9728192" y="1704975"/>
            <a:ext cx="5505" cy="11584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A2AD5B6-B0F0-3693-5DCF-2556EB9AADE3}"/>
              </a:ext>
            </a:extLst>
          </p:cNvPr>
          <p:cNvCxnSpPr>
            <a:cxnSpLocks/>
          </p:cNvCxnSpPr>
          <p:nvPr/>
        </p:nvCxnSpPr>
        <p:spPr>
          <a:xfrm>
            <a:off x="9726861" y="1716132"/>
            <a:ext cx="667942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6E22C5-6FDC-4772-3E47-BEF0453B085A}"/>
              </a:ext>
            </a:extLst>
          </p:cNvPr>
          <p:cNvCxnSpPr>
            <a:cxnSpLocks/>
          </p:cNvCxnSpPr>
          <p:nvPr/>
        </p:nvCxnSpPr>
        <p:spPr>
          <a:xfrm>
            <a:off x="9720997" y="3965575"/>
            <a:ext cx="673806" cy="278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4C2722-4E6C-A40F-01E0-DCF7516AE754}"/>
              </a:ext>
            </a:extLst>
          </p:cNvPr>
          <p:cNvSpPr txBox="1"/>
          <p:nvPr/>
        </p:nvSpPr>
        <p:spPr>
          <a:xfrm>
            <a:off x="9697803" y="1269691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2EC783-3F30-1B32-40BF-F54FE653986E}"/>
              </a:ext>
            </a:extLst>
          </p:cNvPr>
          <p:cNvSpPr txBox="1"/>
          <p:nvPr/>
        </p:nvSpPr>
        <p:spPr>
          <a:xfrm>
            <a:off x="9548738" y="4006099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UNSAT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E6B8A3-4BA1-6F0B-7336-5C0E6F9AEA44}"/>
              </a:ext>
            </a:extLst>
          </p:cNvPr>
          <p:cNvCxnSpPr>
            <a:cxnSpLocks/>
          </p:cNvCxnSpPr>
          <p:nvPr/>
        </p:nvCxnSpPr>
        <p:spPr>
          <a:xfrm>
            <a:off x="9728449" y="2839650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8FD546-EC9D-D9AF-EEBD-F444DDBBEECF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9400893" y="2836333"/>
            <a:ext cx="9807" cy="164818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15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8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1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4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0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/>
      <p:bldP spid="24" grpId="0"/>
      <p:bldP spid="25" grpId="0"/>
      <p:bldP spid="31" grpId="0" animBg="1"/>
      <p:bldP spid="34" grpId="0"/>
      <p:bldP spid="35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D168A-823E-CE3E-0C6B-839CD4C7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1896-34CB-2D02-557A-3C4099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1: partition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AEB4007-A1D5-3314-C568-C1B9D4E2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65370A-F2F8-E3D3-8CDB-0CE4A1F64F6B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137988" cy="2762284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65370A-F2F8-E3D3-8CDB-0CE4A1F6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137988" cy="276228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CBA599-F5D6-73D7-70CA-666DD0E0CB80}"/>
                  </a:ext>
                </a:extLst>
              </p:cNvPr>
              <p:cNvSpPr txBox="1"/>
              <p:nvPr/>
            </p:nvSpPr>
            <p:spPr>
              <a:xfrm>
                <a:off x="3276410" y="1904220"/>
                <a:ext cx="65392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dirty="0"/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CBA599-F5D6-73D7-70CA-666DD0E0C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410" y="1904220"/>
                <a:ext cx="653926" cy="430887"/>
              </a:xfrm>
              <a:prstGeom prst="rect">
                <a:avLst/>
              </a:prstGeom>
              <a:blipFill>
                <a:blip r:embed="rId3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8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F5EC-E3C2-4DA1-B2D8-B34A618B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B3947D-5AC9-62BF-E9B1-77F7F02CD0C8}"/>
                  </a:ext>
                </a:extLst>
              </p:cNvPr>
              <p:cNvSpPr txBox="1"/>
              <p:nvPr/>
            </p:nvSpPr>
            <p:spPr>
              <a:xfrm>
                <a:off x="3173302" y="2335107"/>
                <a:ext cx="7137988" cy="194007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B3947D-5AC9-62BF-E9B1-77F7F02C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2335107"/>
                <a:ext cx="7137988" cy="19400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FB713E7-57CF-912E-943F-2E6DEADA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1: partition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4D74BA4-177B-6B46-B53A-2C938D9B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2B7348-CF68-0F43-CD94-6892AEFCBF63}"/>
                  </a:ext>
                </a:extLst>
              </p:cNvPr>
              <p:cNvSpPr txBox="1"/>
              <p:nvPr/>
            </p:nvSpPr>
            <p:spPr>
              <a:xfrm>
                <a:off x="317330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2B7348-CF68-0F43-CD94-6892AEFCB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B465B023-737C-4EEB-2B54-762DC1044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330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200" b="1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 fragment</a:t>
                </a:r>
                <a:endParaRPr lang="en-IL" sz="2200" b="1" dirty="0">
                  <a:solidFill>
                    <a:srgbClr val="FFC0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B465B023-737C-4EEB-2B54-762DC1044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t="-12500" r="-3283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2B8D9C7-E4B0-B875-D072-97DB0625DF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330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b="1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bit-vector fragment</a:t>
                </a:r>
                <a:endParaRPr lang="en-IL" sz="2200" b="1" dirty="0">
                  <a:solidFill>
                    <a:srgbClr val="B307A7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2B8D9C7-E4B0-B875-D072-97DB0625D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t="-5479" r="-237" b="-1506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8BE22798-A994-15C3-5F74-3E6293766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991893"/>
                <a:ext cx="10168112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200" b="1" dirty="0">
                    <a:solidFill>
                      <a:schemeClr val="accent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Heuristic</a:t>
                </a:r>
                <a:r>
                  <a:rPr lang="en-US" sz="2200" dirty="0">
                    <a:solidFill>
                      <a:prstClr val="black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: clauses whose function applications are purely arithmetic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 integer fragment</a:t>
                </a:r>
                <a:endParaRPr lang="en-IL" sz="2200" dirty="0">
                  <a:solidFill>
                    <a:prstClr val="black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8BE22798-A994-15C3-5F74-3E6293766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91893"/>
                <a:ext cx="10168112" cy="439954"/>
              </a:xfrm>
              <a:prstGeom prst="rect">
                <a:avLst/>
              </a:prstGeom>
              <a:blipFill>
                <a:blip r:embed="rId6"/>
                <a:stretch>
                  <a:fillRect l="-780" t="-11111" r="-300" b="-2361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08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  <p:bldP spid="3" grpId="0" animBg="1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9F673-B824-D2BE-45C6-9DCF24E5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BB1C-F392-BB4C-37FC-770D3581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2: the bit-vector fragment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F5E35A5B-2855-6DA3-10DD-0B070DED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90CE0-7666-A920-F54A-71DC9EEF7BFA}"/>
              </a:ext>
            </a:extLst>
          </p:cNvPr>
          <p:cNvSpPr txBox="1"/>
          <p:nvPr/>
        </p:nvSpPr>
        <p:spPr>
          <a:xfrm>
            <a:off x="409538" y="5181265"/>
            <a:ext cx="26221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Predicate renaming</a:t>
            </a:r>
            <a:endParaRPr lang="en-IL" sz="2200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C580B-C6E5-1C24-24D1-1768C02B5727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137988" cy="194007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C580B-C6E5-1C24-24D1-1768C02B5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137988" cy="19400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CEA077-43EF-55D9-DDFA-AD47BCC30E4E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CEA077-43EF-55D9-DDFA-AD47BCC30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B44EB042-A066-5C8F-1325-842553ECE1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b="1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integer fragment</a:t>
                </a:r>
                <a:endParaRPr lang="en-IL" sz="2200" b="1" dirty="0">
                  <a:solidFill>
                    <a:srgbClr val="FFC0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B44EB042-A066-5C8F-1325-842553EC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t="-12500" r="-3023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F9A46E9-35C3-F7B1-8340-D4A21521D4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F9A46E9-35C3-F7B1-8340-D4A21521D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15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2ED4-421F-3B89-5770-F76C0E87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F2DF-4729-2364-4B91-7B26FDEB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3: the integer fragment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2811EC0-6D68-4C2D-B51F-D00B13C3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5F3B47-3590-F9CD-6DB3-F832AD73BB8A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/>
                  <a:t>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i="0" dirty="0"/>
                      <m:t>	</m:t>
                    </m:r>
                    <m:sSup>
                      <m:sSup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b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5F3B47-3590-F9CD-6DB3-F832AD73B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7BB8C6-2E29-CBCF-EF4A-11210077F639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7BB8C6-2E29-CBCF-EF4A-11210077F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27D418C3-9554-E6EB-E8D3-26FD1B991B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27D418C3-9554-E6EB-E8D3-26FD1B991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69B54D7-5D65-5DD8-98FC-918AABF58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69B54D7-5D65-5DD8-98FC-918AABF58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24447E4-8B6E-81F7-B0ED-0D72D502C17A}"/>
              </a:ext>
            </a:extLst>
          </p:cNvPr>
          <p:cNvSpPr txBox="1"/>
          <p:nvPr/>
        </p:nvSpPr>
        <p:spPr>
          <a:xfrm>
            <a:off x="285649" y="2705725"/>
            <a:ext cx="28828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Predicate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Variable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Constraint translations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Domain restrictions</a:t>
            </a:r>
            <a:endParaRPr lang="en-IL" sz="2200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3B0CA7-7902-EF11-367E-03A622D8D147}"/>
                  </a:ext>
                </a:extLst>
              </p:cNvPr>
              <p:cNvSpPr txBox="1"/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3B0CA7-7902-EF11-367E-03A622D8D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>
            <a:extLst>
              <a:ext uri="{FF2B5EF4-FFF2-40B4-BE49-F238E27FC236}">
                <a16:creationId xmlns:a16="http://schemas.microsoft.com/office/drawing/2014/main" id="{C758A600-37A4-B12D-0204-EB770038542D}"/>
              </a:ext>
            </a:extLst>
          </p:cNvPr>
          <p:cNvSpPr/>
          <p:nvPr/>
        </p:nvSpPr>
        <p:spPr>
          <a:xfrm rot="5400000">
            <a:off x="5706559" y="1604162"/>
            <a:ext cx="267353" cy="1555916"/>
          </a:xfrm>
          <a:prstGeom prst="leftBrac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0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5" grpId="0"/>
      <p:bldP spid="23" grpId="0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D2B4-27DE-5276-0B9B-B8720DC8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6E6C-DBF9-B6E0-5161-AB5708DAA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3: the integer fragment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DE82A55-7B60-BBFC-3B8A-39AB6A58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12568A-E0AD-8AEB-4E27-04CD4732C578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/>
                  <a:t>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i="0" dirty="0"/>
                      <m:t>	</m:t>
                    </m:r>
                    <m:sSup>
                      <m:sSup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b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12568A-E0AD-8AEB-4E27-04CD4732C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349702-35E4-CA16-00F2-C889CD7B6148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349702-35E4-CA16-00F2-C889CD7B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40E46275-4F65-2F51-1BF8-967F70695D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40E46275-4F65-2F51-1BF8-967F7069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470D5B68-AA76-9B7E-A737-4E40B7060D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470D5B68-AA76-9B7E-A737-4E40B7060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E9304DB-4C13-D31A-E342-0896522267B6}"/>
              </a:ext>
            </a:extLst>
          </p:cNvPr>
          <p:cNvSpPr txBox="1"/>
          <p:nvPr/>
        </p:nvSpPr>
        <p:spPr>
          <a:xfrm>
            <a:off x="285649" y="2705725"/>
            <a:ext cx="28828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Predicate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Variable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Constraint translations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Domain restrictions</a:t>
            </a:r>
            <a:endParaRPr lang="en-IL" sz="2200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5B7E3B-0B34-B8BE-C5B4-7BE9D54A49A7}"/>
                  </a:ext>
                </a:extLst>
              </p:cNvPr>
              <p:cNvSpPr txBox="1"/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5B7E3B-0B34-B8BE-C5B4-7BE9D54A4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>
            <a:extLst>
              <a:ext uri="{FF2B5EF4-FFF2-40B4-BE49-F238E27FC236}">
                <a16:creationId xmlns:a16="http://schemas.microsoft.com/office/drawing/2014/main" id="{FD7C7553-3AA4-C448-23B3-DCF124CA2156}"/>
              </a:ext>
            </a:extLst>
          </p:cNvPr>
          <p:cNvSpPr/>
          <p:nvPr/>
        </p:nvSpPr>
        <p:spPr>
          <a:xfrm rot="5400000">
            <a:off x="5706559" y="1604162"/>
            <a:ext cx="267353" cy="1555916"/>
          </a:xfrm>
          <a:prstGeom prst="leftBrac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875EBB1-A0FF-90EC-9AF4-44CD4554D7E1}"/>
              </a:ext>
            </a:extLst>
          </p:cNvPr>
          <p:cNvSpPr txBox="1">
            <a:spLocks/>
          </p:cNvSpPr>
          <p:nvPr/>
        </p:nvSpPr>
        <p:spPr>
          <a:xfrm>
            <a:off x="838200" y="5991893"/>
            <a:ext cx="10168112" cy="439954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>
                <a:solidFill>
                  <a:schemeClr val="accent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Optimization</a:t>
            </a:r>
            <a:r>
              <a:rPr lang="en-US" sz="2200" dirty="0">
                <a:solidFill>
                  <a:prstClr val="black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200" b="1" dirty="0">
                <a:solidFill>
                  <a:schemeClr val="accent6"/>
                </a:solidFill>
              </a:rPr>
              <a:t>eliminate modulo and </a:t>
            </a:r>
            <a:r>
              <a:rPr lang="en-US" sz="2200" b="1" dirty="0" err="1">
                <a:solidFill>
                  <a:schemeClr val="accent6"/>
                </a:solidFill>
              </a:rPr>
              <a:t>uts</a:t>
            </a:r>
            <a:r>
              <a:rPr lang="en-US" sz="2200" b="1" dirty="0">
                <a:solidFill>
                  <a:schemeClr val="accent6"/>
                </a:solidFill>
              </a:rPr>
              <a:t> operations where overflow is impossible</a:t>
            </a:r>
            <a:endParaRPr lang="en-IL" sz="2200" b="1" dirty="0">
              <a:solidFill>
                <a:schemeClr val="accent6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960CEF-359E-279B-AF83-76C9F5FF438C}"/>
              </a:ext>
            </a:extLst>
          </p:cNvPr>
          <p:cNvCxnSpPr>
            <a:cxnSpLocks/>
          </p:cNvCxnSpPr>
          <p:nvPr/>
        </p:nvCxnSpPr>
        <p:spPr>
          <a:xfrm>
            <a:off x="5160854" y="3700687"/>
            <a:ext cx="67938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3DD808-390F-CF60-5049-C19334678783}"/>
              </a:ext>
            </a:extLst>
          </p:cNvPr>
          <p:cNvCxnSpPr>
            <a:cxnSpLocks/>
          </p:cNvCxnSpPr>
          <p:nvPr/>
        </p:nvCxnSpPr>
        <p:spPr>
          <a:xfrm>
            <a:off x="6653735" y="3700687"/>
            <a:ext cx="121202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9BA29-7E66-22C8-3B95-4C52C61E7B8D}"/>
              </a:ext>
            </a:extLst>
          </p:cNvPr>
          <p:cNvCxnSpPr/>
          <p:nvPr/>
        </p:nvCxnSpPr>
        <p:spPr>
          <a:xfrm>
            <a:off x="7912831" y="3700687"/>
            <a:ext cx="751628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9E271D-827F-3950-8A94-9A9FAE5B8516}"/>
              </a:ext>
            </a:extLst>
          </p:cNvPr>
          <p:cNvCxnSpPr>
            <a:cxnSpLocks/>
          </p:cNvCxnSpPr>
          <p:nvPr/>
        </p:nvCxnSpPr>
        <p:spPr>
          <a:xfrm>
            <a:off x="9458374" y="3700687"/>
            <a:ext cx="121202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67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45B5-DC76-CDA1-F487-852A4723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EFC5-6909-BE5E-EB6C-2571E7CE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4: interface constraints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E31DA74-B46B-7195-DFBA-0B4E4F68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C9B2A4-E52D-9138-EC82-61CA6135BFE3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646293" cy="184911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i="0" dirty="0"/>
                        <m:t>	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C9B2A4-E52D-9138-EC82-61CA6135B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646293" cy="18491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A260F1-6D50-697C-A034-D008F3FA0A77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A260F1-6D50-697C-A034-D008F3FA0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97FB78A-6719-C112-B2BB-39CDCC3ABF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97FB78A-6719-C112-B2BB-39CDCC3AB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9664BED-8B53-FB56-F3E0-EC49BC67BD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9664BED-8B53-FB56-F3E0-EC49BC67B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35A2D7-12CC-AFEA-368A-C895087D0B5D}"/>
                  </a:ext>
                </a:extLst>
              </p:cNvPr>
              <p:cNvSpPr txBox="1"/>
              <p:nvPr/>
            </p:nvSpPr>
            <p:spPr>
              <a:xfrm>
                <a:off x="3168522" y="5923056"/>
                <a:ext cx="213116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⇝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35A2D7-12CC-AFEA-368A-C895087D0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923056"/>
                <a:ext cx="2131165" cy="436979"/>
              </a:xfrm>
              <a:prstGeom prst="rect">
                <a:avLst/>
              </a:prstGeom>
              <a:blipFill>
                <a:blip r:embed="rId6"/>
                <a:stretch>
                  <a:fillRect l="-287"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3FD041E-8E60-6DEA-DFA6-20DD6CFA4D24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 rot="5400000">
            <a:off x="5273583" y="2817930"/>
            <a:ext cx="1166799" cy="3627572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8A78AA0-1F9C-764F-042A-799B0E6640BC}"/>
              </a:ext>
            </a:extLst>
          </p:cNvPr>
          <p:cNvSpPr/>
          <p:nvPr/>
        </p:nvSpPr>
        <p:spPr>
          <a:xfrm>
            <a:off x="3853848" y="5215116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0D53A8-00B4-0BB2-0061-8AA0B4EB887B}"/>
              </a:ext>
            </a:extLst>
          </p:cNvPr>
          <p:cNvSpPr/>
          <p:nvPr/>
        </p:nvSpPr>
        <p:spPr>
          <a:xfrm>
            <a:off x="7481420" y="3653196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4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A320-5E5D-DF36-A5C7-59B72018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579D-0BDC-65B9-4EBB-6A49CE36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Semantics: derivations across fragments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D2BA197-AD30-3D39-6DC4-0298A861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BEA519-9DEA-7191-C237-440606185155}"/>
                  </a:ext>
                </a:extLst>
              </p:cNvPr>
              <p:cNvSpPr txBox="1"/>
              <p:nvPr/>
            </p:nvSpPr>
            <p:spPr>
              <a:xfrm>
                <a:off x="415792" y="1722313"/>
                <a:ext cx="7646293" cy="184911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i="0" dirty="0"/>
                        <m:t>	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BEA519-9DEA-7191-C237-440606185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1722313"/>
                <a:ext cx="7646293" cy="18491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270417-88F7-492A-D000-358C1A8B47C6}"/>
                  </a:ext>
                </a:extLst>
              </p:cNvPr>
              <p:cNvSpPr txBox="1"/>
              <p:nvPr/>
            </p:nvSpPr>
            <p:spPr>
              <a:xfrm>
                <a:off x="415792" y="4476249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270417-88F7-492A-D000-358C1A8B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4476249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E158008-0823-B6E2-DBCB-DB3105684A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792" y="1220793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𝜫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2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E158008-0823-B6E2-DBCB-DB3105684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1220793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3611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148FD5D9-BD37-E396-7AFD-016B537329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792" y="3991920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𝚷</m:t>
                        </m:r>
                      </m:e>
                      <m:sub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𝐁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b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148FD5D9-BD37-E396-7AFD-016B53732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3991920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6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435AFE-C85D-CEA8-F153-B78C82E0BAC0}"/>
                  </a:ext>
                </a:extLst>
              </p:cNvPr>
              <p:cNvSpPr txBox="1"/>
              <p:nvPr/>
            </p:nvSpPr>
            <p:spPr>
              <a:xfrm>
                <a:off x="415792" y="5310262"/>
                <a:ext cx="213116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⇝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435AFE-C85D-CEA8-F153-B78C82E0B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5310262"/>
                <a:ext cx="2131165" cy="436979"/>
              </a:xfrm>
              <a:prstGeom prst="rect">
                <a:avLst/>
              </a:prstGeom>
              <a:blipFill>
                <a:blip r:embed="rId6"/>
                <a:stretch>
                  <a:fillRect l="-2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8461D77-6942-47FC-0783-54EB3B8D8DFF}"/>
              </a:ext>
            </a:extLst>
          </p:cNvPr>
          <p:cNvCxnSpPr>
            <a:cxnSpLocks/>
            <a:stCxn id="21" idx="4"/>
            <a:endCxn id="20" idx="0"/>
          </p:cNvCxnSpPr>
          <p:nvPr/>
        </p:nvCxnSpPr>
        <p:spPr>
          <a:xfrm rot="5400000">
            <a:off x="2520853" y="2205136"/>
            <a:ext cx="1166799" cy="3627572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98CFC54-6B11-F3DC-E328-C7247B9E586A}"/>
              </a:ext>
            </a:extLst>
          </p:cNvPr>
          <p:cNvSpPr/>
          <p:nvPr/>
        </p:nvSpPr>
        <p:spPr>
          <a:xfrm>
            <a:off x="1101118" y="4602322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B68274-15BE-E653-0479-0B7B18FD3628}"/>
              </a:ext>
            </a:extLst>
          </p:cNvPr>
          <p:cNvSpPr/>
          <p:nvPr/>
        </p:nvSpPr>
        <p:spPr>
          <a:xfrm>
            <a:off x="4728690" y="3040402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E2705E-C0DD-381A-06C5-F150A7B9DC96}"/>
              </a:ext>
            </a:extLst>
          </p:cNvPr>
          <p:cNvSpPr txBox="1"/>
          <p:nvPr/>
        </p:nvSpPr>
        <p:spPr>
          <a:xfrm>
            <a:off x="9082474" y="4242093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Dosis" pitchFamily="2" charset="0"/>
              </a:rPr>
              <a:t>Derivation</a:t>
            </a:r>
            <a:endParaRPr lang="en-US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A5286D-87D4-A784-7072-978803E97DB8}"/>
                  </a:ext>
                </a:extLst>
              </p:cNvPr>
              <p:cNvSpPr txBox="1"/>
              <p:nvPr/>
            </p:nvSpPr>
            <p:spPr>
              <a:xfrm>
                <a:off x="9103628" y="1385171"/>
                <a:ext cx="177800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A5286D-87D4-A784-7072-978803E97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28" y="1385171"/>
                <a:ext cx="1778000" cy="436979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598714-16A5-3A1C-98E2-80E7D5BFAFA5}"/>
                  </a:ext>
                </a:extLst>
              </p:cNvPr>
              <p:cNvSpPr txBox="1"/>
              <p:nvPr/>
            </p:nvSpPr>
            <p:spPr>
              <a:xfrm>
                <a:off x="9104000" y="2143479"/>
                <a:ext cx="177800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1,1,−1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598714-16A5-3A1C-98E2-80E7D5BFA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000" y="2143479"/>
                <a:ext cx="1778000" cy="436979"/>
              </a:xfrm>
              <a:prstGeom prst="rect">
                <a:avLst/>
              </a:prstGeom>
              <a:blipFill>
                <a:blip r:embed="rId8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6CECED-097D-BEE5-649C-6869FC780681}"/>
                  </a:ext>
                </a:extLst>
              </p:cNvPr>
              <p:cNvSpPr txBox="1"/>
              <p:nvPr/>
            </p:nvSpPr>
            <p:spPr>
              <a:xfrm>
                <a:off x="9103628" y="2901788"/>
                <a:ext cx="177800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1,−1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6CECED-097D-BEE5-649C-6869FC780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28" y="2901788"/>
                <a:ext cx="1778000" cy="436979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7A592E-E609-4AC9-338E-01B825EA2777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9992628" y="1822150"/>
            <a:ext cx="372" cy="32132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000F2E-D3D8-0F6E-0BA2-C511097BEBE6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9992628" y="2580458"/>
            <a:ext cx="372" cy="32133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6D2359C8-B53B-30A8-6761-429BE4D709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628" y="5696060"/>
            <a:ext cx="602066" cy="6020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2F2854-74D1-26AF-9666-1AEF997D3AE1}"/>
                  </a:ext>
                </a:extLst>
              </p:cNvPr>
              <p:cNvSpPr txBox="1"/>
              <p:nvPr/>
            </p:nvSpPr>
            <p:spPr>
              <a:xfrm>
                <a:off x="7787406" y="5215846"/>
                <a:ext cx="441043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0001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1111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=1110</m:t>
                      </m:r>
                      <m:sSubSup>
                        <m:sSub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en-IL" sz="2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2F2854-74D1-26AF-9666-1AEF997D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06" y="5215846"/>
                <a:ext cx="4410435" cy="436979"/>
              </a:xfrm>
              <a:prstGeom prst="rect">
                <a:avLst/>
              </a:prstGeom>
              <a:blipFill>
                <a:blip r:embed="rId11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0109D48-F15C-2845-984A-D5C048EA2EAE}"/>
              </a:ext>
            </a:extLst>
          </p:cNvPr>
          <p:cNvSpPr txBox="1"/>
          <p:nvPr/>
        </p:nvSpPr>
        <p:spPr>
          <a:xfrm>
            <a:off x="9082473" y="5797843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Dosis" pitchFamily="2" charset="0"/>
              </a:rPr>
              <a:t>Query Check</a:t>
            </a:r>
            <a:endParaRPr lang="en-US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DACCA0-D5BD-00CD-1E8A-0E1FE73D17D8}"/>
                  </a:ext>
                </a:extLst>
              </p:cNvPr>
              <p:cNvSpPr txBox="1"/>
              <p:nvPr/>
            </p:nvSpPr>
            <p:spPr>
              <a:xfrm>
                <a:off x="8621773" y="3699229"/>
                <a:ext cx="2741707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0001,1111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DACCA0-D5BD-00CD-1E8A-0E1FE73D1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773" y="3699229"/>
                <a:ext cx="2741707" cy="436979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DF138D-2CDA-DF8B-E3D3-8507C965A4CF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9992627" y="3338767"/>
            <a:ext cx="1" cy="360462"/>
          </a:xfrm>
          <a:prstGeom prst="straightConnector1">
            <a:avLst/>
          </a:prstGeom>
          <a:noFill/>
          <a:ln w="28575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224EDBC1-F03A-9FCA-9110-A42F6FBCDA02}"/>
              </a:ext>
            </a:extLst>
          </p:cNvPr>
          <p:cNvSpPr txBox="1">
            <a:spLocks/>
          </p:cNvSpPr>
          <p:nvPr/>
        </p:nvSpPr>
        <p:spPr>
          <a:xfrm>
            <a:off x="9856604" y="1764324"/>
            <a:ext cx="1010655" cy="436979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08CB61F-2F48-FEBC-DA67-C80A5945A819}"/>
              </a:ext>
            </a:extLst>
          </p:cNvPr>
          <p:cNvSpPr txBox="1">
            <a:spLocks/>
          </p:cNvSpPr>
          <p:nvPr/>
        </p:nvSpPr>
        <p:spPr>
          <a:xfrm>
            <a:off x="9978254" y="3223117"/>
            <a:ext cx="1094194" cy="53921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external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D1117D4-C7B5-358C-C4DB-1EAEFBB56B96}"/>
              </a:ext>
            </a:extLst>
          </p:cNvPr>
          <p:cNvSpPr txBox="1">
            <a:spLocks/>
          </p:cNvSpPr>
          <p:nvPr/>
        </p:nvSpPr>
        <p:spPr>
          <a:xfrm>
            <a:off x="9856603" y="2522634"/>
            <a:ext cx="1010655" cy="436979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177564-30B4-F907-7BCB-24BE945CD695}"/>
              </a:ext>
            </a:extLst>
          </p:cNvPr>
          <p:cNvCxnSpPr>
            <a:cxnSpLocks/>
          </p:cNvCxnSpPr>
          <p:nvPr/>
        </p:nvCxnSpPr>
        <p:spPr>
          <a:xfrm>
            <a:off x="9992627" y="1063842"/>
            <a:ext cx="372" cy="32132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468B13C4-7D03-BE7E-B21F-8AF4D96E6DE6}"/>
              </a:ext>
            </a:extLst>
          </p:cNvPr>
          <p:cNvSpPr txBox="1">
            <a:spLocks/>
          </p:cNvSpPr>
          <p:nvPr/>
        </p:nvSpPr>
        <p:spPr>
          <a:xfrm>
            <a:off x="9856603" y="1006016"/>
            <a:ext cx="1010655" cy="436979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033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30" grpId="0"/>
      <p:bldP spid="31" grpId="0"/>
      <p:bldP spid="32" grpId="0"/>
      <p:bldP spid="35" grpId="0"/>
      <p:bldP spid="36" grpId="0"/>
      <p:bldP spid="37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7EFB-880E-052C-6ABC-137B24DF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04DF-4716-D22E-45CA-310CC132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Semantics: theory-modular solutions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BC08A98-8308-66D5-0F09-A53A1722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8BD750-4ECC-3D6D-BB96-8E8D2A0D7539}"/>
                  </a:ext>
                </a:extLst>
              </p:cNvPr>
              <p:cNvSpPr txBox="1"/>
              <p:nvPr/>
            </p:nvSpPr>
            <p:spPr>
              <a:xfrm>
                <a:off x="2835440" y="5355934"/>
                <a:ext cx="9005164" cy="1141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3600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chemeClr val="accent1"/>
                    </a:solidFill>
                  </a:rPr>
                  <a:t>Local satisfaction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457200" indent="-3600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chemeClr val="accent1"/>
                    </a:solidFill>
                  </a:rPr>
                  <a:t>Interface constraint satisfaction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e>
                    </m:d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8BD750-4ECC-3D6D-BB96-8E8D2A0D7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440" y="5355934"/>
                <a:ext cx="9005164" cy="1141466"/>
              </a:xfrm>
              <a:prstGeom prst="rect">
                <a:avLst/>
              </a:prstGeom>
              <a:blipFill>
                <a:blip r:embed="rId2"/>
                <a:stretch>
                  <a:fillRect b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9F420B-0ADC-3797-1547-6914768C4958}"/>
                  </a:ext>
                </a:extLst>
              </p:cNvPr>
              <p:cNvSpPr txBox="1"/>
              <p:nvPr/>
            </p:nvSpPr>
            <p:spPr>
              <a:xfrm>
                <a:off x="415792" y="1722313"/>
                <a:ext cx="7646293" cy="184911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i="0" dirty="0"/>
                        <m:t>	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9F420B-0ADC-3797-1547-6914768C4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1722313"/>
                <a:ext cx="7646293" cy="184911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DF0F5DC-D9BD-7CE0-A166-E6530F19196A}"/>
                  </a:ext>
                </a:extLst>
              </p:cNvPr>
              <p:cNvSpPr txBox="1"/>
              <p:nvPr/>
            </p:nvSpPr>
            <p:spPr>
              <a:xfrm>
                <a:off x="415792" y="4476249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DF0F5DC-D9BD-7CE0-A166-E6530F191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4476249"/>
                <a:ext cx="7137988" cy="6153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F6C02BA8-ACE5-7E28-8C02-DD1C934B1C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792" y="1220793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𝜫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F6C02BA8-ACE5-7E28-8C02-DD1C934B1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1220793"/>
                <a:ext cx="2419648" cy="439954"/>
              </a:xfrm>
              <a:prstGeom prst="rect">
                <a:avLst/>
              </a:prstGeom>
              <a:blipFill>
                <a:blip r:embed="rId5"/>
                <a:stretch>
                  <a:fillRect l="-252" t="-12500" b="-23611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CC8EEC7A-99AF-C5B4-5B60-CB540D4EAA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792" y="3991920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𝚷</m:t>
                        </m:r>
                      </m:e>
                      <m:sub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𝐁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b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CC8EEC7A-99AF-C5B4-5B60-CB540D4EA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3991920"/>
                <a:ext cx="2576399" cy="439954"/>
              </a:xfrm>
              <a:prstGeom prst="rect">
                <a:avLst/>
              </a:prstGeom>
              <a:blipFill>
                <a:blip r:embed="rId6"/>
                <a:stretch>
                  <a:fillRect l="-236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0FFEA0-40BA-2BDD-5B59-41880C4CF8AC}"/>
                  </a:ext>
                </a:extLst>
              </p:cNvPr>
              <p:cNvSpPr txBox="1"/>
              <p:nvPr/>
            </p:nvSpPr>
            <p:spPr>
              <a:xfrm>
                <a:off x="415792" y="5310262"/>
                <a:ext cx="213116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⇝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0FFEA0-40BA-2BDD-5B59-41880C4CF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5310262"/>
                <a:ext cx="2131165" cy="436979"/>
              </a:xfrm>
              <a:prstGeom prst="rect">
                <a:avLst/>
              </a:prstGeom>
              <a:blipFill>
                <a:blip r:embed="rId7"/>
                <a:stretch>
                  <a:fillRect l="-2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682AD5E4-65BF-2908-2653-1DB5A53FB32D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 rot="5400000">
            <a:off x="2520853" y="2205136"/>
            <a:ext cx="1166799" cy="3627572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D510594-8F16-AD16-2899-35AFB2AE014C}"/>
              </a:ext>
            </a:extLst>
          </p:cNvPr>
          <p:cNvSpPr/>
          <p:nvPr/>
        </p:nvSpPr>
        <p:spPr>
          <a:xfrm>
            <a:off x="1101118" y="4602322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4985104-0343-FF19-548C-FBEE4FD98B06}"/>
              </a:ext>
            </a:extLst>
          </p:cNvPr>
          <p:cNvSpPr/>
          <p:nvPr/>
        </p:nvSpPr>
        <p:spPr>
          <a:xfrm>
            <a:off x="4728690" y="3040402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142BD9-2CEF-D566-19F7-F0A6BA9B49B0}"/>
              </a:ext>
            </a:extLst>
          </p:cNvPr>
          <p:cNvSpPr txBox="1"/>
          <p:nvPr/>
        </p:nvSpPr>
        <p:spPr>
          <a:xfrm>
            <a:off x="8855388" y="4386876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Dosis" pitchFamily="2" charset="0"/>
              </a:rPr>
              <a:t>Interpretation</a:t>
            </a:r>
            <a:endParaRPr lang="en-US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7F8F09-2E75-0006-5C64-C1A05E8F8DF3}"/>
                  </a:ext>
                </a:extLst>
              </p:cNvPr>
              <p:cNvSpPr txBox="1"/>
              <p:nvPr/>
            </p:nvSpPr>
            <p:spPr>
              <a:xfrm>
                <a:off x="7271319" y="2544133"/>
                <a:ext cx="4644599" cy="16677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≔ 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he-IL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solidFill>
                    <a:srgbClr val="FFC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0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z="2000" i="1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z="2000" i="1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7F8F09-2E75-0006-5C64-C1A05E8F8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319" y="2544133"/>
                <a:ext cx="4644599" cy="16677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3F03D7F-DD93-C12F-AB44-0DD22657EB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675691" y="4309533"/>
            <a:ext cx="573877" cy="5855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2E6786-58CF-2DF7-F520-ACCFA3F3DA09}"/>
              </a:ext>
            </a:extLst>
          </p:cNvPr>
          <p:cNvSpPr txBox="1"/>
          <p:nvPr/>
        </p:nvSpPr>
        <p:spPr>
          <a:xfrm>
            <a:off x="7435481" y="4386876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Dosis" pitchFamily="2" charset="0"/>
              </a:rPr>
              <a:t>Satisfying</a:t>
            </a:r>
            <a:endParaRPr lang="en-US" sz="2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761F95-129F-83F8-3ABE-AED118D14532}"/>
              </a:ext>
            </a:extLst>
          </p:cNvPr>
          <p:cNvCxnSpPr/>
          <p:nvPr/>
        </p:nvCxnSpPr>
        <p:spPr>
          <a:xfrm>
            <a:off x="7269480" y="3677920"/>
            <a:ext cx="46482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51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F7E4-986B-F1E4-B16D-6EDF5DE9A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2BD1-BA8C-FEE3-B568-F833F38C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Correctness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DFB12-F209-F908-30C7-6C47E84878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b="0" dirty="0"/>
                  <a:t> be a set of CHCs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b="0" dirty="0"/>
                  <a:t> and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2200" b="0" dirty="0"/>
                  <a:t> be a theory-modular encoding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b="0" dirty="0"/>
                  <a:t>.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chemeClr val="accent6"/>
                    </a:solidFill>
                  </a:rPr>
                  <a:t>Theorem</a:t>
                </a:r>
                <a:r>
                  <a:rPr lang="en-US" sz="2200" b="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b="0" dirty="0"/>
                  <a:t> is satisfiable </a:t>
                </a:r>
                <a:r>
                  <a:rPr lang="en-US" sz="2200" b="1" dirty="0" err="1"/>
                  <a:t>iff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2200" b="0" dirty="0"/>
                  <a:t> is satisfiable.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Decidability</a:t>
                </a:r>
                <a:r>
                  <a:rPr lang="en-US" sz="2200" dirty="0"/>
                  <a:t>: the decidability of CHC-SAT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b="0" dirty="0"/>
                  <a:t> is not compromised.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DFB12-F209-F908-30C7-6C47E84878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754" t="-15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D6D8CFAB-74EA-2804-CCCC-96FBF444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48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081C-1BC6-1E3D-4BC6-EB25E8BE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B7FA-3649-5112-60AB-F139B51B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The Mosaic framework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FA6A0B15-ED41-7FF7-0CB2-B5373C57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7393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30875-1A99-2CCF-690A-0C45EDADC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3236"/>
            <a:ext cx="889340" cy="889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09219A-D646-3EF9-6172-846D5F3EF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1951567"/>
            <a:ext cx="1306677" cy="1138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94DEEF-5F45-87C3-A2DB-C43AE471A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3942928"/>
            <a:ext cx="1306677" cy="13066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BF20BA-BB5E-5536-6F5E-60BDFB32E91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80758" y="2741676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F89E60-1FF2-7B6B-F3AD-12D7C02E1C18}"/>
              </a:ext>
            </a:extLst>
          </p:cNvPr>
          <p:cNvSpPr txBox="1"/>
          <p:nvPr/>
        </p:nvSpPr>
        <p:spPr>
          <a:xfrm>
            <a:off x="666179" y="30829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Program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B9401-293C-1E09-19CD-F715F7A322BB}"/>
              </a:ext>
            </a:extLst>
          </p:cNvPr>
          <p:cNvSpPr txBox="1"/>
          <p:nvPr/>
        </p:nvSpPr>
        <p:spPr>
          <a:xfrm>
            <a:off x="422703" y="52496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Specification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693D10-5FC4-D6FF-E11A-729F634C426B}"/>
              </a:ext>
            </a:extLst>
          </p:cNvPr>
          <p:cNvCxnSpPr>
            <a:cxnSpLocks/>
          </p:cNvCxnSpPr>
          <p:nvPr/>
        </p:nvCxnSpPr>
        <p:spPr>
          <a:xfrm flipV="1">
            <a:off x="1937555" y="25188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3EAD8A-DA07-D376-7199-38DD12F23C32}"/>
              </a:ext>
            </a:extLst>
          </p:cNvPr>
          <p:cNvCxnSpPr>
            <a:cxnSpLocks/>
          </p:cNvCxnSpPr>
          <p:nvPr/>
        </p:nvCxnSpPr>
        <p:spPr>
          <a:xfrm>
            <a:off x="2180758" y="2506663"/>
            <a:ext cx="0" cy="46513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66E688-E2B3-AA75-EC51-A9B954AD6506}"/>
              </a:ext>
            </a:extLst>
          </p:cNvPr>
          <p:cNvCxnSpPr>
            <a:cxnSpLocks/>
          </p:cNvCxnSpPr>
          <p:nvPr/>
        </p:nvCxnSpPr>
        <p:spPr>
          <a:xfrm>
            <a:off x="2180758" y="2933164"/>
            <a:ext cx="0" cy="1812926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A414C8-C3F4-6984-5869-658AE156B26D}"/>
              </a:ext>
            </a:extLst>
          </p:cNvPr>
          <p:cNvCxnSpPr>
            <a:cxnSpLocks/>
          </p:cNvCxnSpPr>
          <p:nvPr/>
        </p:nvCxnSpPr>
        <p:spPr>
          <a:xfrm>
            <a:off x="1937555" y="47323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52388C-AEB4-680A-2C6D-1215EC664E82}"/>
              </a:ext>
            </a:extLst>
          </p:cNvPr>
          <p:cNvSpPr/>
          <p:nvPr/>
        </p:nvSpPr>
        <p:spPr>
          <a:xfrm>
            <a:off x="2588046" y="2326165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Dosis" pitchFamily="2" charset="0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C7A827D4-EDD5-097D-153E-B0D57194C8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Π</m:t>
                      </m:r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 of CHCs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ADD82EA2-A350-3AA2-775D-3F575BEF0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blipFill>
                <a:blip r:embed="rId5"/>
                <a:stretch>
                  <a:fillRect b="-8962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F27A91-19C6-07D7-7650-2DC5C49E817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759339" y="3527425"/>
            <a:ext cx="0" cy="9601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C4AB35-71A6-817E-E78D-A467FA79C949}"/>
              </a:ext>
            </a:extLst>
          </p:cNvPr>
          <p:cNvSpPr/>
          <p:nvPr/>
        </p:nvSpPr>
        <p:spPr>
          <a:xfrm>
            <a:off x="2596718" y="4487605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Encoder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512518-A156-38E0-4C1B-71463A7B48F6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204784" y="2742748"/>
            <a:ext cx="398615" cy="181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9E74E4-E945-D7D5-27AF-046DC0F2F67E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4921959" y="4902914"/>
            <a:ext cx="428632" cy="308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182A13F5-41FF-E949-F72C-36D7277B72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Theory-modular encoding</a:t>
                </a:r>
                <a:endParaRPr lang="en-US" sz="2800" dirty="0"/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182A13F5-41FF-E949-F72C-36D7277B7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blipFill>
                <a:blip r:embed="rId6"/>
                <a:stretch>
                  <a:fillRect b="-9479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CF236A18-4F03-5650-912C-5AC7B1E9A820}"/>
              </a:ext>
            </a:extLst>
          </p:cNvPr>
          <p:cNvSpPr txBox="1">
            <a:spLocks/>
          </p:cNvSpPr>
          <p:nvPr/>
        </p:nvSpPr>
        <p:spPr>
          <a:xfrm>
            <a:off x="7389805" y="3590303"/>
            <a:ext cx="1396126" cy="6467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dirty="0">
                <a:solidFill>
                  <a:prstClr val="black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interface constraints</a:t>
            </a:r>
            <a:endParaRPr lang="en-IL" sz="2200" dirty="0">
              <a:solidFill>
                <a:prstClr val="black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356A1F-3B8D-4F0C-B813-27D3423DBE87}"/>
              </a:ext>
            </a:extLst>
          </p:cNvPr>
          <p:cNvCxnSpPr>
            <a:cxnSpLocks/>
          </p:cNvCxnSpPr>
          <p:nvPr/>
        </p:nvCxnSpPr>
        <p:spPr>
          <a:xfrm>
            <a:off x="5828097" y="4182177"/>
            <a:ext cx="216135" cy="20694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5EDC05-ADCF-6064-2924-2A7B1A10CB5B}"/>
              </a:ext>
            </a:extLst>
          </p:cNvPr>
          <p:cNvSpPr txBox="1"/>
          <p:nvPr/>
        </p:nvSpPr>
        <p:spPr>
          <a:xfrm>
            <a:off x="4743575" y="3599745"/>
            <a:ext cx="1233111" cy="63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bit-vector</a:t>
            </a:r>
          </a:p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fragment</a:t>
            </a:r>
            <a:endParaRPr lang="en-IL" sz="2200" dirty="0">
              <a:solidFill>
                <a:schemeClr val="tx2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1E27CB-FC9A-03C8-5274-ABAA91ACD2FE}"/>
                  </a:ext>
                </a:extLst>
              </p:cNvPr>
              <p:cNvSpPr txBox="1"/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FFC000"/>
                          </a:solidFill>
                          <a:latin typeface="Dosis" pitchFamily="2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fragment</m:t>
                      </m:r>
                    </m:oMath>
                  </m:oMathPara>
                </a14:m>
                <a:endParaRPr lang="en-IL" sz="2200" dirty="0">
                  <a:solidFill>
                    <a:srgbClr val="FFC0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1E27CB-FC9A-03C8-5274-ABAA91ACD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blipFill>
                <a:blip r:embed="rId7"/>
                <a:stretch>
                  <a:fillRect l="-3571" t="-17308" r="-3571" b="-144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30CDA8-A522-B1A3-9F30-0EE05B22CC90}"/>
              </a:ext>
            </a:extLst>
          </p:cNvPr>
          <p:cNvCxnSpPr>
            <a:cxnSpLocks/>
          </p:cNvCxnSpPr>
          <p:nvPr/>
        </p:nvCxnSpPr>
        <p:spPr>
          <a:xfrm flipH="1">
            <a:off x="7180446" y="4182177"/>
            <a:ext cx="413748" cy="1828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7D65EE-78DD-C1D1-BBF6-2E7B7A1F4797}"/>
              </a:ext>
            </a:extLst>
          </p:cNvPr>
          <p:cNvCxnSpPr>
            <a:cxnSpLocks/>
          </p:cNvCxnSpPr>
          <p:nvPr/>
        </p:nvCxnSpPr>
        <p:spPr>
          <a:xfrm>
            <a:off x="6615170" y="4172850"/>
            <a:ext cx="2198" cy="22108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2C7903-F35E-0956-E87E-EF914CA1749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658125" y="3379530"/>
            <a:ext cx="1960" cy="17914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A353CE-D6BC-4CA8-A6F1-310E2B55815F}"/>
              </a:ext>
            </a:extLst>
          </p:cNvPr>
          <p:cNvCxnSpPr>
            <a:cxnSpLocks/>
          </p:cNvCxnSpPr>
          <p:nvPr/>
        </p:nvCxnSpPr>
        <p:spPr>
          <a:xfrm flipH="1" flipV="1">
            <a:off x="3751630" y="3541208"/>
            <a:ext cx="1906979" cy="257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3986F3-9428-1B23-E521-A729FE061E20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7852722" y="4902914"/>
            <a:ext cx="3855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11C32B-7156-62BF-E8D0-31910D7BB642}"/>
              </a:ext>
            </a:extLst>
          </p:cNvPr>
          <p:cNvSpPr/>
          <p:nvPr/>
        </p:nvSpPr>
        <p:spPr>
          <a:xfrm>
            <a:off x="8238272" y="4484517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CHC solver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7499BEB-63D3-C56E-F99A-1D5AA43ECA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532973" y="3169111"/>
            <a:ext cx="1409350" cy="13066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F9839D8-A079-769E-D70A-4FA2C0AF67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532973" y="1004343"/>
            <a:ext cx="1280583" cy="130667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2F93011-A93F-CAE2-E8F1-C495A797D099}"/>
              </a:ext>
            </a:extLst>
          </p:cNvPr>
          <p:cNvSpPr txBox="1"/>
          <p:nvPr/>
        </p:nvSpPr>
        <p:spPr>
          <a:xfrm>
            <a:off x="10813168" y="2310194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Safe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A48B85-23A1-FE66-1F26-039C11F611EE}"/>
              </a:ext>
            </a:extLst>
          </p:cNvPr>
          <p:cNvSpPr txBox="1"/>
          <p:nvPr/>
        </p:nvSpPr>
        <p:spPr>
          <a:xfrm>
            <a:off x="10779818" y="4472027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Buggy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3E46B7-9F33-5A50-9E85-35144AAD57EE}"/>
              </a:ext>
            </a:extLst>
          </p:cNvPr>
          <p:cNvCxnSpPr>
            <a:cxnSpLocks/>
          </p:cNvCxnSpPr>
          <p:nvPr/>
        </p:nvCxnSpPr>
        <p:spPr>
          <a:xfrm>
            <a:off x="9400892" y="2849875"/>
            <a:ext cx="3259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F140BF-61A5-F403-A9C9-3A8C88D4924B}"/>
              </a:ext>
            </a:extLst>
          </p:cNvPr>
          <p:cNvCxnSpPr>
            <a:cxnSpLocks/>
          </p:cNvCxnSpPr>
          <p:nvPr/>
        </p:nvCxnSpPr>
        <p:spPr>
          <a:xfrm flipH="1">
            <a:off x="9728192" y="1704975"/>
            <a:ext cx="5505" cy="11584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974E27-63C2-DDFD-D06A-7621DA363F7F}"/>
              </a:ext>
            </a:extLst>
          </p:cNvPr>
          <p:cNvCxnSpPr>
            <a:cxnSpLocks/>
          </p:cNvCxnSpPr>
          <p:nvPr/>
        </p:nvCxnSpPr>
        <p:spPr>
          <a:xfrm>
            <a:off x="9726861" y="1716132"/>
            <a:ext cx="667942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953AE6C-15FF-51CB-515A-CB488E13CA11}"/>
              </a:ext>
            </a:extLst>
          </p:cNvPr>
          <p:cNvCxnSpPr>
            <a:cxnSpLocks/>
          </p:cNvCxnSpPr>
          <p:nvPr/>
        </p:nvCxnSpPr>
        <p:spPr>
          <a:xfrm>
            <a:off x="9720997" y="3965575"/>
            <a:ext cx="673806" cy="278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1E7F3EE-4DF6-1633-1BB4-981571BA0AE5}"/>
              </a:ext>
            </a:extLst>
          </p:cNvPr>
          <p:cNvSpPr txBox="1"/>
          <p:nvPr/>
        </p:nvSpPr>
        <p:spPr>
          <a:xfrm>
            <a:off x="9697803" y="1269691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7C1BD4-E62D-0A1D-CAE2-4704B2581E6A}"/>
              </a:ext>
            </a:extLst>
          </p:cNvPr>
          <p:cNvSpPr txBox="1"/>
          <p:nvPr/>
        </p:nvSpPr>
        <p:spPr>
          <a:xfrm>
            <a:off x="9548738" y="4006099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UNSAT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2571BF-6D10-A69C-834D-EE2C233310F0}"/>
              </a:ext>
            </a:extLst>
          </p:cNvPr>
          <p:cNvCxnSpPr>
            <a:cxnSpLocks/>
          </p:cNvCxnSpPr>
          <p:nvPr/>
        </p:nvCxnSpPr>
        <p:spPr>
          <a:xfrm>
            <a:off x="9728449" y="2839650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933C66-1E39-286E-7E7B-12AEE2991BB0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9400893" y="2836333"/>
            <a:ext cx="9807" cy="164818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72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/>
      <p:bldP spid="35" grpId="0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DE9C7-25A0-C94A-9939-BD58DF16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1358-C5E6-AE43-644E-458E5981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Dosis" pitchFamily="2" charset="0"/>
              </a:rPr>
              <a:t>MosaicSolve</a:t>
            </a:r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: state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ED8E6-E3BD-5FF3-6A61-4FB4F9FFF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9737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State</a:t>
                </a:r>
                <a:r>
                  <a:rPr lang="en-US" sz="2200" b="0" dirty="0"/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200" b="0" dirty="0"/>
                  <a:t>: </a:t>
                </a:r>
                <a:r>
                  <a:rPr lang="en-US" sz="2200" b="1" dirty="0">
                    <a:solidFill>
                      <a:srgbClr val="7D6A3B"/>
                    </a:solidFill>
                  </a:rPr>
                  <a:t>proof obligations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2200" b="0" dirty="0"/>
                  <a:t> for a predicate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b="0" dirty="0"/>
                  <a:t>.</a:t>
                </a:r>
                <a:br>
                  <a:rPr lang="en-US" sz="2200" b="0" dirty="0"/>
                </a:br>
                <a:r>
                  <a:rPr lang="en-US" sz="2200" b="0" i="1" dirty="0">
                    <a:solidFill>
                      <a:schemeClr val="accent1"/>
                    </a:solidFill>
                  </a:rPr>
                  <a:t>Is there </a:t>
                </a:r>
                <a:r>
                  <a:rPr lang="en-US" sz="2200" i="1" dirty="0">
                    <a:solidFill>
                      <a:schemeClr val="accent1"/>
                    </a:solidFill>
                  </a:rPr>
                  <a:t>a tuple derivable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i="1" dirty="0">
                    <a:solidFill>
                      <a:schemeClr val="accent1"/>
                    </a:solidFill>
                  </a:rPr>
                  <a:t> satisfying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200" b="0" i="1" dirty="0">
                    <a:solidFill>
                      <a:schemeClr val="accent1"/>
                    </a:solidFill>
                  </a:rPr>
                  <a:t>?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200" b="0" dirty="0"/>
                  <a:t>: </a:t>
                </a:r>
                <a:r>
                  <a:rPr lang="en-US" sz="2200" b="1" dirty="0">
                    <a:solidFill>
                      <a:srgbClr val="7D6A3B"/>
                    </a:solidFill>
                  </a:rPr>
                  <a:t>under-approximation lemmas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2200" dirty="0"/>
                  <a:t> for the external semantics of an interface target predicate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/>
                  <a:t>.</a:t>
                </a:r>
                <a:br>
                  <a:rPr lang="en-US" sz="2200" dirty="0"/>
                </a:br>
                <a:r>
                  <a:rPr lang="en-US" sz="2200" i="1" dirty="0">
                    <a:solidFill>
                      <a:schemeClr val="accent1"/>
                    </a:solidFill>
                  </a:rPr>
                  <a:t>Find real counterexamples.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7D6A3B"/>
                    </a:solidFill>
                  </a:rPr>
                  <a:t>over-approximation lemmas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2200" dirty="0"/>
                  <a:t> of the same.</a:t>
                </a:r>
                <a:br>
                  <a:rPr lang="en-US" sz="2200" dirty="0"/>
                </a:br>
                <a:r>
                  <a:rPr lang="en-US" sz="2200" i="1" dirty="0">
                    <a:solidFill>
                      <a:schemeClr val="accent1"/>
                    </a:solidFill>
                  </a:rPr>
                  <a:t>Block infeasible counterexamples + detect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ED8E6-E3BD-5FF3-6A61-4FB4F9FFF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97373" cy="4351338"/>
              </a:xfrm>
              <a:blipFill>
                <a:blip r:embed="rId3"/>
                <a:stretch>
                  <a:fillRect l="-7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CB86948-6409-FD31-AEE3-558D6F96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8FC65-CE47-ED65-BFF8-3A1DD085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CCBC-0EE9-FA96-6D26-FF0C58F7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Dosis" pitchFamily="2" charset="0"/>
              </a:rPr>
              <a:t>MosaicSolve</a:t>
            </a:r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: moves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5D1-A56E-696E-42C8-35101C383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02" y="4431539"/>
            <a:ext cx="11202597" cy="192849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00FF"/>
                </a:solidFill>
              </a:rPr>
              <a:t>Query</a:t>
            </a:r>
            <a:r>
              <a:rPr lang="en-US" sz="2000" dirty="0"/>
              <a:t>: generates a new obligation when an existing one cannot be resolved.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D0FA90DA-DBE7-6839-6864-B151327D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3B8D4E6-6D68-C88C-E4F0-F243615C08FD}"/>
                  </a:ext>
                </a:extLst>
              </p:cNvPr>
              <p:cNvSpPr/>
              <p:nvPr/>
            </p:nvSpPr>
            <p:spPr>
              <a:xfrm>
                <a:off x="894233" y="1735103"/>
                <a:ext cx="1881463" cy="187188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CHC(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) </a:t>
                </a:r>
                <a:r>
                  <a:rPr lang="en-US" sz="2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Dosis" pitchFamily="2" charset="0"/>
                  </a:rPr>
                  <a:t>oracle</a:t>
                </a:r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3B8D4E6-6D68-C88C-E4F0-F243615C08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3" y="1735103"/>
                <a:ext cx="1881463" cy="18718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DE60D3E-93AB-8AD8-F144-6654815E3963}"/>
                  </a:ext>
                </a:extLst>
              </p:cNvPr>
              <p:cNvSpPr/>
              <p:nvPr/>
            </p:nvSpPr>
            <p:spPr>
              <a:xfrm>
                <a:off x="5461919" y="1724599"/>
                <a:ext cx="1881463" cy="187188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</a:rPr>
                  <a:t>CHC(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</a:rPr>
                  <a:t>) oracle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DE60D3E-93AB-8AD8-F144-6654815E3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919" y="1724599"/>
                <a:ext cx="1881463" cy="187188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8859E69-DF21-21D6-5C0D-6B89D5E594CE}"/>
              </a:ext>
            </a:extLst>
          </p:cNvPr>
          <p:cNvCxnSpPr>
            <a:cxnSpLocks/>
          </p:cNvCxnSpPr>
          <p:nvPr/>
        </p:nvCxnSpPr>
        <p:spPr>
          <a:xfrm>
            <a:off x="2775696" y="2275418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968280D-20AD-94CE-670C-A9DA92121F0D}"/>
              </a:ext>
            </a:extLst>
          </p:cNvPr>
          <p:cNvCxnSpPr>
            <a:cxnSpLocks/>
          </p:cNvCxnSpPr>
          <p:nvPr/>
        </p:nvCxnSpPr>
        <p:spPr>
          <a:xfrm flipH="1">
            <a:off x="2770908" y="3263123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8B6BEF42-5803-2857-AE56-6697766E68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7865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𝜫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8B6BEF42-5803-2857-AE56-6697766E6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5" y="1294710"/>
                <a:ext cx="589569" cy="439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59EB0F2D-3608-5856-5581-69DCC82346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179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𝜫</m:t>
                          </m:r>
                        </m:e>
                        <m:sub>
                          <m:r>
                            <a:rPr lang="en-US" sz="2200" b="1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59EB0F2D-3608-5856-5581-69DCC823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179" y="1294710"/>
                <a:ext cx="589569" cy="4399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D97B7E40-65DB-5C33-95B3-AA335D2DCC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4022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Θ</m:t>
                      </m:r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D97B7E40-65DB-5C33-95B3-AA335D2DC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022" y="1294710"/>
                <a:ext cx="589569" cy="4399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19B1B67-D42E-F611-6379-B0934044E22F}"/>
              </a:ext>
            </a:extLst>
          </p:cNvPr>
          <p:cNvCxnSpPr>
            <a:cxnSpLocks/>
          </p:cNvCxnSpPr>
          <p:nvPr/>
        </p:nvCxnSpPr>
        <p:spPr>
          <a:xfrm>
            <a:off x="2775696" y="2627857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B1E6983B-A9B8-13E4-115C-8760E9FD70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1433" y="3043146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B1E6983B-A9B8-13E4-115C-8760E9FD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33" y="3043146"/>
                <a:ext cx="589569" cy="439954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53D2CB4A-124F-FB4D-31E5-4AF559A043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1400" y="3030688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53D2CB4A-124F-FB4D-31E5-4AF559A04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400" y="3030688"/>
                <a:ext cx="589569" cy="439954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A7D3E7D5-2CC4-CEF2-C193-8486BA7B27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0230" y="3580337"/>
                <a:ext cx="1416775" cy="55603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?</a:t>
                </a:r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A7D3E7D5-2CC4-CEF2-C193-8486BA7B2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230" y="3580337"/>
                <a:ext cx="1416775" cy="556030"/>
              </a:xfrm>
              <a:prstGeom prst="rect">
                <a:avLst/>
              </a:prstGeom>
              <a:blipFill>
                <a:blip r:embed="rId10"/>
                <a:stretch>
                  <a:fillRect b="-65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BFFDDF4C-D2F6-CB2E-1B23-74D9B91599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86906" y="3584827"/>
                <a:ext cx="2020861" cy="55603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⇝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?</a:t>
                </a:r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BFFDDF4C-D2F6-CB2E-1B23-74D9B9159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906" y="3584827"/>
                <a:ext cx="2020861" cy="556030"/>
              </a:xfrm>
              <a:prstGeom prst="rect">
                <a:avLst/>
              </a:prstGeom>
              <a:blipFill>
                <a:blip r:embed="rId11"/>
                <a:stretch>
                  <a:fillRect r="-604" b="-769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D60F9B21-A0D1-DDA5-13FE-994E03A089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1069" y="1402931"/>
                <a:ext cx="3866230" cy="2515221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Obligation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𝑢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SAT</a:t>
                </a: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UNSAT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refutation leaf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Result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⇝</m:t>
                            </m:r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added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𝑄</m:t>
                    </m:r>
                  </m:oMath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D60F9B21-A0D1-DDA5-13FE-994E03A08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069" y="1402931"/>
                <a:ext cx="3866230" cy="2515221"/>
              </a:xfrm>
              <a:prstGeom prst="rect">
                <a:avLst/>
              </a:prstGeom>
              <a:blipFill>
                <a:blip r:embed="rId12"/>
                <a:stretch>
                  <a:fillRect l="-2050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598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EAF2-1715-BCFB-16D4-16B48A34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D3A0-8FB7-7287-CA26-E85EA015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Dosis" pitchFamily="2" charset="0"/>
              </a:rPr>
              <a:t>MosaicSolve</a:t>
            </a:r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: moves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D1690-66D2-379D-C308-BF5E8E4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02" y="4431539"/>
            <a:ext cx="11425952" cy="192849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00FF"/>
                </a:solidFill>
              </a:rPr>
              <a:t>Query</a:t>
            </a:r>
            <a:r>
              <a:rPr lang="en-US" sz="2000" dirty="0"/>
              <a:t>: generates a new obligation when an existing one cannot be resolved.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 err="1">
                <a:solidFill>
                  <a:srgbClr val="0000FF"/>
                </a:solidFill>
              </a:rPr>
              <a:t>NegAnswer</a:t>
            </a:r>
            <a:r>
              <a:rPr lang="en-US" sz="2000" dirty="0"/>
              <a:t>: discharges an obligation if it can be answered negatively using the current over- approximations.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B74087F-E276-DE19-46F3-8DF46909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68636DD-478F-3929-8E8C-49BE6615B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5243" y="891581"/>
                <a:ext cx="4102696" cy="3485252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Obligation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SAT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a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2200" dirty="0"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Result</a:t>
                </a:r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removed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𝑄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⇝</m:t>
                            </m:r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sub>
                    </m:sSub>
                  </m:oMath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68636DD-478F-3929-8E8C-49BE6615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243" y="891581"/>
                <a:ext cx="4102696" cy="3485252"/>
              </a:xfrm>
              <a:prstGeom prst="rect">
                <a:avLst/>
              </a:prstGeom>
              <a:blipFill>
                <a:blip r:embed="rId3"/>
                <a:stretch>
                  <a:fillRect l="-193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85EBACB6-1071-0D8B-278B-46E16F6A53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6573" y="3606990"/>
                <a:ext cx="2020861" cy="55603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85EBACB6-1071-0D8B-278B-46E16F6A5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573" y="3606990"/>
                <a:ext cx="2020861" cy="5560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B7DE411B-6843-1716-D154-587A303D7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8845" y="3606990"/>
                <a:ext cx="2020861" cy="55603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⇝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B7DE411B-6843-1716-D154-587A303D7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845" y="3606990"/>
                <a:ext cx="2020861" cy="5560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8BC3305-15E1-94A4-D2C3-9ED7DF4AF7E3}"/>
                  </a:ext>
                </a:extLst>
              </p:cNvPr>
              <p:cNvSpPr/>
              <p:nvPr/>
            </p:nvSpPr>
            <p:spPr>
              <a:xfrm>
                <a:off x="894233" y="1735103"/>
                <a:ext cx="1881463" cy="187188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CHC(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) </a:t>
                </a:r>
                <a:r>
                  <a:rPr lang="en-US" sz="2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Dosis" pitchFamily="2" charset="0"/>
                  </a:rPr>
                  <a:t>oracle</a:t>
                </a:r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8BC3305-15E1-94A4-D2C3-9ED7DF4AF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3" y="1735103"/>
                <a:ext cx="1881463" cy="187188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7461F08-3A4D-F747-E6C1-9C92C45D5BEE}"/>
                  </a:ext>
                </a:extLst>
              </p:cNvPr>
              <p:cNvSpPr/>
              <p:nvPr/>
            </p:nvSpPr>
            <p:spPr>
              <a:xfrm>
                <a:off x="5461919" y="1724599"/>
                <a:ext cx="1881463" cy="187188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</a:rPr>
                  <a:t>CHC(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</a:rPr>
                  <a:t>) oracle</a:t>
                </a: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7461F08-3A4D-F747-E6C1-9C92C45D5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919" y="1724599"/>
                <a:ext cx="1881463" cy="187188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65BE34A-3D46-58C0-1B68-398A43C727D7}"/>
              </a:ext>
            </a:extLst>
          </p:cNvPr>
          <p:cNvCxnSpPr>
            <a:cxnSpLocks/>
          </p:cNvCxnSpPr>
          <p:nvPr/>
        </p:nvCxnSpPr>
        <p:spPr>
          <a:xfrm>
            <a:off x="2775696" y="2275418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56F701DC-58DF-B004-4049-116FD17902FF}"/>
              </a:ext>
            </a:extLst>
          </p:cNvPr>
          <p:cNvCxnSpPr>
            <a:cxnSpLocks/>
          </p:cNvCxnSpPr>
          <p:nvPr/>
        </p:nvCxnSpPr>
        <p:spPr>
          <a:xfrm flipH="1">
            <a:off x="2770908" y="3263123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877FE028-DFFF-CEA7-14AD-6EC0B277F9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7865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𝜫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877FE028-DFFF-CEA7-14AD-6EC0B277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5" y="1294710"/>
                <a:ext cx="589569" cy="4399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E0684F88-2679-DD8A-D6D1-648435666C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179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𝜫</m:t>
                          </m:r>
                        </m:e>
                        <m:sub>
                          <m:r>
                            <a:rPr lang="en-US" sz="2200" b="1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E0684F88-2679-DD8A-D6D1-648435666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179" y="1294710"/>
                <a:ext cx="589569" cy="4399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F653B78B-90A2-C6AF-D574-3285262E8D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4022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Θ</m:t>
                      </m:r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F653B78B-90A2-C6AF-D574-3285262E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022" y="1294710"/>
                <a:ext cx="589569" cy="439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88080C80-65CF-CD47-F98B-F5921E81F690}"/>
              </a:ext>
            </a:extLst>
          </p:cNvPr>
          <p:cNvCxnSpPr>
            <a:cxnSpLocks/>
          </p:cNvCxnSpPr>
          <p:nvPr/>
        </p:nvCxnSpPr>
        <p:spPr>
          <a:xfrm>
            <a:off x="2775696" y="2627857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69687C72-7A12-B725-D1B4-5989770C27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1433" y="3043146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69687C72-7A12-B725-D1B4-5989770C2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33" y="3043146"/>
                <a:ext cx="589569" cy="439954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841E94BC-8482-D2DE-5C25-D5B0183947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1400" y="3030688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841E94BC-8482-D2DE-5C25-D5B018394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400" y="3030688"/>
                <a:ext cx="589569" cy="439954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36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4EB8E-36DA-32E6-F5B8-C8297572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E2EE-8DC7-4612-0AB8-0AE865D7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Dosis" pitchFamily="2" charset="0"/>
              </a:rPr>
              <a:t>MosaicSolve</a:t>
            </a:r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: moves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98106-BD8B-3309-0E4A-3943FB1D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02" y="4431539"/>
            <a:ext cx="11202597" cy="192849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00FF"/>
                </a:solidFill>
              </a:rPr>
              <a:t>Query</a:t>
            </a:r>
            <a:r>
              <a:rPr lang="en-US" sz="2000" dirty="0"/>
              <a:t>: generates a new obligation when an existing one cannot be resolved.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 err="1">
                <a:solidFill>
                  <a:srgbClr val="0000FF"/>
                </a:solidFill>
              </a:rPr>
              <a:t>NegAnswer</a:t>
            </a:r>
            <a:r>
              <a:rPr lang="en-US" sz="2000" b="1" dirty="0">
                <a:solidFill>
                  <a:srgbClr val="0000FF"/>
                </a:solidFill>
              </a:rPr>
              <a:t> / </a:t>
            </a:r>
            <a:r>
              <a:rPr lang="en-US" sz="2000" b="1" dirty="0" err="1">
                <a:solidFill>
                  <a:srgbClr val="0000FF"/>
                </a:solidFill>
              </a:rPr>
              <a:t>PosAnswer</a:t>
            </a:r>
            <a:r>
              <a:rPr lang="en-US" sz="2000" dirty="0"/>
              <a:t>: discharges an obligation if it can be answered negatively / positively using the current over- / under-approximations.</a:t>
            </a:r>
            <a:endParaRPr lang="en-US" sz="2000" b="1" dirty="0">
              <a:solidFill>
                <a:srgbClr val="7D6A3B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00FF"/>
                </a:solidFill>
              </a:rPr>
              <a:t>Sat / </a:t>
            </a:r>
            <a:r>
              <a:rPr lang="en-US" sz="2000" b="1" dirty="0" err="1">
                <a:solidFill>
                  <a:srgbClr val="0000FF"/>
                </a:solidFill>
              </a:rPr>
              <a:t>Unsat</a:t>
            </a:r>
            <a:r>
              <a:rPr lang="en-US" sz="2000" dirty="0"/>
              <a:t>: terminate when the initial obligation can be resolved.</a:t>
            </a:r>
            <a:endParaRPr lang="en-US" sz="2000" dirty="0">
              <a:solidFill>
                <a:srgbClr val="7D6A3B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CB28A8B-C447-C696-706F-F038DF3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01224211-2D80-913D-3C71-1CBB103C6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5243" y="891581"/>
                <a:ext cx="4102696" cy="3485252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chemeClr val="accent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Obligation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∪</m:t>
                    </m:r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SAT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a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2200" dirty="0"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200" dirty="0">
                    <a:solidFill>
                      <a:schemeClr val="accent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Result</a:t>
                </a:r>
                <a:r>
                  <a:rPr lang="en-US" sz="2200" dirty="0"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removed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𝑄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180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⇝</m:t>
                            </m:r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sub>
                    </m:sSub>
                  </m:oMath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68636DD-478F-3929-8E8C-49BE6615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243" y="891581"/>
                <a:ext cx="4102696" cy="3485252"/>
              </a:xfrm>
              <a:prstGeom prst="rect">
                <a:avLst/>
              </a:prstGeom>
              <a:blipFill>
                <a:blip r:embed="rId3"/>
                <a:stretch>
                  <a:fillRect l="-193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FEA245E4-3AAA-69DE-01DF-916412D0D8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6573" y="3606990"/>
                <a:ext cx="2020861" cy="55603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85EBACB6-1071-0D8B-278B-46E16F6A5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573" y="3606990"/>
                <a:ext cx="2020861" cy="5560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E29B8F5B-6A14-AC41-E0DE-5E18DB0B6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8845" y="3606990"/>
                <a:ext cx="2020861" cy="55603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⇝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B7DE411B-6843-1716-D154-587A303D7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845" y="3606990"/>
                <a:ext cx="2020861" cy="5560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AECB590E-2F12-6776-E765-B3B53F0D0742}"/>
                  </a:ext>
                </a:extLst>
              </p:cNvPr>
              <p:cNvSpPr/>
              <p:nvPr/>
            </p:nvSpPr>
            <p:spPr>
              <a:xfrm>
                <a:off x="894233" y="1735103"/>
                <a:ext cx="1881463" cy="187188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CHC(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) </a:t>
                </a:r>
                <a:r>
                  <a:rPr lang="en-US" sz="2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Dosis" pitchFamily="2" charset="0"/>
                  </a:rPr>
                  <a:t>oracle</a:t>
                </a:r>
                <a:r>
                  <a:rPr lang="en-US" sz="2000" dirty="0">
                    <a:solidFill>
                      <a:schemeClr val="tx2"/>
                    </a:solidFill>
                    <a:latin typeface="Dosis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8BC3305-15E1-94A4-D2C3-9ED7DF4AF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3" y="1735103"/>
                <a:ext cx="1881463" cy="187188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C0AAB570-DD6B-B064-1BCE-34BA3254EF81}"/>
                  </a:ext>
                </a:extLst>
              </p:cNvPr>
              <p:cNvSpPr/>
              <p:nvPr/>
            </p:nvSpPr>
            <p:spPr>
              <a:xfrm>
                <a:off x="5461919" y="1724599"/>
                <a:ext cx="1881463" cy="187188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</a:rPr>
                  <a:t>CHC(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Dosis" pitchFamily="2" charset="0"/>
                  </a:rPr>
                  <a:t>) oracle</a:t>
                </a: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7461F08-3A4D-F747-E6C1-9C92C45D5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919" y="1724599"/>
                <a:ext cx="1881463" cy="187188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1D787AA-2A08-708C-0368-9E4C870D3783}"/>
              </a:ext>
            </a:extLst>
          </p:cNvPr>
          <p:cNvCxnSpPr>
            <a:cxnSpLocks/>
          </p:cNvCxnSpPr>
          <p:nvPr/>
        </p:nvCxnSpPr>
        <p:spPr>
          <a:xfrm>
            <a:off x="2775696" y="2275418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E774EC8-7F58-8449-F0D0-B22306DE7BC2}"/>
              </a:ext>
            </a:extLst>
          </p:cNvPr>
          <p:cNvCxnSpPr>
            <a:cxnSpLocks/>
          </p:cNvCxnSpPr>
          <p:nvPr/>
        </p:nvCxnSpPr>
        <p:spPr>
          <a:xfrm flipH="1">
            <a:off x="2770908" y="3263123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8272CBE9-839F-7D43-6247-72AECD10BB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7865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𝜫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8272CBE9-839F-7D43-6247-72AECD10B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5" y="1294710"/>
                <a:ext cx="589569" cy="4399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59AC06BF-06E9-A953-053C-7531ABD848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179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𝜫</m:t>
                          </m:r>
                        </m:e>
                        <m:sub>
                          <m:r>
                            <a:rPr lang="en-US" sz="2200" b="1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59AC06BF-06E9-A953-053C-7531ABD8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179" y="1294710"/>
                <a:ext cx="589569" cy="4399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775BBB6F-DEEF-7DB9-7E0E-748394D1BF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4022" y="1294710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Θ</m:t>
                      </m:r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F653B78B-90A2-C6AF-D574-3285262E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022" y="1294710"/>
                <a:ext cx="589569" cy="439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03FD5FC9-2820-167D-E660-261022E30347}"/>
              </a:ext>
            </a:extLst>
          </p:cNvPr>
          <p:cNvCxnSpPr>
            <a:cxnSpLocks/>
          </p:cNvCxnSpPr>
          <p:nvPr/>
        </p:nvCxnSpPr>
        <p:spPr>
          <a:xfrm>
            <a:off x="2775696" y="2627857"/>
            <a:ext cx="2691011" cy="1270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A79CB283-4376-F333-7693-CCAA735AFF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1433" y="3043146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69687C72-7A12-B725-D1B4-5989770C2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33" y="3043146"/>
                <a:ext cx="589569" cy="439954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8719E1BE-15BD-CC03-03F0-3F6E2076E1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1400" y="3030688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841E94BC-8482-D2DE-5C25-D5B018394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400" y="3030688"/>
                <a:ext cx="589569" cy="439954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03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A387-ADA1-E32A-3A13-D74160258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itle 1">
                <a:extLst>
                  <a:ext uri="{FF2B5EF4-FFF2-40B4-BE49-F238E27FC236}">
                    <a16:creationId xmlns:a16="http://schemas.microsoft.com/office/drawing/2014/main" id="{44A3322E-D3A4-15C7-D684-DE88EE2753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5773" y="783726"/>
                <a:ext cx="3375397" cy="705140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IL" sz="20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2" name="Title 1">
                <a:extLst>
                  <a:ext uri="{FF2B5EF4-FFF2-40B4-BE49-F238E27FC236}">
                    <a16:creationId xmlns:a16="http://schemas.microsoft.com/office/drawing/2014/main" id="{44A3322E-D3A4-15C7-D684-DE88EE275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773" y="783726"/>
                <a:ext cx="3375397" cy="7051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8C7B311-3F0C-FEF8-6ED4-10FCBEED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70" y="545588"/>
            <a:ext cx="6575326" cy="1325563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1"/>
                </a:solidFill>
                <a:latin typeface="Dosis" pitchFamily="2" charset="0"/>
              </a:rPr>
              <a:t>MosaicSolve</a:t>
            </a:r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: </a:t>
            </a:r>
            <a:br>
              <a:rPr lang="en-US" dirty="0">
                <a:solidFill>
                  <a:schemeClr val="accent1"/>
                </a:solidFill>
                <a:latin typeface="Dosis" pitchFamily="2" charset="0"/>
              </a:rPr>
            </a:br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worked run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BAB17CC-214D-4E32-B61D-9932F711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2952DB-9953-1265-22EE-A6AC0FB8FCB8}"/>
                  </a:ext>
                </a:extLst>
              </p:cNvPr>
              <p:cNvSpPr txBox="1"/>
              <p:nvPr/>
            </p:nvSpPr>
            <p:spPr>
              <a:xfrm>
                <a:off x="554627" y="2473941"/>
                <a:ext cx="7646293" cy="184911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i="0" dirty="0"/>
                        <m:t>	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2952DB-9953-1265-22EE-A6AC0FB8F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27" y="2473941"/>
                <a:ext cx="7646293" cy="184911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B52714-013E-9486-34F8-CB948733CB99}"/>
                  </a:ext>
                </a:extLst>
              </p:cNvPr>
              <p:cNvSpPr txBox="1"/>
              <p:nvPr/>
            </p:nvSpPr>
            <p:spPr>
              <a:xfrm>
                <a:off x="554627" y="5227877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B52714-013E-9486-34F8-CB948733C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27" y="5227877"/>
                <a:ext cx="7137988" cy="6153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A391887-0975-5F85-0494-12FCA3A68E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4627" y="1972421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𝜫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b="1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A391887-0975-5F85-0494-12FCA3A68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27" y="1972421"/>
                <a:ext cx="2419648" cy="439954"/>
              </a:xfrm>
              <a:prstGeom prst="rect">
                <a:avLst/>
              </a:prstGeom>
              <a:blipFill>
                <a:blip r:embed="rId5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6800CD2E-87EA-BD02-CB81-5B1725ADF2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4627" y="4743548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𝚷</m:t>
                        </m:r>
                      </m:e>
                      <m:sub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𝐁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6800CD2E-87EA-BD02-CB81-5B1725ADF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27" y="4743548"/>
                <a:ext cx="2576399" cy="439954"/>
              </a:xfrm>
              <a:prstGeom prst="rect">
                <a:avLst/>
              </a:prstGeom>
              <a:blipFill>
                <a:blip r:embed="rId6"/>
                <a:stretch>
                  <a:fillRect l="-236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259A8BB-25AB-7E18-56C1-C0A5F3B07365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rot="5400000">
            <a:off x="2659688" y="2956764"/>
            <a:ext cx="1166799" cy="3627572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9527CF-7E6C-48AD-3B90-62BD804F63AE}"/>
              </a:ext>
            </a:extLst>
          </p:cNvPr>
          <p:cNvSpPr/>
          <p:nvPr/>
        </p:nvSpPr>
        <p:spPr>
          <a:xfrm>
            <a:off x="1239953" y="5353950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6D8544-CD7E-13FC-B789-5A917A4C2A7F}"/>
              </a:ext>
            </a:extLst>
          </p:cNvPr>
          <p:cNvSpPr/>
          <p:nvPr/>
        </p:nvSpPr>
        <p:spPr>
          <a:xfrm>
            <a:off x="4867525" y="3792030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2AD21321-9C6A-5B45-05FF-381228D95C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9709" y="302302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𝑄</m:t>
                      </m:r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2AD21321-9C6A-5B45-05FF-381228D95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709" y="302302"/>
                <a:ext cx="589569" cy="439954"/>
              </a:xfrm>
              <a:prstGeom prst="rect">
                <a:avLst/>
              </a:prstGeom>
              <a:blipFill>
                <a:blip r:embed="rId7"/>
                <a:stretch>
                  <a:fillRect b="-97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FB834FE8-6C22-B4EF-0B9C-B9A5079450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8355" y="302302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Δ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FB834FE8-6C22-B4EF-0B9C-B9A507945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355" y="302302"/>
                <a:ext cx="589569" cy="4399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B10FE2ED-F7E2-37A7-B5FD-6ED9659E96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89281" y="304415"/>
                <a:ext cx="58956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Δ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B10FE2ED-F7E2-37A7-B5FD-6ED9659E9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281" y="304415"/>
                <a:ext cx="589569" cy="4399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26F60B-2168-9516-4613-66971170CD1A}"/>
              </a:ext>
            </a:extLst>
          </p:cNvPr>
          <p:cNvCxnSpPr>
            <a:cxnSpLocks/>
          </p:cNvCxnSpPr>
          <p:nvPr/>
        </p:nvCxnSpPr>
        <p:spPr>
          <a:xfrm flipV="1">
            <a:off x="7528355" y="259474"/>
            <a:ext cx="0" cy="189779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8789F1-02FE-CA75-FCD3-757EA084EDF5}"/>
              </a:ext>
            </a:extLst>
          </p:cNvPr>
          <p:cNvCxnSpPr>
            <a:cxnSpLocks/>
          </p:cNvCxnSpPr>
          <p:nvPr/>
        </p:nvCxnSpPr>
        <p:spPr>
          <a:xfrm>
            <a:off x="4377773" y="793430"/>
            <a:ext cx="7119792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51DADF51-BA3B-C772-3475-9B475E93A6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88927" y="824253"/>
                <a:ext cx="3229212" cy="627873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2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sup>
                                  </m:sSup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0000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51DADF51-BA3B-C772-3475-9B475E93A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927" y="824253"/>
                <a:ext cx="3229212" cy="6278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1A40E1-8316-ED7E-5EE8-AD3D04C0D77C}"/>
              </a:ext>
            </a:extLst>
          </p:cNvPr>
          <p:cNvCxnSpPr>
            <a:cxnSpLocks/>
          </p:cNvCxnSpPr>
          <p:nvPr/>
        </p:nvCxnSpPr>
        <p:spPr>
          <a:xfrm flipV="1">
            <a:off x="8107708" y="259474"/>
            <a:ext cx="0" cy="189779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89ED0E58-0ED1-CB6E-B36F-F92D730E64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71421" y="5243492"/>
                <a:ext cx="3317258" cy="627873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B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=0111∧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=0000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?</a:t>
                </a:r>
                <a:endParaRPr lang="en-IL" sz="22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89ED0E58-0ED1-CB6E-B36F-F92D730E6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421" y="5243492"/>
                <a:ext cx="3317258" cy="6278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itle 1">
                <a:extLst>
                  <a:ext uri="{FF2B5EF4-FFF2-40B4-BE49-F238E27FC236}">
                    <a16:creationId xmlns:a16="http://schemas.microsoft.com/office/drawing/2014/main" id="{A5BA836F-C6E7-B713-A159-87E5E4245E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71421" y="3245863"/>
                <a:ext cx="2859364" cy="627873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I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7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?</a:t>
                </a:r>
                <a:endParaRPr lang="en-IL" sz="20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7" name="Title 1">
                <a:extLst>
                  <a:ext uri="{FF2B5EF4-FFF2-40B4-BE49-F238E27FC236}">
                    <a16:creationId xmlns:a16="http://schemas.microsoft.com/office/drawing/2014/main" id="{A5BA836F-C6E7-B713-A159-87E5E4245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421" y="3245863"/>
                <a:ext cx="2859364" cy="6278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le 1">
                <a:extLst>
                  <a:ext uri="{FF2B5EF4-FFF2-40B4-BE49-F238E27FC236}">
                    <a16:creationId xmlns:a16="http://schemas.microsoft.com/office/drawing/2014/main" id="{E8C395CE-82EB-7265-60E1-1BC83D01CE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15149" y="1529394"/>
                <a:ext cx="2678688" cy="627873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7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L" sz="2000" dirty="0">
                  <a:solidFill>
                    <a:schemeClr val="tx1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Title 1">
                <a:extLst>
                  <a:ext uri="{FF2B5EF4-FFF2-40B4-BE49-F238E27FC236}">
                    <a16:creationId xmlns:a16="http://schemas.microsoft.com/office/drawing/2014/main" id="{E8C395CE-82EB-7265-60E1-1BC83D01C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149" y="1529394"/>
                <a:ext cx="2678688" cy="6278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680BE476-EC17-DA4A-D300-0495E5EF5194}"/>
              </a:ext>
            </a:extLst>
          </p:cNvPr>
          <p:cNvSpPr txBox="1"/>
          <p:nvPr/>
        </p:nvSpPr>
        <p:spPr>
          <a:xfrm>
            <a:off x="10675763" y="3352698"/>
            <a:ext cx="618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8DF031-9E33-262E-A50A-F1EB1A8DE722}"/>
                  </a:ext>
                </a:extLst>
              </p:cNvPr>
              <p:cNvSpPr txBox="1"/>
              <p:nvPr/>
            </p:nvSpPr>
            <p:spPr>
              <a:xfrm>
                <a:off x="8271421" y="3722030"/>
                <a:ext cx="4043666" cy="617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&gt;0∧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8DF031-9E33-262E-A50A-F1EB1A8DE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421" y="3722030"/>
                <a:ext cx="4043666" cy="6174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1D32808D-4647-2243-6B04-7F8960DE54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8953001" y="5822915"/>
            <a:ext cx="573877" cy="58557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A7F6DC0-46C4-CAD9-B89C-8D52F02008B6}"/>
              </a:ext>
            </a:extLst>
          </p:cNvPr>
          <p:cNvSpPr txBox="1"/>
          <p:nvPr/>
        </p:nvSpPr>
        <p:spPr>
          <a:xfrm>
            <a:off x="8271421" y="5910722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</p:spTree>
    <p:extLst>
      <p:ext uri="{BB962C8B-B14F-4D97-AF65-F5344CB8AC3E}">
        <p14:creationId xmlns:p14="http://schemas.microsoft.com/office/powerpoint/2010/main" val="22307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1" grpId="0"/>
      <p:bldP spid="21" grpId="1"/>
      <p:bldP spid="35" grpId="0"/>
      <p:bldP spid="37" grpId="0"/>
      <p:bldP spid="39" grpId="0"/>
      <p:bldP spid="39" grpId="1"/>
      <p:bldP spid="39" grpId="2"/>
      <p:bldP spid="43" grpId="0"/>
      <p:bldP spid="50" grpId="0"/>
      <p:bldP spid="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DFD2-708F-BED1-98C4-D2DD6DD9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E7E1-E68B-EB60-FAEB-75EFDCE2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Soundness and termination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8E55934-090F-58D3-61C3-291D3B77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0CB93F6-B655-6449-C794-6BEB9BDD15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b="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b="0" dirty="0"/>
                  <a:t> be a set of CHCs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b="0" dirty="0"/>
                  <a:t> and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2200" b="0" dirty="0"/>
                  <a:t> be a theory-modular encoding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b="0" dirty="0"/>
                  <a:t>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rgbClr val="0000FF"/>
                    </a:solidFill>
                  </a:rPr>
                  <a:t>Theorem </a:t>
                </a:r>
                <a:r>
                  <a:rPr lang="en-US" sz="2200" dirty="0">
                    <a:solidFill>
                      <a:srgbClr val="0000FF"/>
                    </a:solidFill>
                  </a:rPr>
                  <a:t>(soundness)</a:t>
                </a:r>
                <a:r>
                  <a:rPr lang="en-US" sz="2200" b="0" dirty="0">
                    <a:solidFill>
                      <a:srgbClr val="0000FF"/>
                    </a:solidFill>
                  </a:rPr>
                  <a:t>: </a:t>
                </a:r>
                <a:r>
                  <a:rPr lang="en-US" sz="2200" b="0" dirty="0"/>
                  <a:t>If </a:t>
                </a:r>
                <a:r>
                  <a:rPr lang="en-US" sz="2200" b="0" dirty="0" err="1">
                    <a:latin typeface="Dosis" pitchFamily="2" charset="0"/>
                  </a:rPr>
                  <a:t>MosaicSolve</a:t>
                </a:r>
                <a:r>
                  <a:rPr lang="en-US" sz="2200" b="0" dirty="0"/>
                  <a:t> returns SAT (resp. UNSAT),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2200" b="0" dirty="0"/>
                  <a:t> is satisfiable (resp</a:t>
                </a:r>
                <a:r>
                  <a:rPr lang="en-US" sz="2200" dirty="0"/>
                  <a:t>. unsatisfiable).</a:t>
                </a:r>
                <a:endParaRPr lang="en-US" sz="2200" b="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rgbClr val="0000FF"/>
                    </a:solidFill>
                  </a:rPr>
                  <a:t>Termination</a:t>
                </a:r>
                <a:r>
                  <a:rPr lang="en-US" sz="2200" dirty="0"/>
                  <a:t>:</a:t>
                </a:r>
                <a:r>
                  <a:rPr lang="en-US" sz="2200" dirty="0">
                    <a:latin typeface="Dosis" pitchFamily="2" charset="0"/>
                  </a:rPr>
                  <a:t> </a:t>
                </a:r>
                <a:r>
                  <a:rPr lang="en-US" sz="2200" dirty="0" err="1">
                    <a:latin typeface="Dosis" pitchFamily="2" charset="0"/>
                  </a:rPr>
                  <a:t>MosaicSolve</a:t>
                </a:r>
                <a:r>
                  <a:rPr lang="en-US" sz="2200" dirty="0"/>
                  <a:t> is guaranteed to terminate if each invocation of the underlying CHC satisfiability oracles terminates.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0CB93F6-B655-6449-C794-6BEB9BDD1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97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5D68-3985-FC81-B9B4-826700D8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9E4B-2220-683F-E522-5E68546E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Evaluation: setup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EA063-3574-2BCC-AA85-1090B537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578"/>
            <a:ext cx="10515600" cy="463902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Implementation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Prototype on top of </a:t>
            </a:r>
            <a:r>
              <a:rPr lang="en-US" sz="2200" dirty="0">
                <a:latin typeface="Dosis" pitchFamily="2" charset="0"/>
              </a:rPr>
              <a:t>Z3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Dosis" pitchFamily="2" charset="0"/>
              </a:rPr>
              <a:t>Spacer </a:t>
            </a:r>
            <a:r>
              <a:rPr lang="en-US" sz="2200" dirty="0"/>
              <a:t>instantiates both CHC-SAT oracles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Benchmarks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11 small programs that originate from the "Bit Twiddling Hacks" collection [Anderson, Stanford], composed with simple arithmetic loops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Benchmarks evaluated for increasing bit-widths (timeout: 2 hours)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Configurations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Dosis" pitchFamily="2" charset="0"/>
              </a:rPr>
              <a:t>BV</a:t>
            </a:r>
            <a:r>
              <a:rPr lang="en-US" sz="2200" dirty="0"/>
              <a:t>: all CHCs in the bit-vector fragment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Dosis" pitchFamily="2" charset="0"/>
              </a:rPr>
              <a:t>IA</a:t>
            </a:r>
            <a:r>
              <a:rPr lang="en-US" sz="2200" dirty="0"/>
              <a:t>: all CHCs translated to the integer fragment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Dosis" pitchFamily="2" charset="0"/>
              </a:rPr>
              <a:t>BV+IA</a:t>
            </a:r>
            <a:r>
              <a:rPr lang="en-US" sz="2200" dirty="0"/>
              <a:t>: our theory-modular reasoning</a:t>
            </a:r>
            <a:endParaRPr lang="en-US" sz="2200" b="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F7C1C88-EE10-5ADB-A0D8-62D5A27E4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20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8835-E326-B996-1D06-929D31F9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EA61-97BE-3A75-FD69-704F41D3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Evaluation: results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B8DE1FC-8EC6-3ADA-F7F1-B0E011DE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E8645-238D-7592-8844-4F49DE26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09" y="1862312"/>
            <a:ext cx="5675782" cy="35403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7AF21EA-5E2E-0BE2-B9B4-327363BDE260}"/>
              </a:ext>
            </a:extLst>
          </p:cNvPr>
          <p:cNvSpPr txBox="1">
            <a:spLocks/>
          </p:cNvSpPr>
          <p:nvPr/>
        </p:nvSpPr>
        <p:spPr>
          <a:xfrm>
            <a:off x="4282360" y="5486126"/>
            <a:ext cx="3627280" cy="92424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Dosis" pitchFamily="2" charset="0"/>
              </a:rPr>
              <a:t>Performance of BV, IA, and BV+IA. </a:t>
            </a:r>
          </a:p>
          <a:p>
            <a:r>
              <a:rPr lang="en-US" sz="2000" dirty="0">
                <a:latin typeface="Dosis" pitchFamily="2" charset="0"/>
              </a:rPr>
              <a:t>Maximal bit-width (W) and runtime.</a:t>
            </a:r>
          </a:p>
          <a:p>
            <a:r>
              <a:rPr lang="en-US" sz="2000" dirty="0">
                <a:latin typeface="Dosis" pitchFamily="2" charset="0"/>
              </a:rPr>
              <a:t>Bold indicates the largest W.</a:t>
            </a:r>
            <a:endParaRPr lang="en-IL" sz="2000" dirty="0">
              <a:solidFill>
                <a:prstClr val="black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5A808-BA75-9C19-61B5-93A744AFC80E}"/>
              </a:ext>
            </a:extLst>
          </p:cNvPr>
          <p:cNvSpPr txBox="1"/>
          <p:nvPr/>
        </p:nvSpPr>
        <p:spPr>
          <a:xfrm>
            <a:off x="838200" y="1345613"/>
            <a:ext cx="95473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7D6A3B"/>
                </a:solidFill>
                <a:latin typeface="Dosis" pitchFamily="2" charset="0"/>
              </a:rPr>
              <a:t>BV+IA achieves the largest bit-width on most benchmarks, often by a substantial margin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13EC82-E2EE-14D4-BE5C-76558A1FBC0A}"/>
              </a:ext>
            </a:extLst>
          </p:cNvPr>
          <p:cNvSpPr txBox="1"/>
          <p:nvPr/>
        </p:nvSpPr>
        <p:spPr>
          <a:xfrm>
            <a:off x="7515076" y="3813178"/>
            <a:ext cx="408925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Dosis" pitchFamily="2" charset="0"/>
              </a:rPr>
              <a:t>62</a:t>
            </a:r>
            <a:endParaRPr lang="en-IL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4C9C-12B2-B3C2-B2F7-0376F5042330}"/>
              </a:ext>
            </a:extLst>
          </p:cNvPr>
          <p:cNvSpPr txBox="1"/>
          <p:nvPr/>
        </p:nvSpPr>
        <p:spPr>
          <a:xfrm>
            <a:off x="6153311" y="3813178"/>
            <a:ext cx="29841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8475E"/>
                </a:solidFill>
                <a:latin typeface="Dosis" pitchFamily="2" charset="0"/>
              </a:rPr>
              <a:t>3</a:t>
            </a:r>
            <a:endParaRPr lang="en-IL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DCCAC-2432-BB05-1B3E-4578381EFCB4}"/>
              </a:ext>
            </a:extLst>
          </p:cNvPr>
          <p:cNvSpPr txBox="1"/>
          <p:nvPr/>
        </p:nvSpPr>
        <p:spPr>
          <a:xfrm>
            <a:off x="4752729" y="3822752"/>
            <a:ext cx="29841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8475E"/>
                </a:solidFill>
                <a:latin typeface="Dosis" pitchFamily="2" charset="0"/>
              </a:rPr>
              <a:t>9</a:t>
            </a:r>
            <a:endParaRPr lang="en-IL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BAE3933-D108-A089-5AE7-1E340D2EC5F5}"/>
                  </a:ext>
                </a:extLst>
              </p14:cNvPr>
              <p14:cNvContentPartPr/>
              <p14:nvPr/>
            </p14:nvContentPartPr>
            <p14:xfrm>
              <a:off x="3464320" y="3986360"/>
              <a:ext cx="705600" cy="11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BAE3933-D108-A089-5AE7-1E340D2EC5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0680" y="3878720"/>
                <a:ext cx="813240" cy="22752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7C56932-58E5-7552-BEA3-210B76E983CD}"/>
              </a:ext>
            </a:extLst>
          </p:cNvPr>
          <p:cNvSpPr/>
          <p:nvPr/>
        </p:nvSpPr>
        <p:spPr>
          <a:xfrm>
            <a:off x="4749135" y="2645178"/>
            <a:ext cx="4093737" cy="266660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2080BE-6F21-794A-CCDB-280C61EBB754}"/>
              </a:ext>
            </a:extLst>
          </p:cNvPr>
          <p:cNvSpPr/>
          <p:nvPr/>
        </p:nvSpPr>
        <p:spPr>
          <a:xfrm>
            <a:off x="6096000" y="2645178"/>
            <a:ext cx="2746871" cy="266660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33DDC6-40D0-9A47-DB41-522D17F6AB7F}"/>
              </a:ext>
            </a:extLst>
          </p:cNvPr>
          <p:cNvSpPr/>
          <p:nvPr/>
        </p:nvSpPr>
        <p:spPr>
          <a:xfrm>
            <a:off x="7506697" y="2645178"/>
            <a:ext cx="1336173" cy="266660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566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C91E-F121-2F9E-0ED0-E4431D8B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F580-FC57-3E78-4F6D-4F4A0668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Conclusion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71CCF48-2E25-85A3-2FC6-6ADFE098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F2A546B-8AF5-278A-5616-2F032323D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8697"/>
                <a:ext cx="10895802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Mosaic: Theory-Modular CHC Satisfiability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𝓣</m:t>
                        </m:r>
                      </m:e>
                      <m:sub>
                        <m:r>
                          <a:rPr lang="en-US" sz="22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chemeClr val="accent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𝓣</m:t>
                        </m:r>
                      </m:e>
                      <m:sub>
                        <m:r>
                          <a:rPr lang="en-US" sz="22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sub>
                    </m:sSub>
                  </m:oMath>
                </a14:m>
                <a:endParaRPr lang="en-US" sz="2200" b="1" dirty="0">
                  <a:solidFill>
                    <a:schemeClr val="accent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rgbClr val="7D6A3B"/>
                    </a:solidFill>
                  </a:rPr>
                  <a:t>Key ingredients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b="1" dirty="0"/>
                  <a:t>Theory transformations</a:t>
                </a:r>
                <a:r>
                  <a:rPr lang="en-US" sz="2000" dirty="0"/>
                  <a:t>: translations across theories preserving the represented bit-vector semantics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b="1" dirty="0"/>
                  <a:t>Theory-modular encoding</a:t>
                </a:r>
                <a:r>
                  <a:rPr lang="en-US" sz="2000" dirty="0"/>
                  <a:t>: decomposition </a:t>
                </a:r>
                <a:r>
                  <a:rPr lang="en-US" sz="2000" dirty="0">
                    <a:solidFill>
                      <a:schemeClr val="tx1"/>
                    </a:solidFill>
                  </a:rPr>
                  <a:t>into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Θ</m:t>
                        </m:r>
                      </m:e>
                    </m:d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b="1" dirty="0"/>
                  <a:t>Theory-modular solving</a:t>
                </a:r>
                <a:r>
                  <a:rPr lang="en-US" sz="2000" dirty="0"/>
                  <a:t>: coordinated reasoning across fragments</a:t>
                </a:r>
                <a:br>
                  <a:rPr lang="en-US" sz="2000" dirty="0"/>
                </a:br>
                <a:endParaRPr lang="en-US" sz="20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200" b="1" dirty="0">
                    <a:solidFill>
                      <a:srgbClr val="7D6A3B"/>
                    </a:solidFill>
                  </a:rPr>
                  <a:t>Result: </a:t>
                </a:r>
                <a:r>
                  <a:rPr lang="en-US" sz="2200" dirty="0"/>
                  <a:t>substantial scalability improvements on bit-precise verification benchmarks</a:t>
                </a:r>
                <a:endParaRPr lang="en-US" sz="2200" b="1" dirty="0">
                  <a:solidFill>
                    <a:srgbClr val="7D6A3B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:r>
                  <a:rPr lang="en-US" sz="2200" b="1" dirty="0">
                    <a:solidFill>
                      <a:srgbClr val="7D6A3B"/>
                    </a:solidFill>
                  </a:rPr>
                  <a:t>Related and Future Work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200" dirty="0"/>
                  <a:t>Abstraction Refinement for Theory-Modular CHC Satisfiability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200" dirty="0"/>
                  <a:t>Extending theory-modular reasoning to additional background theories (</a:t>
                </a:r>
                <a:r>
                  <a:rPr lang="en-US" sz="2200" dirty="0">
                    <a:latin typeface="Dosis" pitchFamily="2" charset="0"/>
                  </a:rPr>
                  <a:t>LIA</a:t>
                </a:r>
                <a:r>
                  <a:rPr lang="en-US" sz="2200" dirty="0"/>
                  <a:t> + </a:t>
                </a:r>
                <a:r>
                  <a:rPr lang="en-US" sz="2200" dirty="0">
                    <a:latin typeface="Dosis" pitchFamily="2" charset="0"/>
                  </a:rPr>
                  <a:t>NIA</a:t>
                </a:r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F2A546B-8AF5-278A-5616-2F032323D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8697"/>
                <a:ext cx="10895802" cy="4351338"/>
              </a:xfrm>
              <a:blipFill>
                <a:blip r:embed="rId2"/>
                <a:stretch>
                  <a:fillRect l="-727" r="-56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3511CD2-7CF8-3642-A5AA-DF3515D1D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35" y="1464958"/>
            <a:ext cx="396697" cy="39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7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2215-2A74-63E1-F836-257D8044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6F06-16E9-4D93-F280-2BC3B23EE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4400" dirty="0">
                <a:solidFill>
                  <a:srgbClr val="0000FF"/>
                </a:solidFill>
              </a:rPr>
              <a:t>Questions?</a:t>
            </a:r>
            <a:endParaRPr lang="en-IL" sz="4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C098E-E2BD-286F-86E3-73ADBC01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6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0E12-9C1D-B626-7A91-14DBD8EFB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14FA7-B877-BAFE-7B1E-1C46511B7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>
              <a:solidFill>
                <a:srgbClr val="0000FF"/>
              </a:solidFill>
            </a:endParaRPr>
          </a:p>
          <a:p>
            <a:pPr marL="0" indent="0" algn="ctr">
              <a:buNone/>
            </a:pPr>
            <a:r>
              <a:rPr lang="en-US" sz="3600">
                <a:solidFill>
                  <a:srgbClr val="0000FF"/>
                </a:solidFill>
              </a:rPr>
              <a:t>Application </a:t>
            </a:r>
            <a:r>
              <a:rPr lang="en-US" sz="3600" dirty="0">
                <a:solidFill>
                  <a:srgbClr val="0000FF"/>
                </a:solidFill>
              </a:rPr>
              <a:t>1 of CHCs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63056-F480-D4B7-6CFB-8B708E51571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A816E-E7F9-F52F-FF0C-B1BABB38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5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B3D01-A313-DF5A-9F17-9B7EA843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737D838-25EA-0EA0-1695-E95E2D903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696" y="780341"/>
            <a:ext cx="9144000" cy="8522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FC3D69"/>
                </a:solidFill>
                <a:latin typeface="Trebuchet MS" panose="020B0603020202020204" pitchFamily="34" charset="0"/>
              </a:rPr>
              <a:t>Condition Synthesis Realizability via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51593-0726-F6F8-051D-39298D1F8CD6}"/>
              </a:ext>
            </a:extLst>
          </p:cNvPr>
          <p:cNvSpPr txBox="1"/>
          <p:nvPr/>
        </p:nvSpPr>
        <p:spPr>
          <a:xfrm>
            <a:off x="1488054" y="1505828"/>
            <a:ext cx="8349284" cy="82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  <a:defRPr/>
            </a:pPr>
            <a:r>
              <a:rPr lang="en-US" sz="3600" b="1" dirty="0">
                <a:solidFill>
                  <a:srgbClr val="FC3D69"/>
                </a:solidFill>
                <a:latin typeface="Trebuchet MS" panose="020B0603020202020204" pitchFamily="34" charset="0"/>
              </a:rPr>
              <a:t>Constrained Horn Clauses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C3D69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C3788E-7D75-0850-5365-EE2CBA486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696" y="3560164"/>
            <a:ext cx="9144000" cy="112248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endParaRPr lang="en-US" sz="2800" kern="0" dirty="0">
              <a:solidFill>
                <a:srgbClr val="000000"/>
              </a:solidFill>
              <a:latin typeface="Comic Sans MS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sz="2800" b="1" kern="0" dirty="0">
                <a:solidFill>
                  <a:srgbClr val="002060"/>
                </a:solidFill>
                <a:latin typeface="Comic Sans MS"/>
              </a:rPr>
              <a:t>            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2E4E4D8-ED1B-FEF8-B7C0-2BB7662D80A7}"/>
              </a:ext>
            </a:extLst>
          </p:cNvPr>
          <p:cNvSpPr txBox="1">
            <a:spLocks/>
          </p:cNvSpPr>
          <p:nvPr/>
        </p:nvSpPr>
        <p:spPr>
          <a:xfrm>
            <a:off x="952864" y="2541329"/>
            <a:ext cx="9144000" cy="200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endParaRPr lang="en-US" sz="1000" kern="0" dirty="0">
              <a:solidFill>
                <a:srgbClr val="000000"/>
              </a:solidFill>
              <a:latin typeface="Comic Sans MS"/>
            </a:endParaRPr>
          </a:p>
          <a:p>
            <a:endParaRPr lang="en-US" dirty="0"/>
          </a:p>
          <a:p>
            <a:r>
              <a:rPr lang="en-US" dirty="0"/>
              <a:t>Bat-</a:t>
            </a:r>
            <a:r>
              <a:rPr lang="en-US" dirty="0" err="1"/>
              <a:t>chen</a:t>
            </a:r>
            <a:r>
              <a:rPr lang="en-US" dirty="0"/>
              <a:t> Rothenberg, Orna Grumberg, Yakir Vizel, Eytan Singher</a:t>
            </a:r>
          </a:p>
          <a:p>
            <a:r>
              <a:rPr lang="en-US" dirty="0"/>
              <a:t>NFM 2023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0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C3D69"/>
                </a:solidFill>
              </a:rPr>
              <a:t>Condition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Receives as input a </a:t>
            </a:r>
            <a:r>
              <a:rPr lang="en-US" dirty="0">
                <a:solidFill>
                  <a:srgbClr val="0000FF"/>
                </a:solidFill>
                <a:latin typeface="+mn-lt"/>
              </a:rPr>
              <a:t>partial program</a:t>
            </a:r>
            <a:r>
              <a:rPr lang="en-US" dirty="0"/>
              <a:t>, where conditions are missing in conditional branches (e.g., if/while statements), and a </a:t>
            </a:r>
            <a:r>
              <a:rPr lang="en-US" dirty="0">
                <a:solidFill>
                  <a:srgbClr val="0000FF"/>
                </a:solidFill>
              </a:rPr>
              <a:t>specification</a:t>
            </a:r>
            <a:endParaRPr lang="en-US" dirty="0"/>
          </a:p>
          <a:p>
            <a:pPr lvl="1"/>
            <a:r>
              <a:rPr lang="en-US" dirty="0"/>
              <a:t>As </a:t>
            </a:r>
            <a:r>
              <a:rPr lang="en-US" dirty="0">
                <a:solidFill>
                  <a:schemeClr val="accent6"/>
                </a:solidFill>
              </a:rPr>
              <a:t>assertions</a:t>
            </a:r>
            <a:r>
              <a:rPr lang="en-US" dirty="0"/>
              <a:t> in the code 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solution</a:t>
            </a:r>
            <a:r>
              <a:rPr lang="en-US" dirty="0"/>
              <a:t> to this problem is a set of conditions to fill-in the holes such that the resulting program </a:t>
            </a:r>
            <a:r>
              <a:rPr lang="en-US" dirty="0">
                <a:solidFill>
                  <a:srgbClr val="0000FF"/>
                </a:solidFill>
              </a:rPr>
              <a:t>meets the specification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Motivation:</a:t>
            </a:r>
            <a:r>
              <a:rPr lang="en-US" dirty="0"/>
              <a:t> automated program repair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9134-7C38-4E33-8E42-1F862034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E68F78-0373-4497-8506-82E0664339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03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C3D69"/>
                </a:solidFill>
                <a:latin typeface="Trebuchet MS" panose="020B0603020202020204" pitchFamily="34" charset="0"/>
              </a:rPr>
              <a:t>Condition Synthesis Running Example</a:t>
            </a:r>
            <a:endParaRPr lang="he-IL" sz="4000" b="1" dirty="0">
              <a:solidFill>
                <a:srgbClr val="FC3D69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964070" y="1511387"/>
            <a:ext cx="5040560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2200" dirty="0" err="1">
                <a:solidFill>
                  <a:prstClr val="black"/>
                </a:solidFill>
              </a:rPr>
              <a:t>sum_abs</a:t>
            </a:r>
            <a:r>
              <a:rPr lang="en-US" sz="2200" dirty="0">
                <a:solidFill>
                  <a:prstClr val="black"/>
                </a:solidFill>
              </a:rPr>
              <a:t>(</a:t>
            </a:r>
            <a:r>
              <a:rPr lang="en-US" sz="2200" dirty="0" err="1">
                <a:solidFill>
                  <a:prstClr val="black"/>
                </a:solidFill>
              </a:rPr>
              <a:t>x,y</a:t>
            </a:r>
            <a:r>
              <a:rPr lang="en-US" sz="2200" dirty="0">
                <a:solidFill>
                  <a:prstClr val="black"/>
                </a:solidFill>
              </a:rPr>
              <a:t>):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sum = 0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      if (x &gt;= 0)   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	sum = sum + x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else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	sum = sum - x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      if ( ?? )   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	sum = sum + y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else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	sum = sum – y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assert (sum &gt;= 0)</a:t>
            </a:r>
          </a:p>
          <a:p>
            <a:pPr marL="0" indent="0" algn="l" rtl="0">
              <a:buNone/>
            </a:pP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3771" y="3942083"/>
            <a:ext cx="1235979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endParaRPr lang="he-IL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88A7-0F31-4CFF-8A45-6D4D8416ABC0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42335-B521-E88A-30B6-319B6580784B}"/>
              </a:ext>
            </a:extLst>
          </p:cNvPr>
          <p:cNvSpPr txBox="1"/>
          <p:nvPr/>
        </p:nvSpPr>
        <p:spPr>
          <a:xfrm>
            <a:off x="2621708" y="3887848"/>
            <a:ext cx="88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hole</a:t>
            </a:r>
            <a:endParaRPr lang="en-IL" sz="28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4BC60-A1D4-16B1-03B2-CCE3FEB65016}"/>
              </a:ext>
            </a:extLst>
          </p:cNvPr>
          <p:cNvSpPr txBox="1"/>
          <p:nvPr/>
        </p:nvSpPr>
        <p:spPr>
          <a:xfrm>
            <a:off x="7435296" y="5603615"/>
            <a:ext cx="2257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IL"/>
            </a:defPPr>
          </a:lstStyle>
          <a:p>
            <a:r>
              <a:rPr lang="en-US" sz="2800" i="1" dirty="0"/>
              <a:t>specification</a:t>
            </a:r>
            <a:endParaRPr lang="en-IL" sz="2800" i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15CABC-F390-B904-9E1A-290EC0999D27}"/>
              </a:ext>
            </a:extLst>
          </p:cNvPr>
          <p:cNvSpPr/>
          <p:nvPr/>
        </p:nvSpPr>
        <p:spPr>
          <a:xfrm>
            <a:off x="8194229" y="2819420"/>
            <a:ext cx="2743200" cy="955276"/>
          </a:xfrm>
          <a:prstGeom prst="ellipse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The problem </a:t>
            </a:r>
            <a:r>
              <a:rPr lang="en-US" dirty="0"/>
              <a:t>is realizable!</a:t>
            </a:r>
            <a:endParaRPr lang="en-IL" dirty="0"/>
          </a:p>
        </p:txBody>
      </p:sp>
      <p:pic>
        <p:nvPicPr>
          <p:cNvPr id="12" name="Picture 11" descr="Thumbs Up Handy">
            <a:extLst>
              <a:ext uri="{FF2B5EF4-FFF2-40B4-BE49-F238E27FC236}">
                <a16:creationId xmlns:a16="http://schemas.microsoft.com/office/drawing/2014/main" id="{98CADA93-03A1-D074-CDF5-159CEF21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30" y="2447479"/>
            <a:ext cx="1478756" cy="14787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103DB-8D35-6854-53C6-9E02D6BFA98D}"/>
              </a:ext>
            </a:extLst>
          </p:cNvPr>
          <p:cNvSpPr txBox="1"/>
          <p:nvPr/>
        </p:nvSpPr>
        <p:spPr>
          <a:xfrm>
            <a:off x="6846244" y="3840136"/>
            <a:ext cx="4091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possible solution: y &gt;= 0</a:t>
            </a:r>
            <a:endParaRPr lang="en-IL" sz="2800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222128-1F36-4BC5-3C08-5800F4A88724}"/>
              </a:ext>
            </a:extLst>
          </p:cNvPr>
          <p:cNvCxnSpPr>
            <a:endCxn id="5" idx="1"/>
          </p:cNvCxnSpPr>
          <p:nvPr/>
        </p:nvCxnSpPr>
        <p:spPr>
          <a:xfrm>
            <a:off x="3731331" y="4149458"/>
            <a:ext cx="652440" cy="86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A6F79F-E4AC-4C65-E28F-17FE817000F9}"/>
              </a:ext>
            </a:extLst>
          </p:cNvPr>
          <p:cNvCxnSpPr>
            <a:stCxn id="7" idx="1"/>
          </p:cNvCxnSpPr>
          <p:nvPr/>
        </p:nvCxnSpPr>
        <p:spPr>
          <a:xfrm flipH="1">
            <a:off x="6804839" y="5865225"/>
            <a:ext cx="630457" cy="18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79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C3D69"/>
                </a:solidFill>
              </a:rPr>
              <a:t>Our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present a novel algorithm, called </a:t>
            </a:r>
            <a:r>
              <a:rPr lang="en-US" dirty="0">
                <a:solidFill>
                  <a:srgbClr val="0000FF"/>
                </a:solidFill>
              </a:rPr>
              <a:t>COSYN</a:t>
            </a:r>
            <a:r>
              <a:rPr lang="en-US" dirty="0"/>
              <a:t>, for determining the </a:t>
            </a:r>
            <a:r>
              <a:rPr lang="en-US" dirty="0">
                <a:solidFill>
                  <a:srgbClr val="0000FF"/>
                </a:solidFill>
              </a:rPr>
              <a:t>realizability</a:t>
            </a:r>
            <a:r>
              <a:rPr lang="en-US" dirty="0"/>
              <a:t> of a condition synthesis problem, with an emphasis on </a:t>
            </a:r>
            <a:r>
              <a:rPr lang="en-US" dirty="0">
                <a:solidFill>
                  <a:srgbClr val="0000FF"/>
                </a:solidFill>
              </a:rPr>
              <a:t>proving unrealizability efficiently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Cosyn</a:t>
            </a:r>
            <a:r>
              <a:rPr lang="en-US" dirty="0"/>
              <a:t> can handle programs with </a:t>
            </a:r>
            <a:r>
              <a:rPr lang="en-US" dirty="0">
                <a:solidFill>
                  <a:srgbClr val="0000FF"/>
                </a:solidFill>
              </a:rPr>
              <a:t>multiple holes</a:t>
            </a:r>
            <a:r>
              <a:rPr lang="en-US" dirty="0"/>
              <a:t>.</a:t>
            </a:r>
          </a:p>
          <a:p>
            <a:r>
              <a:rPr lang="en-US" dirty="0" err="1"/>
              <a:t>Cosyn</a:t>
            </a:r>
            <a:r>
              <a:rPr lang="en-US" dirty="0"/>
              <a:t> can handle programs with </a:t>
            </a:r>
            <a:r>
              <a:rPr lang="en-US" dirty="0">
                <a:solidFill>
                  <a:srgbClr val="0000FF"/>
                </a:solidFill>
              </a:rPr>
              <a:t>loops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9134-7C38-4E33-8E42-1F862034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E68F78-0373-4497-8506-82E0664339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71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C3D69"/>
                </a:solidFill>
              </a:rPr>
              <a:t>Doomed initial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initial state is called </a:t>
            </a:r>
            <a:r>
              <a:rPr lang="en-US" i="1" dirty="0">
                <a:solidFill>
                  <a:srgbClr val="FF0000"/>
                </a:solidFill>
              </a:rPr>
              <a:t>doomed</a:t>
            </a:r>
            <a:r>
              <a:rPr lang="en-US" i="1" dirty="0"/>
              <a:t> </a:t>
            </a:r>
            <a:r>
              <a:rPr lang="en-US" dirty="0"/>
              <a:t>if it eventually reaches an error state along </a:t>
            </a:r>
            <a:r>
              <a:rPr lang="en-US" b="1" i="1" dirty="0">
                <a:solidFill>
                  <a:srgbClr val="FF0000"/>
                </a:solidFill>
              </a:rPr>
              <a:t>every</a:t>
            </a:r>
            <a:r>
              <a:rPr lang="en-US" i="1" dirty="0"/>
              <a:t> </a:t>
            </a:r>
            <a:r>
              <a:rPr lang="en-US" dirty="0"/>
              <a:t>run of the program.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 a doomed initial state </a:t>
            </a:r>
            <a:r>
              <a:rPr lang="en-US" i="1" dirty="0"/>
              <a:t>σ</a:t>
            </a:r>
            <a:r>
              <a:rPr lang="en-US" dirty="0"/>
              <a:t>, there is no way to make the program safe by forcing </a:t>
            </a:r>
            <a:r>
              <a:rPr lang="en-US" i="1" dirty="0"/>
              <a:t>σ </a:t>
            </a: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via conditions</a:t>
            </a:r>
            <a:r>
              <a:rPr lang="en-US" dirty="0"/>
              <a:t>) to follow one computation or another. </a:t>
            </a:r>
            <a:r>
              <a:rPr lang="en-US" dirty="0">
                <a:solidFill>
                  <a:srgbClr val="FF0000"/>
                </a:solidFill>
              </a:rPr>
              <a:t>It will lead to a failure anyway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problem is </a:t>
            </a:r>
            <a:r>
              <a:rPr lang="en-US" b="1" dirty="0">
                <a:solidFill>
                  <a:srgbClr val="0000FF"/>
                </a:solidFill>
              </a:rPr>
              <a:t>unrealizable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there exists 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doomed initial state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9134-7C38-4E33-8E42-1F862034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E68F78-0373-4497-8506-82E0664339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263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C3D69"/>
                </a:solidFill>
                <a:latin typeface="Trebuchet MS" panose="020B0603020202020204" pitchFamily="34" charset="0"/>
              </a:rPr>
              <a:t>Condition Synthesis Running Example</a:t>
            </a:r>
            <a:endParaRPr lang="he-IL" sz="4000" b="1" dirty="0">
              <a:solidFill>
                <a:srgbClr val="FC3D69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964070" y="1511387"/>
            <a:ext cx="5040560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2200" dirty="0" err="1">
                <a:solidFill>
                  <a:prstClr val="black"/>
                </a:solidFill>
              </a:rPr>
              <a:t>sum_abs</a:t>
            </a:r>
            <a:r>
              <a:rPr lang="en-US" sz="2200" dirty="0">
                <a:solidFill>
                  <a:prstClr val="black"/>
                </a:solidFill>
              </a:rPr>
              <a:t>(</a:t>
            </a:r>
            <a:r>
              <a:rPr lang="en-US" sz="2200" dirty="0" err="1">
                <a:solidFill>
                  <a:prstClr val="black"/>
                </a:solidFill>
              </a:rPr>
              <a:t>x,y</a:t>
            </a:r>
            <a:r>
              <a:rPr lang="en-US" sz="2200" dirty="0">
                <a:solidFill>
                  <a:prstClr val="black"/>
                </a:solidFill>
              </a:rPr>
              <a:t>):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sum = 0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      if (x &gt;= 0)   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	sum = sum + x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else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	sum = sum - x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      if ( ?? )   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	sum = sum + y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else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	sum =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</a:rPr>
              <a:t>sum + y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assert (sum &gt;= 0)</a:t>
            </a:r>
          </a:p>
          <a:p>
            <a:pPr marL="0" indent="0" algn="l" rtl="0">
              <a:buNone/>
            </a:pP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3771" y="3942083"/>
            <a:ext cx="1235979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endParaRPr lang="he-IL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88A7-0F31-4CFF-8A45-6D4D8416ABC0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15CABC-F390-B904-9E1A-290EC0999D27}"/>
              </a:ext>
            </a:extLst>
          </p:cNvPr>
          <p:cNvSpPr/>
          <p:nvPr/>
        </p:nvSpPr>
        <p:spPr>
          <a:xfrm>
            <a:off x="8218176" y="2641832"/>
            <a:ext cx="2743200" cy="9552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is unrealizable!</a:t>
            </a:r>
            <a:endParaRPr lang="en-IL" dirty="0"/>
          </a:p>
        </p:txBody>
      </p:sp>
      <p:pic>
        <p:nvPicPr>
          <p:cNvPr id="12" name="Picture 11" descr="Thumbs Down Handy">
            <a:extLst>
              <a:ext uri="{FF2B5EF4-FFF2-40B4-BE49-F238E27FC236}">
                <a16:creationId xmlns:a16="http://schemas.microsoft.com/office/drawing/2014/main" id="{98CADA93-03A1-D074-CDF5-159CEF21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1998" y="2135649"/>
            <a:ext cx="1478756" cy="147875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B837A30-8E2A-4D90-F2FD-8047D96694F5}"/>
              </a:ext>
            </a:extLst>
          </p:cNvPr>
          <p:cNvSpPr/>
          <p:nvPr/>
        </p:nvSpPr>
        <p:spPr>
          <a:xfrm>
            <a:off x="650138" y="1511498"/>
            <a:ext cx="3319272" cy="3693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</a:t>
            </a:r>
            <a:endParaRPr lang="en-I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416CF0-FA1E-4874-A5E7-F94D79B6D7A3}"/>
              </a:ext>
            </a:extLst>
          </p:cNvPr>
          <p:cNvSpPr/>
          <p:nvPr/>
        </p:nvSpPr>
        <p:spPr>
          <a:xfrm>
            <a:off x="644798" y="3942083"/>
            <a:ext cx="3319272" cy="3693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 , sum=0</a:t>
            </a:r>
            <a:endParaRPr lang="en-IL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C00BB0-C8E7-5921-54A3-431FAF416BAD}"/>
              </a:ext>
            </a:extLst>
          </p:cNvPr>
          <p:cNvSpPr/>
          <p:nvPr/>
        </p:nvSpPr>
        <p:spPr>
          <a:xfrm>
            <a:off x="644798" y="4400653"/>
            <a:ext cx="3319272" cy="3693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 , sum=-3</a:t>
            </a:r>
            <a:endParaRPr lang="en-IL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80B86A-E4C4-F61D-460E-11957D095AC5}"/>
              </a:ext>
            </a:extLst>
          </p:cNvPr>
          <p:cNvSpPr/>
          <p:nvPr/>
        </p:nvSpPr>
        <p:spPr>
          <a:xfrm>
            <a:off x="679337" y="5715011"/>
            <a:ext cx="3319272" cy="3693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 , sum=-3</a:t>
            </a:r>
            <a:endParaRPr lang="en-IL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A915BF9-A8B8-613F-A975-6C28C2DA7596}"/>
              </a:ext>
            </a:extLst>
          </p:cNvPr>
          <p:cNvSpPr/>
          <p:nvPr/>
        </p:nvSpPr>
        <p:spPr>
          <a:xfrm>
            <a:off x="644798" y="5273011"/>
            <a:ext cx="3319272" cy="3693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 , sum=-3</a:t>
            </a:r>
            <a:endParaRPr lang="en-IL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161DB1-FEA5-894F-5119-17A416228441}"/>
              </a:ext>
            </a:extLst>
          </p:cNvPr>
          <p:cNvSpPr/>
          <p:nvPr/>
        </p:nvSpPr>
        <p:spPr>
          <a:xfrm>
            <a:off x="664309" y="1950983"/>
            <a:ext cx="3319272" cy="3693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y=-3, sum=0</a:t>
            </a:r>
            <a:endParaRPr lang="en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5F4545-8A7F-F69A-B6A1-F2C788E53265}"/>
              </a:ext>
            </a:extLst>
          </p:cNvPr>
          <p:cNvSpPr/>
          <p:nvPr/>
        </p:nvSpPr>
        <p:spPr>
          <a:xfrm>
            <a:off x="654554" y="2685588"/>
            <a:ext cx="3319272" cy="3693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y=-3, sum=0</a:t>
            </a:r>
            <a:endParaRPr lang="en-IL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DC1635-461F-4F35-D053-A4FC464D8815}"/>
              </a:ext>
            </a:extLst>
          </p:cNvPr>
          <p:cNvSpPr/>
          <p:nvPr/>
        </p:nvSpPr>
        <p:spPr>
          <a:xfrm>
            <a:off x="658556" y="5723178"/>
            <a:ext cx="3319272" cy="3693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x=0 , y=-3 , sum=-3</a:t>
            </a:r>
            <a:endParaRPr lang="en-IL" dirty="0"/>
          </a:p>
        </p:txBody>
      </p:sp>
      <p:pic>
        <p:nvPicPr>
          <p:cNvPr id="14" name="Picture 13" descr="Stop Bee">
            <a:extLst>
              <a:ext uri="{FF2B5EF4-FFF2-40B4-BE49-F238E27FC236}">
                <a16:creationId xmlns:a16="http://schemas.microsoft.com/office/drawing/2014/main" id="{C969A479-5596-275C-BF0A-5871FFC0D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30" y="5176909"/>
            <a:ext cx="1179441" cy="11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6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1" grpId="0" animBg="1"/>
      <p:bldP spid="11" grpId="1" animBg="1"/>
      <p:bldP spid="15" grpId="0" animBg="1"/>
      <p:bldP spid="15" grpId="1" animBg="1"/>
      <p:bldP spid="16" grpId="0" animBg="1"/>
      <p:bldP spid="4" grpId="0" animBg="1"/>
      <p:bldP spid="7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75C3-B555-6DA8-57B7-87FAE596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C3D69"/>
                </a:solidFill>
              </a:rPr>
              <a:t>Correctness </a:t>
            </a:r>
            <a:r>
              <a:rPr lang="en-US" dirty="0" err="1">
                <a:solidFill>
                  <a:srgbClr val="FC3D69"/>
                </a:solidFill>
              </a:rPr>
              <a:t>Evidance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F3B302-4AF5-7AFB-647D-7E5E2F4D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8F78-0373-4497-8506-82E0664339AD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5E5BB-ABD3-BE6D-5A9F-3AB48DFE7608}"/>
              </a:ext>
            </a:extLst>
          </p:cNvPr>
          <p:cNvSpPr txBox="1"/>
          <p:nvPr/>
        </p:nvSpPr>
        <p:spPr>
          <a:xfrm>
            <a:off x="1163202" y="2049296"/>
            <a:ext cx="28408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Condition synthesis</a:t>
            </a:r>
          </a:p>
          <a:p>
            <a:r>
              <a:rPr lang="en-US" sz="2400" dirty="0"/>
              <a:t>problem</a:t>
            </a:r>
            <a:endParaRPr lang="en-IL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EF60-3EC1-EE28-F799-0F20186EFCA1}"/>
              </a:ext>
            </a:extLst>
          </p:cNvPr>
          <p:cNvSpPr/>
          <p:nvPr/>
        </p:nvSpPr>
        <p:spPr>
          <a:xfrm>
            <a:off x="4412687" y="2024373"/>
            <a:ext cx="2573079" cy="17543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CoSyn</a:t>
            </a:r>
            <a:endParaRPr lang="en-IL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4D86D-46A7-E175-EDC8-69438CB06581}"/>
              </a:ext>
            </a:extLst>
          </p:cNvPr>
          <p:cNvSpPr txBox="1"/>
          <p:nvPr/>
        </p:nvSpPr>
        <p:spPr>
          <a:xfrm>
            <a:off x="7773286" y="1951205"/>
            <a:ext cx="2899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Unrealizable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FC1D4-AF11-3854-56DF-08E658801512}"/>
              </a:ext>
            </a:extLst>
          </p:cNvPr>
          <p:cNvSpPr txBox="1"/>
          <p:nvPr/>
        </p:nvSpPr>
        <p:spPr>
          <a:xfrm>
            <a:off x="7773286" y="3166651"/>
            <a:ext cx="2899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Realizable </a:t>
            </a: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D1505E7D-C516-C5C5-7127-8E70AD215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6766" y="2444359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4C7BF3-7DA8-A69F-FC73-9617EEFC4F0F}"/>
              </a:ext>
            </a:extLst>
          </p:cNvPr>
          <p:cNvSpPr txBox="1"/>
          <p:nvPr/>
        </p:nvSpPr>
        <p:spPr>
          <a:xfrm>
            <a:off x="8285598" y="2488721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+ doomed initial state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68F229-7840-DB66-5381-C72021610238}"/>
              </a:ext>
            </a:extLst>
          </p:cNvPr>
          <p:cNvSpPr txBox="1"/>
          <p:nvPr/>
        </p:nvSpPr>
        <p:spPr>
          <a:xfrm>
            <a:off x="8265927" y="3649180"/>
            <a:ext cx="4000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+ range of conditions for each hole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8B261F-C4F3-93B8-629A-14FE5E8F940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6985766" y="2182038"/>
            <a:ext cx="787520" cy="7195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20F087-2135-271F-EDDC-3661A65203D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6985766" y="2901559"/>
            <a:ext cx="787520" cy="49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B3F312-3CF8-877F-E125-ADB4CAA0E8E3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3751166" y="2901559"/>
            <a:ext cx="66152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04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2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C3D69"/>
                </a:solidFill>
                <a:latin typeface="Trebuchet MS" panose="020B0603020202020204" pitchFamily="34" charset="0"/>
              </a:rPr>
              <a:t>Condition Synthesis Running Example</a:t>
            </a:r>
            <a:endParaRPr lang="he-IL" sz="4000" b="1" dirty="0">
              <a:solidFill>
                <a:srgbClr val="FC3D69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964070" y="1511387"/>
            <a:ext cx="5040560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3D78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2200" dirty="0" err="1">
                <a:solidFill>
                  <a:prstClr val="black"/>
                </a:solidFill>
              </a:rPr>
              <a:t>sum_abs</a:t>
            </a:r>
            <a:r>
              <a:rPr lang="en-US" sz="2200" dirty="0">
                <a:solidFill>
                  <a:prstClr val="black"/>
                </a:solidFill>
              </a:rPr>
              <a:t>(</a:t>
            </a:r>
            <a:r>
              <a:rPr lang="en-US" sz="2200" dirty="0" err="1">
                <a:solidFill>
                  <a:prstClr val="black"/>
                </a:solidFill>
              </a:rPr>
              <a:t>x,y</a:t>
            </a:r>
            <a:r>
              <a:rPr lang="en-US" sz="2200" dirty="0">
                <a:solidFill>
                  <a:prstClr val="black"/>
                </a:solidFill>
              </a:rPr>
              <a:t>):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sum = 0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      if (x &gt;= 0)   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	sum = sum + x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else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	sum = sum - x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      if ( ?? )   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	sum = sum + y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else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	sum = sum – y</a:t>
            </a:r>
          </a:p>
          <a:p>
            <a:pPr marL="0" indent="0" algn="l" rtl="0">
              <a:buNone/>
            </a:pPr>
            <a:r>
              <a:rPr lang="en-US" sz="2200" dirty="0">
                <a:solidFill>
                  <a:prstClr val="black"/>
                </a:solidFill>
              </a:rPr>
              <a:t>      assert (sum &gt;= 0)</a:t>
            </a:r>
          </a:p>
          <a:p>
            <a:pPr marL="0" indent="0" algn="l" rtl="0">
              <a:buNone/>
            </a:pP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3771" y="3942083"/>
            <a:ext cx="1235979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endParaRPr lang="he-IL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D88A7-0F31-4CFF-8A45-6D4D8416ABC0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15CABC-F390-B904-9E1A-290EC0999D27}"/>
              </a:ext>
            </a:extLst>
          </p:cNvPr>
          <p:cNvSpPr/>
          <p:nvPr/>
        </p:nvSpPr>
        <p:spPr>
          <a:xfrm>
            <a:off x="8247393" y="4371779"/>
            <a:ext cx="2743200" cy="955276"/>
          </a:xfrm>
          <a:prstGeom prst="ellipse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is realizable!</a:t>
            </a:r>
            <a:endParaRPr lang="en-IL" dirty="0"/>
          </a:p>
        </p:txBody>
      </p:sp>
      <p:pic>
        <p:nvPicPr>
          <p:cNvPr id="12" name="Picture 11" descr="Thumbs Up Handy">
            <a:extLst>
              <a:ext uri="{FF2B5EF4-FFF2-40B4-BE49-F238E27FC236}">
                <a16:creationId xmlns:a16="http://schemas.microsoft.com/office/drawing/2014/main" id="{98CADA93-03A1-D074-CDF5-159CEF21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94" y="3999838"/>
            <a:ext cx="1478756" cy="14787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103DB-8D35-6854-53C6-9E02D6BFA98D}"/>
              </a:ext>
            </a:extLst>
          </p:cNvPr>
          <p:cNvSpPr txBox="1"/>
          <p:nvPr/>
        </p:nvSpPr>
        <p:spPr>
          <a:xfrm>
            <a:off x="6962112" y="3422936"/>
            <a:ext cx="30700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possible range of solutions: </a:t>
            </a:r>
          </a:p>
          <a:p>
            <a:r>
              <a:rPr lang="en-US" dirty="0"/>
              <a:t>\</a:t>
            </a:r>
            <a:r>
              <a:rPr lang="en-US" dirty="0" err="1"/>
              <a:t>psi_f</a:t>
            </a:r>
            <a:r>
              <a:rPr lang="en-US" dirty="0"/>
              <a:t>: sum-y&lt;0 &amp; sum&gt;=0</a:t>
            </a:r>
          </a:p>
          <a:p>
            <a:r>
              <a:rPr lang="en-US" dirty="0"/>
              <a:t>\</a:t>
            </a:r>
            <a:r>
              <a:rPr lang="en-US" dirty="0" err="1"/>
              <a:t>psi_t</a:t>
            </a:r>
            <a:r>
              <a:rPr lang="en-US" dirty="0"/>
              <a:t>: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962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C3D69"/>
                </a:solidFill>
              </a:rPr>
              <a:t>Reduction to CHC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 is </a:t>
            </a:r>
            <a:r>
              <a:rPr lang="en-US" dirty="0">
                <a:solidFill>
                  <a:srgbClr val="0000FF"/>
                </a:solidFill>
              </a:rPr>
              <a:t>unrealizable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there exists a </a:t>
            </a:r>
            <a:r>
              <a:rPr lang="en-US" dirty="0">
                <a:solidFill>
                  <a:srgbClr val="0000FF"/>
                </a:solidFill>
              </a:rPr>
              <a:t>doomed initial state.</a:t>
            </a:r>
          </a:p>
          <a:p>
            <a:r>
              <a:rPr lang="en-US" dirty="0"/>
              <a:t>To check for the existence of a doomed initial state, COSYN uses a </a:t>
            </a:r>
            <a:r>
              <a:rPr lang="en-US" dirty="0">
                <a:solidFill>
                  <a:srgbClr val="FF0000"/>
                </a:solidFill>
              </a:rPr>
              <a:t>reduction</a:t>
            </a:r>
            <a:r>
              <a:rPr lang="en-US" dirty="0"/>
              <a:t> to </a:t>
            </a:r>
            <a:r>
              <a:rPr lang="en-US" dirty="0">
                <a:solidFill>
                  <a:srgbClr val="0000FF"/>
                </a:solidFill>
              </a:rPr>
              <a:t>Constrained Horn Clauses (CHC).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9134-7C38-4E33-8E42-1F862034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E68F78-0373-4497-8506-82E0664339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12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7924-FD70-C89B-67C2-2DF345A8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3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76F44-E2A5-3695-6053-D566EE201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771A4-2F28-AD94-4CA8-E554ED9A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03504"/>
      </p:ext>
    </p:extLst>
  </p:cSld>
  <p:clrMapOvr>
    <a:masterClrMapping/>
  </p:clrMapOvr>
</p:sld>
</file>

<file path=ppt/theme/theme1.xml><?xml version="1.0" encoding="utf-8"?>
<a:theme xmlns:a="http://schemas.openxmlformats.org/drawingml/2006/main" name="BookThemeNew">
  <a:themeElements>
    <a:clrScheme name="Custom 2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FFFF00"/>
      </a:accent2>
      <a:accent3>
        <a:srgbClr val="FF0000"/>
      </a:accent3>
      <a:accent4>
        <a:srgbClr val="008E00"/>
      </a:accent4>
      <a:accent5>
        <a:srgbClr val="45A5ED"/>
      </a:accent5>
      <a:accent6>
        <a:srgbClr val="0000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okThemeNew" id="{C82F7818-D64C-6D4A-9055-59B64CE3D983}" vid="{5E01472F-F872-6849-BC4F-4BD1C77CB7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BookThemeNew</Template>
  <TotalTime>19792</TotalTime>
  <Words>1796</Words>
  <Application>Microsoft Office PowerPoint</Application>
  <PresentationFormat>Widescreen</PresentationFormat>
  <Paragraphs>396</Paragraphs>
  <Slides>34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Comic Sans MS</vt:lpstr>
      <vt:lpstr>Dosis</vt:lpstr>
      <vt:lpstr>Trebuchet MS</vt:lpstr>
      <vt:lpstr>BookThemeNew</vt:lpstr>
      <vt:lpstr>PowerPoint Presentation</vt:lpstr>
      <vt:lpstr>PowerPoint Presentation</vt:lpstr>
      <vt:lpstr>The Mosaic framework</vt:lpstr>
      <vt:lpstr>Encoding, step 1: partition</vt:lpstr>
      <vt:lpstr>Encoding, step 1: partition</vt:lpstr>
      <vt:lpstr>Encoding, step 2: the bit-vector fragment</vt:lpstr>
      <vt:lpstr>Encoding, step 3: the integer fragment</vt:lpstr>
      <vt:lpstr>Encoding, step 3: the integer fragment</vt:lpstr>
      <vt:lpstr>Encoding, step 4: interface constraints</vt:lpstr>
      <vt:lpstr>Semantics: derivations across fragments</vt:lpstr>
      <vt:lpstr>Semantics: theory-modular solutions</vt:lpstr>
      <vt:lpstr>Correctness</vt:lpstr>
      <vt:lpstr>The Mosaic framework</vt:lpstr>
      <vt:lpstr>MosaicSolve: state</vt:lpstr>
      <vt:lpstr>MosaicSolve: moves</vt:lpstr>
      <vt:lpstr>MosaicSolve: moves</vt:lpstr>
      <vt:lpstr>MosaicSolve: moves</vt:lpstr>
      <vt:lpstr>MosaicSolve:  worked run</vt:lpstr>
      <vt:lpstr>Soundness and termination</vt:lpstr>
      <vt:lpstr>Evaluation: setup</vt:lpstr>
      <vt:lpstr>Evaluation: results</vt:lpstr>
      <vt:lpstr>Conclusion</vt:lpstr>
      <vt:lpstr>PowerPoint Presentation</vt:lpstr>
      <vt:lpstr>PowerPoint Presentation</vt:lpstr>
      <vt:lpstr>Condition Synthesis Realizability via</vt:lpstr>
      <vt:lpstr>Condition Synthesis</vt:lpstr>
      <vt:lpstr>Condition Synthesis Running Example</vt:lpstr>
      <vt:lpstr>Our Algorithm</vt:lpstr>
      <vt:lpstr>Doomed initial states</vt:lpstr>
      <vt:lpstr>Condition Synthesis Running Example</vt:lpstr>
      <vt:lpstr>Correctness Evidance</vt:lpstr>
      <vt:lpstr>Condition Synthesis Running Example</vt:lpstr>
      <vt:lpstr>Reduction to CHC</vt:lpstr>
      <vt:lpstr>End of lecture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Logic</dc:title>
  <dc:creator>Orna Grumberg</dc:creator>
  <cp:lastModifiedBy>Orna Grumberg</cp:lastModifiedBy>
  <cp:revision>1425</cp:revision>
  <dcterms:created xsi:type="dcterms:W3CDTF">2020-06-21T13:53:03Z</dcterms:created>
  <dcterms:modified xsi:type="dcterms:W3CDTF">2026-08-14T14:57:58Z</dcterms:modified>
</cp:coreProperties>
</file>